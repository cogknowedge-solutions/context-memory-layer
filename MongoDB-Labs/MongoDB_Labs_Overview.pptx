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6303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7.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430"/>
        </a:solidFill>
        <a:effectLst/>
      </p:bgPr>
    </p:bg>
    <p:spTree>
      <p:nvGrpSpPr>
        <p:cNvPr id="1" name=""/>
        <p:cNvGrpSpPr/>
        <p:nvPr/>
      </p:nvGrpSpPr>
      <p:grpSpPr>
        <a:xfrm>
          <a:off x="0" y="0"/>
          <a:ext cx="0" cy="0"/>
          <a:chOff x="0" y="0"/>
          <a:chExt cx="0" cy="0"/>
        </a:xfrm>
      </p:grpSpPr>
      <p:pic>
        <p:nvPicPr>
          <p:cNvPr id="2" name="Image 0" descr="/home/claude/mongo_ppt/icon_leaf.png"/>
          <p:cNvPicPr>
            <a:picLocks noChangeAspect="1"/>
          </p:cNvPicPr>
          <p:nvPr/>
        </p:nvPicPr>
        <p:blipFill>
          <a:blip r:embed="rId3"/>
          <a:stretch>
            <a:fillRect/>
          </a:stretch>
        </p:blipFill>
        <p:spPr>
          <a:xfrm>
            <a:off x="640080" y="594360"/>
            <a:ext cx="640080" cy="640080"/>
          </a:xfrm>
          <a:prstGeom prst="rect">
            <a:avLst/>
          </a:prstGeom>
        </p:spPr>
      </p:pic>
      <p:sp>
        <p:nvSpPr>
          <p:cNvPr id="3" name="Text 0"/>
          <p:cNvSpPr/>
          <p:nvPr/>
        </p:nvSpPr>
        <p:spPr>
          <a:xfrm>
            <a:off x="640080" y="2286000"/>
            <a:ext cx="10515600" cy="109728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MongoDB Labs</a:t>
            </a:r>
            <a:endParaRPr lang="en-US" sz="4600" dirty="0"/>
          </a:p>
        </p:txBody>
      </p:sp>
      <p:sp>
        <p:nvSpPr>
          <p:cNvPr id="4" name="Text 1"/>
          <p:cNvSpPr/>
          <p:nvPr/>
        </p:nvSpPr>
        <p:spPr>
          <a:xfrm>
            <a:off x="640080" y="3154680"/>
            <a:ext cx="10515600" cy="640080"/>
          </a:xfrm>
          <a:prstGeom prst="rect">
            <a:avLst/>
          </a:prstGeom>
          <a:noFill/>
          <a:ln/>
        </p:spPr>
        <p:txBody>
          <a:bodyPr wrap="square" lIns="0" tIns="0" rIns="0" bIns="0" rtlCol="0" anchor="ctr"/>
          <a:lstStyle/>
          <a:p>
            <a:pPr marL="0" indent="0">
              <a:buNone/>
            </a:pPr>
            <a:r>
              <a:rPr lang="en-US" sz="2200" dirty="0">
                <a:solidFill>
                  <a:srgbClr val="00ED64"/>
                </a:solidFill>
                <a:latin typeface="Calibri" pitchFamily="34" charset="0"/>
                <a:ea typeface="Calibri" pitchFamily="34" charset="-122"/>
                <a:cs typeface="Calibri" pitchFamily="34" charset="-120"/>
              </a:rPr>
              <a:t>A Complete, Simple Guide</a:t>
            </a:r>
            <a:endParaRPr lang="en-US" sz="2200" dirty="0"/>
          </a:p>
        </p:txBody>
      </p:sp>
      <p:sp>
        <p:nvSpPr>
          <p:cNvPr id="5" name="Text 2"/>
          <p:cNvSpPr/>
          <p:nvPr/>
        </p:nvSpPr>
        <p:spPr>
          <a:xfrm>
            <a:off x="640080" y="4023360"/>
            <a:ext cx="9692640" cy="1005840"/>
          </a:xfrm>
          <a:prstGeom prst="rect">
            <a:avLst/>
          </a:prstGeom>
          <a:noFill/>
          <a:ln/>
        </p:spPr>
        <p:txBody>
          <a:bodyPr wrap="square" lIns="0" tIns="0" rIns="0" bIns="0" rtlCol="0" anchor="ctr"/>
          <a:lstStyle/>
          <a:p>
            <a:pPr marL="0" indent="0">
              <a:lnSpc>
                <a:spcPct val="130000"/>
              </a:lnSpc>
              <a:buNone/>
            </a:pPr>
            <a:r>
              <a:rPr lang="en-US" sz="1400" dirty="0">
                <a:solidFill>
                  <a:srgbClr val="CADCC4"/>
                </a:solidFill>
                <a:latin typeface="Calibri" pitchFamily="34" charset="0"/>
                <a:ea typeface="Calibri" pitchFamily="34" charset="-122"/>
                <a:cs typeface="Calibri" pitchFamily="34" charset="-120"/>
              </a:rPr>
              <a:t>Everything you need to understand MongoDB and this 7-lab course, explained in plain, simple words — from what MongoDB is, to how to set it up, to what each lab teaches.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3430"/>
        </a:solidFill>
        <a:effectLst/>
      </p:bgPr>
    </p:bg>
    <p:spTree>
      <p:nvGrpSpPr>
        <p:cNvPr id="1" name=""/>
        <p:cNvGrpSpPr/>
        <p:nvPr/>
      </p:nvGrpSpPr>
      <p:grpSpPr>
        <a:xfrm>
          <a:off x="0" y="0"/>
          <a:ext cx="0" cy="0"/>
          <a:chOff x="0" y="0"/>
          <a:chExt cx="0" cy="0"/>
        </a:xfrm>
      </p:grpSpPr>
      <p:pic>
        <p:nvPicPr>
          <p:cNvPr id="2" name="Image 0" descr="/home/claude/mongo_ppt/icon_leaf.png"/>
          <p:cNvPicPr>
            <a:picLocks noChangeAspect="1"/>
          </p:cNvPicPr>
          <p:nvPr/>
        </p:nvPicPr>
        <p:blipFill>
          <a:blip r:embed="rId3"/>
          <a:stretch>
            <a:fillRect/>
          </a:stretch>
        </p:blipFill>
        <p:spPr>
          <a:xfrm>
            <a:off x="822960" y="2468880"/>
            <a:ext cx="731520" cy="731520"/>
          </a:xfrm>
          <a:prstGeom prst="rect">
            <a:avLst/>
          </a:prstGeom>
        </p:spPr>
      </p:pic>
      <p:sp>
        <p:nvSpPr>
          <p:cNvPr id="3" name="Text 0"/>
          <p:cNvSpPr/>
          <p:nvPr/>
        </p:nvSpPr>
        <p:spPr>
          <a:xfrm>
            <a:off x="822960" y="3383280"/>
            <a:ext cx="10515600"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Part 1</a:t>
            </a:r>
            <a:endParaRPr lang="en-US" sz="3800" dirty="0"/>
          </a:p>
        </p:txBody>
      </p:sp>
      <p:sp>
        <p:nvSpPr>
          <p:cNvPr id="4" name="Text 1"/>
          <p:cNvSpPr/>
          <p:nvPr/>
        </p:nvSpPr>
        <p:spPr>
          <a:xfrm>
            <a:off x="822960" y="4251960"/>
            <a:ext cx="10332720" cy="548640"/>
          </a:xfrm>
          <a:prstGeom prst="rect">
            <a:avLst/>
          </a:prstGeom>
          <a:noFill/>
          <a:ln/>
        </p:spPr>
        <p:txBody>
          <a:bodyPr wrap="square" lIns="0" tIns="0" rIns="0" bIns="0" rtlCol="0" anchor="ctr"/>
          <a:lstStyle/>
          <a:p>
            <a:pPr marL="0" indent="0">
              <a:buNone/>
            </a:pPr>
            <a:r>
              <a:rPr lang="en-US" sz="1500" dirty="0">
                <a:solidFill>
                  <a:srgbClr val="00ED64"/>
                </a:solidFill>
                <a:latin typeface="Calibri" pitchFamily="34" charset="0"/>
                <a:ea typeface="Calibri" pitchFamily="34" charset="-122"/>
                <a:cs typeface="Calibri" pitchFamily="34" charset="-120"/>
              </a:rPr>
              <a:t>What MongoDB Is, and How It Is Built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What Is MongoDB?</a:t>
            </a:r>
            <a:endParaRPr lang="en-US" sz="2800" dirty="0"/>
          </a:p>
        </p:txBody>
      </p:sp>
      <p:sp>
        <p:nvSpPr>
          <p:cNvPr id="3" name="Text 1"/>
          <p:cNvSpPr/>
          <p:nvPr/>
        </p:nvSpPr>
        <p:spPr>
          <a:xfrm>
            <a:off x="548640" y="1371600"/>
            <a:ext cx="6035040" cy="3291840"/>
          </a:xfrm>
          <a:prstGeom prst="rect">
            <a:avLst/>
          </a:prstGeom>
          <a:noFill/>
          <a:ln/>
        </p:spPr>
        <p:txBody>
          <a:bodyPr wrap="square" lIns="0" tIns="0" rIns="0" bIns="0" rtlCol="0" anchor="t"/>
          <a:lstStyle/>
          <a:p>
            <a:pPr marL="0" indent="0">
              <a:lnSpc>
                <a:spcPct val="132000"/>
              </a:lnSpc>
              <a:buNone/>
            </a:pPr>
            <a:r>
              <a:rPr lang="en-US" sz="1350" dirty="0">
                <a:solidFill>
                  <a:srgbClr val="0B2B22"/>
                </a:solidFill>
                <a:latin typeface="Calibri" pitchFamily="34" charset="0"/>
                <a:ea typeface="Calibri" pitchFamily="34" charset="-122"/>
                <a:cs typeface="Calibri" pitchFamily="34" charset="-120"/>
              </a:rPr>
              <a:t>MongoDB is a database. A database's basic job is simple: it stores information, and lets you find that information again later. MySQL and PostgreSQL are databases too — they do the same basic job.
</a:t>
            </a:r>
            <a:endParaRPr lang="en-US" sz="1350" dirty="0"/>
          </a:p>
          <a:p>
            <a:pPr marL="0" indent="0">
              <a:lnSpc>
                <a:spcPct val="132000"/>
              </a:lnSpc>
              <a:buNone/>
            </a:pPr>
            <a:r>
              <a:rPr lang="en-US" sz="1350" dirty="0">
                <a:solidFill>
                  <a:srgbClr val="0B2B22"/>
                </a:solidFill>
                <a:latin typeface="Calibri" pitchFamily="34" charset="0"/>
                <a:ea typeface="Calibri" pitchFamily="34" charset="-122"/>
                <a:cs typeface="Calibri" pitchFamily="34" charset="-120"/>
              </a:rPr>
              <a:t>The big difference is HOW MongoDB stores that information. Instead of using fixed tables made of rows and columns, MongoDB stores each piece of information as a flexible, JSON-like record called a document.
</a:t>
            </a:r>
            <a:endParaRPr lang="en-US" sz="1350" dirty="0"/>
          </a:p>
          <a:p>
            <a:pPr marL="0" indent="0">
              <a:lnSpc>
                <a:spcPct val="132000"/>
              </a:lnSpc>
              <a:buNone/>
            </a:pPr>
            <a:r>
              <a:rPr lang="en-US" sz="1350" dirty="0">
                <a:solidFill>
                  <a:srgbClr val="0B2B22"/>
                </a:solidFill>
                <a:latin typeface="Calibri" pitchFamily="34" charset="0"/>
                <a:ea typeface="Calibri" pitchFamily="34" charset="-122"/>
                <a:cs typeface="Calibri" pitchFamily="34" charset="-120"/>
              </a:rPr>
              <a:t>MongoDB was first built in 2007, and made available to everyone in 2009, to fix one real problem: application data often changes shape over time — for example, a user profile that suddenly needs a brand new field. A strict table, where every row must look identical, makes that awkward.</a:t>
            </a:r>
            <a:endParaRPr lang="en-US" sz="1350" dirty="0"/>
          </a:p>
        </p:txBody>
      </p:sp>
      <p:sp>
        <p:nvSpPr>
          <p:cNvPr id="4" name="Shape 2"/>
          <p:cNvSpPr/>
          <p:nvPr/>
        </p:nvSpPr>
        <p:spPr>
          <a:xfrm>
            <a:off x="6949440" y="1371600"/>
            <a:ext cx="4663440" cy="3291840"/>
          </a:xfrm>
          <a:prstGeom prst="roundRect">
            <a:avLst>
              <a:gd name="adj" fmla="val 3333"/>
            </a:avLst>
          </a:prstGeom>
          <a:solidFill>
            <a:srgbClr val="FFFFFF"/>
          </a:solidFill>
          <a:ln/>
          <a:effectLst>
            <a:outerShdw blurRad="101600" dist="38100" dir="5400000" algn="bl" rotWithShape="0">
              <a:srgbClr val="0B2B22">
                <a:alpha val="18000"/>
              </a:srgbClr>
            </a:outerShdw>
          </a:effectLst>
        </p:spPr>
      </p:sp>
      <p:sp>
        <p:nvSpPr>
          <p:cNvPr id="5" name="Shape 3"/>
          <p:cNvSpPr/>
          <p:nvPr/>
        </p:nvSpPr>
        <p:spPr>
          <a:xfrm>
            <a:off x="7315200" y="1691640"/>
            <a:ext cx="548640" cy="548640"/>
          </a:xfrm>
          <a:prstGeom prst="ellipse">
            <a:avLst/>
          </a:prstGeom>
          <a:solidFill>
            <a:srgbClr val="023430"/>
          </a:solidFill>
          <a:ln/>
        </p:spPr>
      </p:sp>
      <p:pic>
        <p:nvPicPr>
          <p:cNvPr id="6" name="Image 0" descr="/home/claude/mongo_ppt/icon_balance.png"/>
          <p:cNvPicPr>
            <a:picLocks noChangeAspect="1"/>
          </p:cNvPicPr>
          <p:nvPr/>
        </p:nvPicPr>
        <p:blipFill>
          <a:blip r:embed="rId3"/>
          <a:stretch>
            <a:fillRect/>
          </a:stretch>
        </p:blipFill>
        <p:spPr>
          <a:xfrm>
            <a:off x="7438644" y="1815084"/>
            <a:ext cx="301752" cy="301752"/>
          </a:xfrm>
          <a:prstGeom prst="rect">
            <a:avLst/>
          </a:prstGeom>
        </p:spPr>
      </p:pic>
      <p:sp>
        <p:nvSpPr>
          <p:cNvPr id="7" name="Text 4"/>
          <p:cNvSpPr/>
          <p:nvPr/>
        </p:nvSpPr>
        <p:spPr>
          <a:xfrm>
            <a:off x="8001000" y="1783080"/>
            <a:ext cx="3383280" cy="457200"/>
          </a:xfrm>
          <a:prstGeom prst="rect">
            <a:avLst/>
          </a:prstGeom>
          <a:noFill/>
          <a:ln/>
        </p:spPr>
        <p:txBody>
          <a:bodyPr wrap="square" lIns="0" tIns="0" rIns="0" bIns="0" rtlCol="0" anchor="ctr"/>
          <a:lstStyle/>
          <a:p>
            <a:pPr marL="0" indent="0">
              <a:buNone/>
            </a:pPr>
            <a:r>
              <a:rPr lang="en-US" sz="1300" b="1" dirty="0">
                <a:solidFill>
                  <a:srgbClr val="023430"/>
                </a:solidFill>
                <a:latin typeface="Calibri" pitchFamily="34" charset="0"/>
                <a:ea typeface="Calibri" pitchFamily="34" charset="-122"/>
                <a:cs typeface="Calibri" pitchFamily="34" charset="-120"/>
              </a:rPr>
              <a:t>Easy way to think about it</a:t>
            </a:r>
            <a:endParaRPr lang="en-US" sz="1300" dirty="0"/>
          </a:p>
        </p:txBody>
      </p:sp>
      <p:sp>
        <p:nvSpPr>
          <p:cNvPr id="8" name="Text 5"/>
          <p:cNvSpPr/>
          <p:nvPr/>
        </p:nvSpPr>
        <p:spPr>
          <a:xfrm>
            <a:off x="7315200" y="2331720"/>
            <a:ext cx="3977640" cy="2194560"/>
          </a:xfrm>
          <a:prstGeom prst="rect">
            <a:avLst/>
          </a:prstGeom>
          <a:noFill/>
          <a:ln/>
        </p:spPr>
        <p:txBody>
          <a:bodyPr wrap="square" lIns="0" tIns="0" rIns="0" bIns="0" rtlCol="0" anchor="ctr"/>
          <a:lstStyle/>
          <a:p>
            <a:pPr marL="0" indent="0">
              <a:lnSpc>
                <a:spcPct val="130000"/>
              </a:lnSpc>
              <a:buNone/>
            </a:pPr>
            <a:r>
              <a:rPr lang="en-US" sz="1250" i="1" dirty="0">
                <a:solidFill>
                  <a:srgbClr val="4C6D62"/>
                </a:solidFill>
                <a:latin typeface="Calibri" pitchFamily="34" charset="0"/>
                <a:ea typeface="Calibri" pitchFamily="34" charset="-122"/>
                <a:cs typeface="Calibri" pitchFamily="34" charset="-120"/>
              </a:rPr>
              <a:t>A normal (relational) database is like a filing cabinet. Every folder must look exactly the same, with the same tabs in the same place.</a:t>
            </a:r>
            <a:endParaRPr lang="en-US" sz="1250" dirty="0"/>
          </a:p>
          <a:p>
            <a:pPr marL="0" indent="0">
              <a:lnSpc>
                <a:spcPct val="130000"/>
              </a:lnSpc>
              <a:buNone/>
            </a:pPr>
            <a:endParaRPr lang="en-US" sz="1250" dirty="0"/>
          </a:p>
          <a:p>
            <a:pPr marL="0" indent="0">
              <a:lnSpc>
                <a:spcPct val="130000"/>
              </a:lnSpc>
              <a:buNone/>
            </a:pPr>
            <a:r>
              <a:rPr lang="en-US" sz="1250" i="1" dirty="0">
                <a:solidFill>
                  <a:srgbClr val="4C6D62"/>
                </a:solidFill>
                <a:latin typeface="Calibri" pitchFamily="34" charset="0"/>
                <a:ea typeface="Calibri" pitchFamily="34" charset="-122"/>
                <a:cs typeface="Calibri" pitchFamily="34" charset="-120"/>
              </a:rPr>
              <a:t>MongoDB is like a shelf of folders. Each folder only holds what that one case actually needs — one folder can be thicker, one can have an extra page, and that is perfectly fine.</a:t>
            </a:r>
            <a:endParaRPr lang="en-US" sz="1250" dirty="0"/>
          </a:p>
        </p:txBody>
      </p:sp>
      <p:sp>
        <p:nvSpPr>
          <p:cNvPr id="9" name="Shape 6"/>
          <p:cNvSpPr/>
          <p:nvPr/>
        </p:nvSpPr>
        <p:spPr>
          <a:xfrm>
            <a:off x="548640" y="5074920"/>
            <a:ext cx="11064240" cy="1188720"/>
          </a:xfrm>
          <a:prstGeom prst="roundRect">
            <a:avLst>
              <a:gd name="adj" fmla="val 7692"/>
            </a:avLst>
          </a:prstGeom>
          <a:solidFill>
            <a:srgbClr val="023430"/>
          </a:solidFill>
          <a:ln/>
        </p:spPr>
      </p:sp>
      <p:sp>
        <p:nvSpPr>
          <p:cNvPr id="10" name="Shape 7"/>
          <p:cNvSpPr/>
          <p:nvPr/>
        </p:nvSpPr>
        <p:spPr>
          <a:xfrm>
            <a:off x="868680" y="5303520"/>
            <a:ext cx="502920" cy="502920"/>
          </a:xfrm>
          <a:prstGeom prst="ellipse">
            <a:avLst/>
          </a:prstGeom>
          <a:solidFill>
            <a:srgbClr val="0A4A3B"/>
          </a:solidFill>
          <a:ln/>
        </p:spPr>
      </p:sp>
      <p:pic>
        <p:nvPicPr>
          <p:cNvPr id="11" name="Image 1" descr="/home/claude/mongo_ppt/icon_leaf.png"/>
          <p:cNvPicPr>
            <a:picLocks noChangeAspect="1"/>
          </p:cNvPicPr>
          <p:nvPr/>
        </p:nvPicPr>
        <p:blipFill>
          <a:blip r:embed="rId4"/>
          <a:stretch>
            <a:fillRect/>
          </a:stretch>
        </p:blipFill>
        <p:spPr>
          <a:xfrm>
            <a:off x="969264" y="5404104"/>
            <a:ext cx="301752" cy="301752"/>
          </a:xfrm>
          <a:prstGeom prst="rect">
            <a:avLst/>
          </a:prstGeom>
        </p:spPr>
      </p:pic>
      <p:sp>
        <p:nvSpPr>
          <p:cNvPr id="12" name="Text 8"/>
          <p:cNvSpPr/>
          <p:nvPr/>
        </p:nvSpPr>
        <p:spPr>
          <a:xfrm>
            <a:off x="1600200" y="5193792"/>
            <a:ext cx="9692640" cy="868680"/>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In one sentence: MongoDB gives up the strict rule that every record must look the same, so that each record can grow and change on its own, without breaking anything else.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What Does “NoSQL” Mean?</a:t>
            </a:r>
            <a:endParaRPr lang="en-US" sz="2800" dirty="0"/>
          </a:p>
        </p:txBody>
      </p:sp>
      <p:sp>
        <p:nvSpPr>
          <p:cNvPr id="3" name="Text 1"/>
          <p:cNvSpPr/>
          <p:nvPr/>
        </p:nvSpPr>
        <p:spPr>
          <a:xfrm>
            <a:off x="548640" y="1069848"/>
            <a:ext cx="10881360" cy="411480"/>
          </a:xfrm>
          <a:prstGeom prst="rect">
            <a:avLst/>
          </a:prstGeom>
          <a:noFill/>
          <a:ln/>
        </p:spPr>
        <p:txBody>
          <a:bodyPr wrap="square" lIns="0" tIns="0" rIns="0" bIns="0" rtlCol="0" anchor="ctr"/>
          <a:lstStyle/>
          <a:p>
            <a:pPr marL="0" indent="0">
              <a:buNone/>
            </a:pPr>
            <a:r>
              <a:rPr lang="en-US" sz="1350" dirty="0">
                <a:solidFill>
                  <a:srgbClr val="4C6D62"/>
                </a:solidFill>
                <a:latin typeface="Calibri" pitchFamily="34" charset="0"/>
                <a:ea typeface="Calibri" pitchFamily="34" charset="-122"/>
                <a:cs typeface="Calibri" pitchFamily="34" charset="-120"/>
              </a:rPr>
              <a:t>MongoDB is usually called a NoSQL database. Here is exactly what that word means.</a:t>
            </a:r>
            <a:endParaRPr lang="en-US" sz="1350" dirty="0"/>
          </a:p>
        </p:txBody>
      </p:sp>
      <p:sp>
        <p:nvSpPr>
          <p:cNvPr id="4" name="Shape 2"/>
          <p:cNvSpPr/>
          <p:nvPr/>
        </p:nvSpPr>
        <p:spPr>
          <a:xfrm>
            <a:off x="548640" y="1691640"/>
            <a:ext cx="822960" cy="822960"/>
          </a:xfrm>
          <a:prstGeom prst="ellipse">
            <a:avLst/>
          </a:prstGeom>
          <a:solidFill>
            <a:srgbClr val="023430"/>
          </a:solidFill>
          <a:ln/>
        </p:spPr>
      </p:sp>
      <p:pic>
        <p:nvPicPr>
          <p:cNvPr id="5" name="Image 0" descr="/home/claude/mongo_ppt/icon_layers_w.png"/>
          <p:cNvPicPr>
            <a:picLocks noChangeAspect="1"/>
          </p:cNvPicPr>
          <p:nvPr/>
        </p:nvPicPr>
        <p:blipFill>
          <a:blip r:embed="rId3"/>
          <a:stretch>
            <a:fillRect/>
          </a:stretch>
        </p:blipFill>
        <p:spPr>
          <a:xfrm>
            <a:off x="754380" y="1897380"/>
            <a:ext cx="411480" cy="411480"/>
          </a:xfrm>
          <a:prstGeom prst="rect">
            <a:avLst/>
          </a:prstGeom>
        </p:spPr>
      </p:pic>
      <p:sp>
        <p:nvSpPr>
          <p:cNvPr id="6" name="Text 3"/>
          <p:cNvSpPr/>
          <p:nvPr/>
        </p:nvSpPr>
        <p:spPr>
          <a:xfrm>
            <a:off x="1600200" y="1691640"/>
            <a:ext cx="9875520" cy="2194560"/>
          </a:xfrm>
          <a:prstGeom prst="rect">
            <a:avLst/>
          </a:prstGeom>
          <a:noFill/>
          <a:ln/>
        </p:spPr>
        <p:txBody>
          <a:bodyPr wrap="square" lIns="0" tIns="0" rIns="0" bIns="0" rtlCol="0" anchor="t"/>
          <a:lstStyle/>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NoSQL does NOT mean “no SQL is allowed here.” It actually stands for “Not Only SQL.” It is simply the name given to a whole group of databases that were built as an alternative to the older, table-based (relational) style of database.
</a:t>
            </a:r>
            <a:endParaRPr lang="en-US" sz="1400" dirty="0"/>
          </a:p>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Inside this big NoSQL group, MongoDB belongs to a smaller family called document databases — because, as we just saw, it stores everything as documents.</a:t>
            </a:r>
            <a:endParaRPr lang="en-US" sz="1400" dirty="0"/>
          </a:p>
        </p:txBody>
      </p:sp>
      <p:sp>
        <p:nvSpPr>
          <p:cNvPr id="7" name="Shape 4"/>
          <p:cNvSpPr/>
          <p:nvPr/>
        </p:nvSpPr>
        <p:spPr>
          <a:xfrm>
            <a:off x="548640" y="4160520"/>
            <a:ext cx="11064240" cy="1920240"/>
          </a:xfrm>
          <a:prstGeom prst="roundRect">
            <a:avLst>
              <a:gd name="adj" fmla="val 5714"/>
            </a:avLst>
          </a:prstGeom>
          <a:solidFill>
            <a:srgbClr val="FFFFFF"/>
          </a:solidFill>
          <a:ln/>
          <a:effectLst>
            <a:outerShdw blurRad="101600" dist="38100" dir="5400000" algn="bl" rotWithShape="0">
              <a:srgbClr val="0B2B22">
                <a:alpha val="18000"/>
              </a:srgbClr>
            </a:outerShdw>
          </a:effectLst>
        </p:spPr>
      </p:sp>
      <p:sp>
        <p:nvSpPr>
          <p:cNvPr id="8" name="Text 5"/>
          <p:cNvSpPr/>
          <p:nvPr/>
        </p:nvSpPr>
        <p:spPr>
          <a:xfrm>
            <a:off x="868680" y="4370832"/>
            <a:ext cx="10424160" cy="365760"/>
          </a:xfrm>
          <a:prstGeom prst="rect">
            <a:avLst/>
          </a:prstGeom>
          <a:noFill/>
          <a:ln/>
        </p:spPr>
        <p:txBody>
          <a:bodyPr wrap="square" lIns="0" tIns="0" rIns="0" bIns="0" rtlCol="0" anchor="ctr"/>
          <a:lstStyle/>
          <a:p>
            <a:pPr marL="0" indent="0">
              <a:buNone/>
            </a:pPr>
            <a:r>
              <a:rPr lang="en-US" sz="1400" b="1" dirty="0">
                <a:solidFill>
                  <a:srgbClr val="023430"/>
                </a:solidFill>
                <a:latin typeface="Calibri" pitchFamily="34" charset="0"/>
                <a:ea typeface="Calibri" pitchFamily="34" charset="-122"/>
                <a:cs typeface="Calibri" pitchFamily="34" charset="-120"/>
              </a:rPr>
              <a:t>So why does this document-database family exist at all?</a:t>
            </a:r>
            <a:endParaRPr lang="en-US" sz="1400" dirty="0"/>
          </a:p>
        </p:txBody>
      </p:sp>
      <p:sp>
        <p:nvSpPr>
          <p:cNvPr id="9" name="Text 6"/>
          <p:cNvSpPr/>
          <p:nvPr/>
        </p:nvSpPr>
        <p:spPr>
          <a:xfrm>
            <a:off x="868680" y="4754880"/>
            <a:ext cx="10424160" cy="1234440"/>
          </a:xfrm>
          <a:prstGeom prst="rect">
            <a:avLst/>
          </a:prstGeom>
          <a:noFill/>
          <a:ln/>
        </p:spPr>
        <p:txBody>
          <a:bodyPr wrap="square" lIns="0" tIns="0" rIns="0" bIns="0" rtlCol="0" anchor="ctr"/>
          <a:lstStyle/>
          <a:p>
            <a:pPr marL="0" indent="0">
              <a:lnSpc>
                <a:spcPct val="130000"/>
              </a:lnSpc>
              <a:buNone/>
            </a:pPr>
            <a:r>
              <a:rPr lang="en-US" sz="1250" dirty="0">
                <a:solidFill>
                  <a:srgbClr val="0B2B22"/>
                </a:solidFill>
                <a:latin typeface="Calibri" pitchFamily="34" charset="0"/>
                <a:ea typeface="Calibri" pitchFamily="34" charset="-122"/>
                <a:cs typeface="Calibri" pitchFamily="34" charset="-120"/>
              </a:rPr>
              <a:t>It comes down to one trade. A document database gives up the strict, identical-for-every-row structure that a table demands. In exchange, each record's shape is free to evolve on its own. That trade is genuinely worth it for data that varies a lot from one record to the next — think user profiles, product catalogs, or articles. It matters much less for data that is naturally the same shape every single time — we will look at exactly when that is, later in this guide.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The Basic Parts</a:t>
            </a:r>
            <a:endParaRPr lang="en-US" sz="2800" dirty="0"/>
          </a:p>
        </p:txBody>
      </p:sp>
      <p:sp>
        <p:nvSpPr>
          <p:cNvPr id="3" name="Text 1"/>
          <p:cNvSpPr/>
          <p:nvPr/>
        </p:nvSpPr>
        <p:spPr>
          <a:xfrm>
            <a:off x="548640" y="1069848"/>
            <a:ext cx="10881360" cy="411480"/>
          </a:xfrm>
          <a:prstGeom prst="rect">
            <a:avLst/>
          </a:prstGeom>
          <a:noFill/>
          <a:ln/>
        </p:spPr>
        <p:txBody>
          <a:bodyPr wrap="square" lIns="0" tIns="0" rIns="0" bIns="0" rtlCol="0" anchor="ctr"/>
          <a:lstStyle/>
          <a:p>
            <a:pPr marL="0" indent="0">
              <a:buNone/>
            </a:pPr>
            <a:r>
              <a:rPr lang="en-US" sz="1350" dirty="0">
                <a:solidFill>
                  <a:srgbClr val="4C6D62"/>
                </a:solidFill>
                <a:latin typeface="Calibri" pitchFamily="34" charset="0"/>
                <a:ea typeface="Calibri" pitchFamily="34" charset="-122"/>
                <a:cs typeface="Calibri" pitchFamily="34" charset="-120"/>
              </a:rPr>
              <a:t>Everything in MongoDB fits into one simple hierarchy — each part sits inside the one before it.</a:t>
            </a:r>
            <a:endParaRPr lang="en-US" sz="1350" dirty="0"/>
          </a:p>
        </p:txBody>
      </p:sp>
      <p:sp>
        <p:nvSpPr>
          <p:cNvPr id="4" name="Shape 2"/>
          <p:cNvSpPr/>
          <p:nvPr/>
        </p:nvSpPr>
        <p:spPr>
          <a:xfrm>
            <a:off x="548640" y="1737360"/>
            <a:ext cx="2514600" cy="2148840"/>
          </a:xfrm>
          <a:prstGeom prst="roundRect">
            <a:avLst>
              <a:gd name="adj" fmla="val 5106"/>
            </a:avLst>
          </a:prstGeom>
          <a:solidFill>
            <a:srgbClr val="FFFFFF"/>
          </a:solidFill>
          <a:ln/>
          <a:effectLst>
            <a:outerShdw blurRad="101600" dist="38100" dir="5400000" algn="bl" rotWithShape="0">
              <a:srgbClr val="0B2B22">
                <a:alpha val="18000"/>
              </a:srgbClr>
            </a:outerShdw>
          </a:effectLst>
        </p:spPr>
      </p:sp>
      <p:sp>
        <p:nvSpPr>
          <p:cNvPr id="5" name="Shape 3"/>
          <p:cNvSpPr/>
          <p:nvPr/>
        </p:nvSpPr>
        <p:spPr>
          <a:xfrm>
            <a:off x="1440180" y="1993392"/>
            <a:ext cx="731520" cy="731520"/>
          </a:xfrm>
          <a:prstGeom prst="ellipse">
            <a:avLst/>
          </a:prstGeom>
          <a:solidFill>
            <a:srgbClr val="023430"/>
          </a:solidFill>
          <a:ln/>
        </p:spPr>
      </p:sp>
      <p:pic>
        <p:nvPicPr>
          <p:cNvPr id="6" name="Image 0" descr="/home/claude/mongo_ppt/icon_server_w.png"/>
          <p:cNvPicPr>
            <a:picLocks noChangeAspect="1"/>
          </p:cNvPicPr>
          <p:nvPr/>
        </p:nvPicPr>
        <p:blipFill>
          <a:blip r:embed="rId3"/>
          <a:stretch>
            <a:fillRect/>
          </a:stretch>
        </p:blipFill>
        <p:spPr>
          <a:xfrm>
            <a:off x="1604772" y="2157984"/>
            <a:ext cx="402336" cy="402336"/>
          </a:xfrm>
          <a:prstGeom prst="rect">
            <a:avLst/>
          </a:prstGeom>
        </p:spPr>
      </p:pic>
      <p:sp>
        <p:nvSpPr>
          <p:cNvPr id="7" name="Text 4"/>
          <p:cNvSpPr/>
          <p:nvPr/>
        </p:nvSpPr>
        <p:spPr>
          <a:xfrm>
            <a:off x="685800" y="2816352"/>
            <a:ext cx="2240280" cy="365760"/>
          </a:xfrm>
          <a:prstGeom prst="rect">
            <a:avLst/>
          </a:prstGeom>
          <a:noFill/>
          <a:ln/>
        </p:spPr>
        <p:txBody>
          <a:bodyPr wrap="square" lIns="0" tIns="0" rIns="0" bIns="0" rtlCol="0" anchor="ctr"/>
          <a:lstStyle/>
          <a:p>
            <a:pPr marL="0" indent="0" algn="ctr">
              <a:buNone/>
            </a:pPr>
            <a:r>
              <a:rPr lang="en-US" sz="1500" b="1" dirty="0">
                <a:solidFill>
                  <a:srgbClr val="023430"/>
                </a:solidFill>
                <a:latin typeface="Calibri" pitchFamily="34" charset="0"/>
                <a:ea typeface="Calibri" pitchFamily="34" charset="-122"/>
                <a:cs typeface="Calibri" pitchFamily="34" charset="-120"/>
              </a:rPr>
              <a:t>Server</a:t>
            </a:r>
            <a:endParaRPr lang="en-US" sz="1500" dirty="0"/>
          </a:p>
        </p:txBody>
      </p:sp>
      <p:sp>
        <p:nvSpPr>
          <p:cNvPr id="8" name="Text 5"/>
          <p:cNvSpPr/>
          <p:nvPr/>
        </p:nvSpPr>
        <p:spPr>
          <a:xfrm>
            <a:off x="731520" y="3200400"/>
            <a:ext cx="2148840" cy="640080"/>
          </a:xfrm>
          <a:prstGeom prst="rect">
            <a:avLst/>
          </a:prstGeom>
          <a:noFill/>
          <a:ln/>
        </p:spPr>
        <p:txBody>
          <a:bodyPr wrap="square" lIns="0" tIns="0" rIns="0" bIns="0" rtlCol="0" anchor="ctr"/>
          <a:lstStyle/>
          <a:p>
            <a:pPr marL="0" indent="0" algn="ctr">
              <a:lnSpc>
                <a:spcPct val="120000"/>
              </a:lnSpc>
              <a:buNone/>
            </a:pPr>
            <a:r>
              <a:rPr lang="en-US" sz="1080" dirty="0">
                <a:solidFill>
                  <a:srgbClr val="4C6D62"/>
                </a:solidFill>
                <a:latin typeface="Calibri" pitchFamily="34" charset="0"/>
                <a:ea typeface="Calibri" pitchFamily="34" charset="-122"/>
                <a:cs typeface="Calibri" pitchFamily="34" charset="-120"/>
              </a:rPr>
              <a:t>The computer that runs MongoDB itself.</a:t>
            </a:r>
            <a:endParaRPr lang="en-US" sz="1080" dirty="0"/>
          </a:p>
        </p:txBody>
      </p:sp>
      <p:sp>
        <p:nvSpPr>
          <p:cNvPr id="9" name="Text 6"/>
          <p:cNvSpPr/>
          <p:nvPr/>
        </p:nvSpPr>
        <p:spPr>
          <a:xfrm>
            <a:off x="3081528" y="2514600"/>
            <a:ext cx="237744" cy="548640"/>
          </a:xfrm>
          <a:prstGeom prst="rect">
            <a:avLst/>
          </a:prstGeom>
          <a:noFill/>
          <a:ln/>
        </p:spPr>
        <p:txBody>
          <a:bodyPr wrap="square" lIns="0" tIns="0" rIns="0" bIns="0" rtlCol="0" anchor="ctr"/>
          <a:lstStyle/>
          <a:p>
            <a:pPr marL="0" indent="0" algn="ctr">
              <a:buNone/>
            </a:pPr>
            <a:r>
              <a:rPr lang="en-US" sz="2000" dirty="0">
                <a:solidFill>
                  <a:srgbClr val="023430"/>
                </a:solidFill>
                <a:latin typeface="Arial" pitchFamily="34" charset="0"/>
                <a:ea typeface="Arial" pitchFamily="34" charset="-122"/>
                <a:cs typeface="Arial" pitchFamily="34" charset="-120"/>
              </a:rPr>
              <a:t>→</a:t>
            </a:r>
            <a:endParaRPr lang="en-US" sz="2000" dirty="0"/>
          </a:p>
        </p:txBody>
      </p:sp>
      <p:sp>
        <p:nvSpPr>
          <p:cNvPr id="10" name="Shape 7"/>
          <p:cNvSpPr/>
          <p:nvPr/>
        </p:nvSpPr>
        <p:spPr>
          <a:xfrm>
            <a:off x="3319272" y="1737360"/>
            <a:ext cx="2514600" cy="2148840"/>
          </a:xfrm>
          <a:prstGeom prst="roundRect">
            <a:avLst>
              <a:gd name="adj" fmla="val 5106"/>
            </a:avLst>
          </a:prstGeom>
          <a:solidFill>
            <a:srgbClr val="FFFFFF"/>
          </a:solidFill>
          <a:ln/>
          <a:effectLst>
            <a:outerShdw blurRad="101600" dist="38100" dir="5400000" algn="bl" rotWithShape="0">
              <a:srgbClr val="0B2B22">
                <a:alpha val="18000"/>
              </a:srgbClr>
            </a:outerShdw>
          </a:effectLst>
        </p:spPr>
      </p:sp>
      <p:sp>
        <p:nvSpPr>
          <p:cNvPr id="11" name="Shape 8"/>
          <p:cNvSpPr/>
          <p:nvPr/>
        </p:nvSpPr>
        <p:spPr>
          <a:xfrm>
            <a:off x="4210812" y="1993392"/>
            <a:ext cx="731520" cy="731520"/>
          </a:xfrm>
          <a:prstGeom prst="ellipse">
            <a:avLst/>
          </a:prstGeom>
          <a:solidFill>
            <a:srgbClr val="023430"/>
          </a:solidFill>
          <a:ln/>
        </p:spPr>
      </p:sp>
      <p:pic>
        <p:nvPicPr>
          <p:cNvPr id="12" name="Image 1" descr="/home/claude/mongo_ppt/icon_file_w.png"/>
          <p:cNvPicPr>
            <a:picLocks noChangeAspect="1"/>
          </p:cNvPicPr>
          <p:nvPr/>
        </p:nvPicPr>
        <p:blipFill>
          <a:blip r:embed="rId4"/>
          <a:stretch>
            <a:fillRect/>
          </a:stretch>
        </p:blipFill>
        <p:spPr>
          <a:xfrm>
            <a:off x="4375404" y="2157984"/>
            <a:ext cx="402336" cy="402336"/>
          </a:xfrm>
          <a:prstGeom prst="rect">
            <a:avLst/>
          </a:prstGeom>
        </p:spPr>
      </p:pic>
      <p:sp>
        <p:nvSpPr>
          <p:cNvPr id="13" name="Text 9"/>
          <p:cNvSpPr/>
          <p:nvPr/>
        </p:nvSpPr>
        <p:spPr>
          <a:xfrm>
            <a:off x="3456432" y="2816352"/>
            <a:ext cx="2240280" cy="365760"/>
          </a:xfrm>
          <a:prstGeom prst="rect">
            <a:avLst/>
          </a:prstGeom>
          <a:noFill/>
          <a:ln/>
        </p:spPr>
        <p:txBody>
          <a:bodyPr wrap="square" lIns="0" tIns="0" rIns="0" bIns="0" rtlCol="0" anchor="ctr"/>
          <a:lstStyle/>
          <a:p>
            <a:pPr marL="0" indent="0" algn="ctr">
              <a:buNone/>
            </a:pPr>
            <a:r>
              <a:rPr lang="en-US" sz="1500" b="1" dirty="0">
                <a:solidFill>
                  <a:srgbClr val="023430"/>
                </a:solidFill>
                <a:latin typeface="Calibri" pitchFamily="34" charset="0"/>
                <a:ea typeface="Calibri" pitchFamily="34" charset="-122"/>
                <a:cs typeface="Calibri" pitchFamily="34" charset="-120"/>
              </a:rPr>
              <a:t>Database</a:t>
            </a:r>
            <a:endParaRPr lang="en-US" sz="1500" dirty="0"/>
          </a:p>
        </p:txBody>
      </p:sp>
      <p:sp>
        <p:nvSpPr>
          <p:cNvPr id="14" name="Text 10"/>
          <p:cNvSpPr/>
          <p:nvPr/>
        </p:nvSpPr>
        <p:spPr>
          <a:xfrm>
            <a:off x="3502152" y="3200400"/>
            <a:ext cx="2148840" cy="640080"/>
          </a:xfrm>
          <a:prstGeom prst="rect">
            <a:avLst/>
          </a:prstGeom>
          <a:noFill/>
          <a:ln/>
        </p:spPr>
        <p:txBody>
          <a:bodyPr wrap="square" lIns="0" tIns="0" rIns="0" bIns="0" rtlCol="0" anchor="ctr"/>
          <a:lstStyle/>
          <a:p>
            <a:pPr marL="0" indent="0" algn="ctr">
              <a:lnSpc>
                <a:spcPct val="120000"/>
              </a:lnSpc>
              <a:buNone/>
            </a:pPr>
            <a:r>
              <a:rPr lang="en-US" sz="1080" dirty="0">
                <a:solidFill>
                  <a:srgbClr val="4C6D62"/>
                </a:solidFill>
                <a:latin typeface="Calibri" pitchFamily="34" charset="0"/>
                <a:ea typeface="Calibri" pitchFamily="34" charset="-122"/>
                <a:cs typeface="Calibri" pitchFamily="34" charset="-120"/>
              </a:rPr>
              <a:t>A named container, e.g. school_db.</a:t>
            </a:r>
            <a:endParaRPr lang="en-US" sz="1080" dirty="0"/>
          </a:p>
        </p:txBody>
      </p:sp>
      <p:sp>
        <p:nvSpPr>
          <p:cNvPr id="15" name="Text 11"/>
          <p:cNvSpPr/>
          <p:nvPr/>
        </p:nvSpPr>
        <p:spPr>
          <a:xfrm>
            <a:off x="5852160" y="2514600"/>
            <a:ext cx="237744" cy="548640"/>
          </a:xfrm>
          <a:prstGeom prst="rect">
            <a:avLst/>
          </a:prstGeom>
          <a:noFill/>
          <a:ln/>
        </p:spPr>
        <p:txBody>
          <a:bodyPr wrap="square" lIns="0" tIns="0" rIns="0" bIns="0" rtlCol="0" anchor="ctr"/>
          <a:lstStyle/>
          <a:p>
            <a:pPr marL="0" indent="0" algn="ctr">
              <a:buNone/>
            </a:pPr>
            <a:r>
              <a:rPr lang="en-US" sz="2000" dirty="0">
                <a:solidFill>
                  <a:srgbClr val="023430"/>
                </a:solidFill>
                <a:latin typeface="Arial" pitchFamily="34" charset="0"/>
                <a:ea typeface="Arial" pitchFamily="34" charset="-122"/>
                <a:cs typeface="Arial" pitchFamily="34" charset="-120"/>
              </a:rPr>
              <a:t>→</a:t>
            </a:r>
            <a:endParaRPr lang="en-US" sz="2000" dirty="0"/>
          </a:p>
        </p:txBody>
      </p:sp>
      <p:sp>
        <p:nvSpPr>
          <p:cNvPr id="16" name="Shape 12"/>
          <p:cNvSpPr/>
          <p:nvPr/>
        </p:nvSpPr>
        <p:spPr>
          <a:xfrm>
            <a:off x="6089904" y="1737360"/>
            <a:ext cx="2514600" cy="2148840"/>
          </a:xfrm>
          <a:prstGeom prst="roundRect">
            <a:avLst>
              <a:gd name="adj" fmla="val 5106"/>
            </a:avLst>
          </a:prstGeom>
          <a:solidFill>
            <a:srgbClr val="FFFFFF"/>
          </a:solidFill>
          <a:ln/>
          <a:effectLst>
            <a:outerShdw blurRad="101600" dist="38100" dir="5400000" algn="bl" rotWithShape="0">
              <a:srgbClr val="0B2B22">
                <a:alpha val="18000"/>
              </a:srgbClr>
            </a:outerShdw>
          </a:effectLst>
        </p:spPr>
      </p:sp>
      <p:sp>
        <p:nvSpPr>
          <p:cNvPr id="17" name="Shape 13"/>
          <p:cNvSpPr/>
          <p:nvPr/>
        </p:nvSpPr>
        <p:spPr>
          <a:xfrm>
            <a:off x="6981444" y="1993392"/>
            <a:ext cx="731520" cy="731520"/>
          </a:xfrm>
          <a:prstGeom prst="ellipse">
            <a:avLst/>
          </a:prstGeom>
          <a:solidFill>
            <a:srgbClr val="023430"/>
          </a:solidFill>
          <a:ln/>
        </p:spPr>
      </p:sp>
      <p:pic>
        <p:nvPicPr>
          <p:cNvPr id="18" name="Image 2" descr="/home/claude/mongo_ppt/icon_layers_w.png"/>
          <p:cNvPicPr>
            <a:picLocks noChangeAspect="1"/>
          </p:cNvPicPr>
          <p:nvPr/>
        </p:nvPicPr>
        <p:blipFill>
          <a:blip r:embed="rId5"/>
          <a:stretch>
            <a:fillRect/>
          </a:stretch>
        </p:blipFill>
        <p:spPr>
          <a:xfrm>
            <a:off x="7146036" y="2157984"/>
            <a:ext cx="402336" cy="402336"/>
          </a:xfrm>
          <a:prstGeom prst="rect">
            <a:avLst/>
          </a:prstGeom>
        </p:spPr>
      </p:pic>
      <p:sp>
        <p:nvSpPr>
          <p:cNvPr id="19" name="Text 14"/>
          <p:cNvSpPr/>
          <p:nvPr/>
        </p:nvSpPr>
        <p:spPr>
          <a:xfrm>
            <a:off x="6227064" y="2816352"/>
            <a:ext cx="2240280" cy="365760"/>
          </a:xfrm>
          <a:prstGeom prst="rect">
            <a:avLst/>
          </a:prstGeom>
          <a:noFill/>
          <a:ln/>
        </p:spPr>
        <p:txBody>
          <a:bodyPr wrap="square" lIns="0" tIns="0" rIns="0" bIns="0" rtlCol="0" anchor="ctr"/>
          <a:lstStyle/>
          <a:p>
            <a:pPr marL="0" indent="0" algn="ctr">
              <a:buNone/>
            </a:pPr>
            <a:r>
              <a:rPr lang="en-US" sz="1500" b="1" dirty="0">
                <a:solidFill>
                  <a:srgbClr val="023430"/>
                </a:solidFill>
                <a:latin typeface="Calibri" pitchFamily="34" charset="0"/>
                <a:ea typeface="Calibri" pitchFamily="34" charset="-122"/>
                <a:cs typeface="Calibri" pitchFamily="34" charset="-120"/>
              </a:rPr>
              <a:t>Collection</a:t>
            </a:r>
            <a:endParaRPr lang="en-US" sz="1500" dirty="0"/>
          </a:p>
        </p:txBody>
      </p:sp>
      <p:sp>
        <p:nvSpPr>
          <p:cNvPr id="20" name="Text 15"/>
          <p:cNvSpPr/>
          <p:nvPr/>
        </p:nvSpPr>
        <p:spPr>
          <a:xfrm>
            <a:off x="6272784" y="3200400"/>
            <a:ext cx="2148840" cy="640080"/>
          </a:xfrm>
          <a:prstGeom prst="rect">
            <a:avLst/>
          </a:prstGeom>
          <a:noFill/>
          <a:ln/>
        </p:spPr>
        <p:txBody>
          <a:bodyPr wrap="square" lIns="0" tIns="0" rIns="0" bIns="0" rtlCol="0" anchor="ctr"/>
          <a:lstStyle/>
          <a:p>
            <a:pPr marL="0" indent="0" algn="ctr">
              <a:lnSpc>
                <a:spcPct val="120000"/>
              </a:lnSpc>
              <a:buNone/>
            </a:pPr>
            <a:r>
              <a:rPr lang="en-US" sz="1080" dirty="0">
                <a:solidFill>
                  <a:srgbClr val="4C6D62"/>
                </a:solidFill>
                <a:latin typeface="Calibri" pitchFamily="34" charset="0"/>
                <a:ea typeface="Calibri" pitchFamily="34" charset="-122"/>
                <a:cs typeface="Calibri" pitchFamily="34" charset="-120"/>
              </a:rPr>
              <a:t>A group of documents, e.g. students.</a:t>
            </a:r>
            <a:endParaRPr lang="en-US" sz="1080" dirty="0"/>
          </a:p>
        </p:txBody>
      </p:sp>
      <p:sp>
        <p:nvSpPr>
          <p:cNvPr id="21" name="Text 16"/>
          <p:cNvSpPr/>
          <p:nvPr/>
        </p:nvSpPr>
        <p:spPr>
          <a:xfrm>
            <a:off x="8622792" y="2514600"/>
            <a:ext cx="237744" cy="548640"/>
          </a:xfrm>
          <a:prstGeom prst="rect">
            <a:avLst/>
          </a:prstGeom>
          <a:noFill/>
          <a:ln/>
        </p:spPr>
        <p:txBody>
          <a:bodyPr wrap="square" lIns="0" tIns="0" rIns="0" bIns="0" rtlCol="0" anchor="ctr"/>
          <a:lstStyle/>
          <a:p>
            <a:pPr marL="0" indent="0" algn="ctr">
              <a:buNone/>
            </a:pPr>
            <a:r>
              <a:rPr lang="en-US" sz="2000" dirty="0">
                <a:solidFill>
                  <a:srgbClr val="023430"/>
                </a:solidFill>
                <a:latin typeface="Arial" pitchFamily="34" charset="0"/>
                <a:ea typeface="Arial" pitchFamily="34" charset="-122"/>
                <a:cs typeface="Arial" pitchFamily="34" charset="-120"/>
              </a:rPr>
              <a:t>→</a:t>
            </a:r>
            <a:endParaRPr lang="en-US" sz="2000" dirty="0"/>
          </a:p>
        </p:txBody>
      </p:sp>
      <p:sp>
        <p:nvSpPr>
          <p:cNvPr id="22" name="Shape 17"/>
          <p:cNvSpPr/>
          <p:nvPr/>
        </p:nvSpPr>
        <p:spPr>
          <a:xfrm>
            <a:off x="8860536" y="1737360"/>
            <a:ext cx="2514600" cy="2148840"/>
          </a:xfrm>
          <a:prstGeom prst="roundRect">
            <a:avLst>
              <a:gd name="adj" fmla="val 5106"/>
            </a:avLst>
          </a:prstGeom>
          <a:solidFill>
            <a:srgbClr val="FFFFFF"/>
          </a:solidFill>
          <a:ln/>
          <a:effectLst>
            <a:outerShdw blurRad="101600" dist="38100" dir="5400000" algn="bl" rotWithShape="0">
              <a:srgbClr val="0B2B22">
                <a:alpha val="18000"/>
              </a:srgbClr>
            </a:outerShdw>
          </a:effectLst>
        </p:spPr>
      </p:sp>
      <p:sp>
        <p:nvSpPr>
          <p:cNvPr id="23" name="Shape 18"/>
          <p:cNvSpPr/>
          <p:nvPr/>
        </p:nvSpPr>
        <p:spPr>
          <a:xfrm>
            <a:off x="9752076" y="1993392"/>
            <a:ext cx="731520" cy="731520"/>
          </a:xfrm>
          <a:prstGeom prst="ellipse">
            <a:avLst/>
          </a:prstGeom>
          <a:solidFill>
            <a:srgbClr val="023430"/>
          </a:solidFill>
          <a:ln/>
        </p:spPr>
      </p:sp>
      <p:pic>
        <p:nvPicPr>
          <p:cNvPr id="24" name="Image 3" descr="/home/claude/mongo_ppt/icon_database_w.png"/>
          <p:cNvPicPr>
            <a:picLocks noChangeAspect="1"/>
          </p:cNvPicPr>
          <p:nvPr/>
        </p:nvPicPr>
        <p:blipFill>
          <a:blip r:embed="rId6"/>
          <a:stretch>
            <a:fillRect/>
          </a:stretch>
        </p:blipFill>
        <p:spPr>
          <a:xfrm>
            <a:off x="9916668" y="2157984"/>
            <a:ext cx="402336" cy="402336"/>
          </a:xfrm>
          <a:prstGeom prst="rect">
            <a:avLst/>
          </a:prstGeom>
        </p:spPr>
      </p:pic>
      <p:sp>
        <p:nvSpPr>
          <p:cNvPr id="25" name="Text 19"/>
          <p:cNvSpPr/>
          <p:nvPr/>
        </p:nvSpPr>
        <p:spPr>
          <a:xfrm>
            <a:off x="8997696" y="2816352"/>
            <a:ext cx="2240280" cy="365760"/>
          </a:xfrm>
          <a:prstGeom prst="rect">
            <a:avLst/>
          </a:prstGeom>
          <a:noFill/>
          <a:ln/>
        </p:spPr>
        <p:txBody>
          <a:bodyPr wrap="square" lIns="0" tIns="0" rIns="0" bIns="0" rtlCol="0" anchor="ctr"/>
          <a:lstStyle/>
          <a:p>
            <a:pPr marL="0" indent="0" algn="ctr">
              <a:buNone/>
            </a:pPr>
            <a:r>
              <a:rPr lang="en-US" sz="1500" b="1" dirty="0">
                <a:solidFill>
                  <a:srgbClr val="023430"/>
                </a:solidFill>
                <a:latin typeface="Calibri" pitchFamily="34" charset="0"/>
                <a:ea typeface="Calibri" pitchFamily="34" charset="-122"/>
                <a:cs typeface="Calibri" pitchFamily="34" charset="-120"/>
              </a:rPr>
              <a:t>Document</a:t>
            </a:r>
            <a:endParaRPr lang="en-US" sz="1500" dirty="0"/>
          </a:p>
        </p:txBody>
      </p:sp>
      <p:sp>
        <p:nvSpPr>
          <p:cNvPr id="26" name="Text 20"/>
          <p:cNvSpPr/>
          <p:nvPr/>
        </p:nvSpPr>
        <p:spPr>
          <a:xfrm>
            <a:off x="9043416" y="3200400"/>
            <a:ext cx="2148840" cy="640080"/>
          </a:xfrm>
          <a:prstGeom prst="rect">
            <a:avLst/>
          </a:prstGeom>
          <a:noFill/>
          <a:ln/>
        </p:spPr>
        <p:txBody>
          <a:bodyPr wrap="square" lIns="0" tIns="0" rIns="0" bIns="0" rtlCol="0" anchor="ctr"/>
          <a:lstStyle/>
          <a:p>
            <a:pPr marL="0" indent="0" algn="ctr">
              <a:lnSpc>
                <a:spcPct val="120000"/>
              </a:lnSpc>
              <a:buNone/>
            </a:pPr>
            <a:r>
              <a:rPr lang="en-US" sz="1080" dirty="0">
                <a:solidFill>
                  <a:srgbClr val="4C6D62"/>
                </a:solidFill>
                <a:latin typeface="Calibri" pitchFamily="34" charset="0"/>
                <a:ea typeface="Calibri" pitchFamily="34" charset="-122"/>
                <a:cs typeface="Calibri" pitchFamily="34" charset="-120"/>
              </a:rPr>
              <a:t>One single record, e.g. one student.</a:t>
            </a:r>
            <a:endParaRPr lang="en-US" sz="1080" dirty="0"/>
          </a:p>
        </p:txBody>
      </p:sp>
      <p:sp>
        <p:nvSpPr>
          <p:cNvPr id="27" name="Shape 21"/>
          <p:cNvSpPr/>
          <p:nvPr/>
        </p:nvSpPr>
        <p:spPr>
          <a:xfrm>
            <a:off x="548640" y="4160520"/>
            <a:ext cx="11064240" cy="1965960"/>
          </a:xfrm>
          <a:prstGeom prst="roundRect">
            <a:avLst>
              <a:gd name="adj" fmla="val 4651"/>
            </a:avLst>
          </a:prstGeom>
          <a:solidFill>
            <a:srgbClr val="FFFFFF"/>
          </a:solidFill>
          <a:ln w="12700">
            <a:solidFill>
              <a:srgbClr val="D8E6DE"/>
            </a:solidFill>
            <a:prstDash val="solid"/>
          </a:ln>
        </p:spPr>
      </p:sp>
      <p:sp>
        <p:nvSpPr>
          <p:cNvPr id="28" name="Text 22"/>
          <p:cNvSpPr/>
          <p:nvPr/>
        </p:nvSpPr>
        <p:spPr>
          <a:xfrm>
            <a:off x="868680" y="4389120"/>
            <a:ext cx="10424160" cy="1600200"/>
          </a:xfrm>
          <a:prstGeom prst="rect">
            <a:avLst/>
          </a:prstGeom>
          <a:noFill/>
          <a:ln/>
        </p:spPr>
        <p:txBody>
          <a:bodyPr wrap="square" lIns="0" tIns="0" rIns="0" bIns="0" rtlCol="0" anchor="t"/>
          <a:lstStyle/>
          <a:p>
            <a:pPr marL="0" indent="0">
              <a:lnSpc>
                <a:spcPct val="135000"/>
              </a:lnSpc>
              <a:buNone/>
            </a:pPr>
            <a:r>
              <a:rPr lang="en-US" sz="1350" b="1" dirty="0">
                <a:solidFill>
                  <a:srgbClr val="023430"/>
                </a:solidFill>
                <a:latin typeface="Calibri" pitchFamily="34" charset="0"/>
                <a:ea typeface="Calibri" pitchFamily="34" charset="-122"/>
                <a:cs typeface="Calibri" pitchFamily="34" charset="-120"/>
              </a:rPr>
              <a:t>Put simply: </a:t>
            </a:r>
            <a:r>
              <a:rPr lang="en-US" sz="1300" dirty="0">
                <a:solidFill>
                  <a:srgbClr val="0B2B22"/>
                </a:solidFill>
                <a:latin typeface="Calibri" pitchFamily="34" charset="0"/>
                <a:ea typeface="Calibri" pitchFamily="34" charset="-122"/>
                <a:cs typeface="Calibri" pitchFamily="34" charset="-120"/>
              </a:rPr>
              <a:t>one MongoDB server can hold many databases. One database can hold many collections. One collection can hold many documents. A school (database) has a students collection and a courses collection — and inside the students collection sit individual student documents, one per student.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A Document, Up Close</a:t>
            </a:r>
            <a:endParaRPr lang="en-US" sz="2800" dirty="0"/>
          </a:p>
        </p:txBody>
      </p:sp>
      <p:sp>
        <p:nvSpPr>
          <p:cNvPr id="3" name="Text 1"/>
          <p:cNvSpPr/>
          <p:nvPr/>
        </p:nvSpPr>
        <p:spPr>
          <a:xfrm>
            <a:off x="548640" y="1069848"/>
            <a:ext cx="10881360" cy="411480"/>
          </a:xfrm>
          <a:prstGeom prst="rect">
            <a:avLst/>
          </a:prstGeom>
          <a:noFill/>
          <a:ln/>
        </p:spPr>
        <p:txBody>
          <a:bodyPr wrap="square" lIns="0" tIns="0" rIns="0" bIns="0" rtlCol="0" anchor="ctr"/>
          <a:lstStyle/>
          <a:p>
            <a:pPr marL="0" indent="0">
              <a:buNone/>
            </a:pPr>
            <a:r>
              <a:rPr lang="en-US" sz="1350" dirty="0">
                <a:solidFill>
                  <a:srgbClr val="4C6D62"/>
                </a:solidFill>
                <a:latin typeface="Calibri" pitchFamily="34" charset="0"/>
                <a:ea typeface="Calibri" pitchFamily="34" charset="-122"/>
                <a:cs typeface="Calibri" pitchFamily="34" charset="-120"/>
              </a:rPr>
              <a:t>This is the most important idea in all of MongoDB — take a moment on this one.</a:t>
            </a:r>
            <a:endParaRPr lang="en-US" sz="1350" dirty="0"/>
          </a:p>
        </p:txBody>
      </p:sp>
      <p:sp>
        <p:nvSpPr>
          <p:cNvPr id="4" name="Shape 2"/>
          <p:cNvSpPr/>
          <p:nvPr/>
        </p:nvSpPr>
        <p:spPr>
          <a:xfrm>
            <a:off x="548640" y="1600200"/>
            <a:ext cx="5394960" cy="2468880"/>
          </a:xfrm>
          <a:prstGeom prst="roundRect">
            <a:avLst>
              <a:gd name="adj" fmla="val 4444"/>
            </a:avLst>
          </a:prstGeom>
          <a:solidFill>
            <a:srgbClr val="023430"/>
          </a:solidFill>
          <a:ln/>
        </p:spPr>
      </p:sp>
      <p:sp>
        <p:nvSpPr>
          <p:cNvPr id="5" name="Text 3"/>
          <p:cNvSpPr/>
          <p:nvPr/>
        </p:nvSpPr>
        <p:spPr>
          <a:xfrm>
            <a:off x="868680" y="1783080"/>
            <a:ext cx="4846320" cy="2103120"/>
          </a:xfrm>
          <a:prstGeom prst="rect">
            <a:avLst/>
          </a:prstGeom>
          <a:noFill/>
          <a:ln/>
        </p:spPr>
        <p:txBody>
          <a:bodyPr wrap="square" lIns="0" tIns="0" rIns="0" bIns="0" rtlCol="0" anchor="t"/>
          <a:lstStyle/>
          <a:p>
            <a:pPr marL="0" indent="0">
              <a:lnSpc>
                <a:spcPct val="115000"/>
              </a:lnSpc>
              <a:buNone/>
            </a:pPr>
            <a:r>
              <a:rPr lang="en-US" sz="1400" dirty="0">
                <a:solidFill>
                  <a:srgbClr val="00ED64"/>
                </a:solidFill>
                <a:latin typeface="Courier New" pitchFamily="34" charset="0"/>
                <a:ea typeface="Courier New" pitchFamily="34" charset="-122"/>
                <a:cs typeface="Courier New" pitchFamily="34" charset="-120"/>
              </a:rPr>
              <a:t>{</a:t>
            </a:r>
            <a:endParaRPr lang="en-US" sz="1400" dirty="0"/>
          </a:p>
          <a:p>
            <a:pPr marL="0" indent="0">
              <a:lnSpc>
                <a:spcPct val="115000"/>
              </a:lnSpc>
              <a:buNone/>
            </a:pPr>
            <a:r>
              <a:rPr lang="en-US" sz="1400" dirty="0">
                <a:solidFill>
                  <a:srgbClr val="00ED64"/>
                </a:solidFill>
                <a:latin typeface="Courier New" pitchFamily="34" charset="0"/>
                <a:ea typeface="Courier New" pitchFamily="34" charset="-122"/>
                <a:cs typeface="Courier New" pitchFamily="34" charset="-120"/>
              </a:rPr>
              <a:t>  "name": "Alice",</a:t>
            </a:r>
            <a:endParaRPr lang="en-US" sz="1400" dirty="0"/>
          </a:p>
          <a:p>
            <a:pPr marL="0" indent="0">
              <a:lnSpc>
                <a:spcPct val="115000"/>
              </a:lnSpc>
              <a:buNone/>
            </a:pPr>
            <a:r>
              <a:rPr lang="en-US" sz="1400" dirty="0">
                <a:solidFill>
                  <a:srgbClr val="00ED64"/>
                </a:solidFill>
                <a:latin typeface="Courier New" pitchFamily="34" charset="0"/>
                <a:ea typeface="Courier New" pitchFamily="34" charset="-122"/>
                <a:cs typeface="Courier New" pitchFamily="34" charset="-120"/>
              </a:rPr>
              <a:t>  "course": "Computer Science",</a:t>
            </a:r>
            <a:endParaRPr lang="en-US" sz="1400" dirty="0"/>
          </a:p>
          <a:p>
            <a:pPr marL="0" indent="0">
              <a:lnSpc>
                <a:spcPct val="115000"/>
              </a:lnSpc>
              <a:buNone/>
            </a:pPr>
            <a:r>
              <a:rPr lang="en-US" sz="1400" dirty="0">
                <a:solidFill>
                  <a:srgbClr val="00ED64"/>
                </a:solidFill>
                <a:latin typeface="Courier New" pitchFamily="34" charset="0"/>
                <a:ea typeface="Courier New" pitchFamily="34" charset="-122"/>
                <a:cs typeface="Courier New" pitchFamily="34" charset="-120"/>
              </a:rPr>
              <a:t>  "grade": 95</a:t>
            </a:r>
            <a:endParaRPr lang="en-US" sz="1400" dirty="0"/>
          </a:p>
          <a:p>
            <a:pPr marL="0" indent="0">
              <a:lnSpc>
                <a:spcPct val="115000"/>
              </a:lnSpc>
              <a:buNone/>
            </a:pPr>
            <a:r>
              <a:rPr lang="en-US" sz="1400" dirty="0">
                <a:solidFill>
                  <a:srgbClr val="00ED64"/>
                </a:solidFill>
                <a:latin typeface="Courier New" pitchFamily="34" charset="0"/>
                <a:ea typeface="Courier New" pitchFamily="34" charset="-122"/>
                <a:cs typeface="Courier New" pitchFamily="34" charset="-120"/>
              </a:rPr>
              <a:t>}</a:t>
            </a:r>
            <a:endParaRPr lang="en-US" sz="1400" dirty="0"/>
          </a:p>
        </p:txBody>
      </p:sp>
      <p:sp>
        <p:nvSpPr>
          <p:cNvPr id="6" name="Text 4"/>
          <p:cNvSpPr/>
          <p:nvPr/>
        </p:nvSpPr>
        <p:spPr>
          <a:xfrm>
            <a:off x="6309360" y="1600200"/>
            <a:ext cx="5303520" cy="2194560"/>
          </a:xfrm>
          <a:prstGeom prst="rect">
            <a:avLst/>
          </a:prstGeom>
          <a:noFill/>
          <a:ln/>
        </p:spPr>
        <p:txBody>
          <a:bodyPr wrap="square" lIns="0" tIns="0" rIns="0" bIns="0" rtlCol="0" anchor="t"/>
          <a:lstStyle/>
          <a:p>
            <a:pPr marL="0" indent="0">
              <a:lnSpc>
                <a:spcPct val="132000"/>
              </a:lnSpc>
              <a:buNone/>
            </a:pPr>
            <a:r>
              <a:rPr lang="en-US" sz="1350" dirty="0">
                <a:solidFill>
                  <a:srgbClr val="0B2B22"/>
                </a:solidFill>
                <a:latin typeface="Calibri" pitchFamily="34" charset="0"/>
                <a:ea typeface="Calibri" pitchFamily="34" charset="-122"/>
                <a:cs typeface="Calibri" pitchFamily="34" charset="-120"/>
              </a:rPr>
              <a:t>This whole block is ONE document — it represents one single student.
</a:t>
            </a:r>
            <a:endParaRPr lang="en-US" sz="1350" dirty="0"/>
          </a:p>
          <a:p>
            <a:pPr marL="0" indent="0">
              <a:lnSpc>
                <a:spcPct val="132000"/>
              </a:lnSpc>
              <a:buNone/>
            </a:pPr>
            <a:r>
              <a:rPr lang="en-US" sz="1350" dirty="0">
                <a:solidFill>
                  <a:srgbClr val="0B2B22"/>
                </a:solidFill>
                <a:latin typeface="Calibri" pitchFamily="34" charset="0"/>
                <a:ea typeface="Calibri" pitchFamily="34" charset="-122"/>
                <a:cs typeface="Calibri" pitchFamily="34" charset="-120"/>
              </a:rPr>
              <a:t>Each piece inside it, like "name" or "grade", is called a field. A document is simply a list of fields, each written as a key and its value (the key "grade" has the value 95).</a:t>
            </a:r>
            <a:endParaRPr lang="en-US" sz="1350" dirty="0"/>
          </a:p>
        </p:txBody>
      </p:sp>
      <p:sp>
        <p:nvSpPr>
          <p:cNvPr id="7" name="Shape 5"/>
          <p:cNvSpPr/>
          <p:nvPr/>
        </p:nvSpPr>
        <p:spPr>
          <a:xfrm>
            <a:off x="548640" y="4343400"/>
            <a:ext cx="11064240" cy="1965960"/>
          </a:xfrm>
          <a:prstGeom prst="roundRect">
            <a:avLst>
              <a:gd name="adj" fmla="val 5581"/>
            </a:avLst>
          </a:prstGeom>
          <a:solidFill>
            <a:srgbClr val="FFFFFF"/>
          </a:solidFill>
          <a:ln/>
          <a:effectLst>
            <a:outerShdw blurRad="101600" dist="38100" dir="5400000" algn="bl" rotWithShape="0">
              <a:srgbClr val="0B2B22">
                <a:alpha val="18000"/>
              </a:srgbClr>
            </a:outerShdw>
          </a:effectLst>
        </p:spPr>
      </p:sp>
      <p:sp>
        <p:nvSpPr>
          <p:cNvPr id="8" name="Text 6"/>
          <p:cNvSpPr/>
          <p:nvPr/>
        </p:nvSpPr>
        <p:spPr>
          <a:xfrm>
            <a:off x="868680" y="4507992"/>
            <a:ext cx="10424160" cy="365760"/>
          </a:xfrm>
          <a:prstGeom prst="rect">
            <a:avLst/>
          </a:prstGeom>
          <a:noFill/>
          <a:ln/>
        </p:spPr>
        <p:txBody>
          <a:bodyPr wrap="square" lIns="0" tIns="0" rIns="0" bIns="0" rtlCol="0" anchor="ctr"/>
          <a:lstStyle/>
          <a:p>
            <a:pPr marL="0" indent="0">
              <a:buNone/>
            </a:pPr>
            <a:r>
              <a:rPr lang="en-US" sz="1400" b="1" dirty="0">
                <a:solidFill>
                  <a:srgbClr val="023430"/>
                </a:solidFill>
                <a:latin typeface="Calibri" pitchFamily="34" charset="0"/>
                <a:ea typeface="Calibri" pitchFamily="34" charset="-122"/>
                <a:cs typeface="Calibri" pitchFamily="34" charset="-120"/>
              </a:rPr>
              <a:t>A collection has NO fixed columns</a:t>
            </a:r>
            <a:endParaRPr lang="en-US" sz="1400" dirty="0"/>
          </a:p>
        </p:txBody>
      </p:sp>
      <p:sp>
        <p:nvSpPr>
          <p:cNvPr id="9" name="Text 7"/>
          <p:cNvSpPr/>
          <p:nvPr/>
        </p:nvSpPr>
        <p:spPr>
          <a:xfrm>
            <a:off x="868680" y="4846320"/>
            <a:ext cx="10424160" cy="1371600"/>
          </a:xfrm>
          <a:prstGeom prst="rect">
            <a:avLst/>
          </a:prstGeom>
          <a:noFill/>
          <a:ln/>
        </p:spPr>
        <p:txBody>
          <a:bodyPr wrap="square" lIns="0" tIns="0" rIns="0" bIns="0" rtlCol="0" anchor="ctr"/>
          <a:lstStyle/>
          <a:p>
            <a:pPr marL="0" indent="0">
              <a:lnSpc>
                <a:spcPct val="122000"/>
              </a:lnSpc>
              <a:buNone/>
            </a:pPr>
            <a:r>
              <a:rPr lang="en-US" sz="1200" dirty="0">
                <a:solidFill>
                  <a:srgbClr val="0B2B22"/>
                </a:solidFill>
                <a:latin typeface="Calibri" pitchFamily="34" charset="0"/>
                <a:ea typeface="Calibri" pitchFamily="34" charset="-122"/>
                <a:cs typeface="Calibri" pitchFamily="34" charset="-120"/>
              </a:rPr>
              <a:t>In a normal SQL table, every single row MUST have exactly the same columns — there is no way around this rule. MongoDB does not force this rule at all.</a:t>
            </a:r>
            <a:endParaRPr lang="en-US" sz="1200" dirty="0"/>
          </a:p>
          <a:p>
            <a:pPr marL="0" indent="0">
              <a:lnSpc>
                <a:spcPct val="122000"/>
              </a:lnSpc>
              <a:buNone/>
            </a:pPr>
            <a:endParaRPr lang="en-US" sz="1200" dirty="0"/>
          </a:p>
          <a:p>
            <a:pPr marL="0" indent="0">
              <a:lnSpc>
                <a:spcPct val="122000"/>
              </a:lnSpc>
              <a:buNone/>
            </a:pPr>
            <a:r>
              <a:rPr lang="en-US" sz="1200" dirty="0">
                <a:solidFill>
                  <a:srgbClr val="0B2B22"/>
                </a:solidFill>
                <a:latin typeface="Calibri" pitchFamily="34" charset="0"/>
                <a:ea typeface="Calibri" pitchFamily="34" charset="-122"/>
                <a:cs typeface="Calibri" pitchFamily="34" charset="-120"/>
              </a:rPr>
              <a:t>That means one document in the students collection can have a field that another document in that very same collection does not have. For example, one student's document could include a "scholarship": true field, while every other student's document simply leaves that field out. Both documents are still completely valid, and both live in the same collection without any problem.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The _id Field, and BSON</a:t>
            </a:r>
            <a:endParaRPr lang="en-US" sz="2800" dirty="0"/>
          </a:p>
        </p:txBody>
      </p:sp>
      <p:sp>
        <p:nvSpPr>
          <p:cNvPr id="3" name="Shape 1"/>
          <p:cNvSpPr/>
          <p:nvPr/>
        </p:nvSpPr>
        <p:spPr>
          <a:xfrm>
            <a:off x="548640" y="1371600"/>
            <a:ext cx="5394960" cy="4389120"/>
          </a:xfrm>
          <a:prstGeom prst="roundRect">
            <a:avLst>
              <a:gd name="adj" fmla="val 2500"/>
            </a:avLst>
          </a:prstGeom>
          <a:solidFill>
            <a:srgbClr val="FFFFFF"/>
          </a:solidFill>
          <a:ln/>
          <a:effectLst>
            <a:outerShdw blurRad="101600" dist="38100" dir="5400000" algn="bl" rotWithShape="0">
              <a:srgbClr val="0B2B22">
                <a:alpha val="18000"/>
              </a:srgbClr>
            </a:outerShdw>
          </a:effectLst>
        </p:spPr>
      </p:sp>
      <p:sp>
        <p:nvSpPr>
          <p:cNvPr id="4" name="Shape 2"/>
          <p:cNvSpPr/>
          <p:nvPr/>
        </p:nvSpPr>
        <p:spPr>
          <a:xfrm>
            <a:off x="868680" y="1691640"/>
            <a:ext cx="548640" cy="548640"/>
          </a:xfrm>
          <a:prstGeom prst="ellipse">
            <a:avLst/>
          </a:prstGeom>
          <a:solidFill>
            <a:srgbClr val="023430"/>
          </a:solidFill>
          <a:ln/>
        </p:spPr>
      </p:sp>
      <p:pic>
        <p:nvPicPr>
          <p:cNvPr id="5" name="Image 0" descr="/home/claude/mongo_ppt/icon_keyicon.png"/>
          <p:cNvPicPr>
            <a:picLocks noChangeAspect="1"/>
          </p:cNvPicPr>
          <p:nvPr/>
        </p:nvPicPr>
        <p:blipFill>
          <a:blip r:embed="rId3"/>
          <a:stretch>
            <a:fillRect/>
          </a:stretch>
        </p:blipFill>
        <p:spPr>
          <a:xfrm>
            <a:off x="992124" y="1815084"/>
            <a:ext cx="301752" cy="301752"/>
          </a:xfrm>
          <a:prstGeom prst="rect">
            <a:avLst/>
          </a:prstGeom>
        </p:spPr>
      </p:pic>
      <p:sp>
        <p:nvSpPr>
          <p:cNvPr id="6" name="Text 3"/>
          <p:cNvSpPr/>
          <p:nvPr/>
        </p:nvSpPr>
        <p:spPr>
          <a:xfrm>
            <a:off x="1600200" y="1691640"/>
            <a:ext cx="4114800" cy="548640"/>
          </a:xfrm>
          <a:prstGeom prst="rect">
            <a:avLst/>
          </a:prstGeom>
          <a:noFill/>
          <a:ln/>
        </p:spPr>
        <p:txBody>
          <a:bodyPr wrap="square" lIns="0" tIns="0" rIns="0" bIns="0" rtlCol="0" anchor="ctr"/>
          <a:lstStyle/>
          <a:p>
            <a:pPr marL="0" indent="0">
              <a:buNone/>
            </a:pPr>
            <a:r>
              <a:rPr lang="en-US" sz="1700" b="1" dirty="0">
                <a:solidFill>
                  <a:srgbClr val="023430"/>
                </a:solidFill>
                <a:latin typeface="Calibri" pitchFamily="34" charset="0"/>
                <a:ea typeface="Calibri" pitchFamily="34" charset="-122"/>
                <a:cs typeface="Calibri" pitchFamily="34" charset="-120"/>
              </a:rPr>
              <a:t>The _id Field</a:t>
            </a:r>
            <a:endParaRPr lang="en-US" sz="1700" dirty="0"/>
          </a:p>
        </p:txBody>
      </p:sp>
      <p:sp>
        <p:nvSpPr>
          <p:cNvPr id="7" name="Text 4"/>
          <p:cNvSpPr/>
          <p:nvPr/>
        </p:nvSpPr>
        <p:spPr>
          <a:xfrm>
            <a:off x="868680" y="2468880"/>
            <a:ext cx="4754880" cy="3108960"/>
          </a:xfrm>
          <a:prstGeom prst="rect">
            <a:avLst/>
          </a:prstGeom>
          <a:noFill/>
          <a:ln/>
        </p:spPr>
        <p:txBody>
          <a:bodyPr wrap="square" lIns="0" tIns="0" rIns="0" bIns="0" rtlCol="0" anchor="ctr"/>
          <a:lstStyle/>
          <a:p>
            <a:pPr marL="0" indent="0">
              <a:lnSpc>
                <a:spcPct val="135000"/>
              </a:lnSpc>
              <a:buNone/>
            </a:pPr>
            <a:r>
              <a:rPr lang="en-US" sz="1300" dirty="0">
                <a:solidFill>
                  <a:srgbClr val="0B2B22"/>
                </a:solidFill>
                <a:latin typeface="Calibri" pitchFamily="34" charset="0"/>
                <a:ea typeface="Calibri" pitchFamily="34" charset="-122"/>
                <a:cs typeface="Calibri" pitchFamily="34" charset="-120"/>
              </a:rPr>
              <a:t>Every single document gets its own _id value automatically, the moment it is saved — even if you never type one yourself.</a:t>
            </a:r>
            <a:endParaRPr lang="en-US" sz="1300" dirty="0"/>
          </a:p>
          <a:p>
            <a:pPr marL="0" indent="0">
              <a:lnSpc>
                <a:spcPct val="135000"/>
              </a:lnSpc>
              <a:buNone/>
            </a:pPr>
            <a:endParaRPr lang="en-US" sz="1300" dirty="0"/>
          </a:p>
          <a:p>
            <a:pPr marL="0" indent="0">
              <a:lnSpc>
                <a:spcPct val="135000"/>
              </a:lnSpc>
              <a:buNone/>
            </a:pPr>
            <a:r>
              <a:rPr lang="en-US" sz="1300" dirty="0">
                <a:solidFill>
                  <a:srgbClr val="0B2B22"/>
                </a:solidFill>
                <a:latin typeface="Calibri" pitchFamily="34" charset="0"/>
                <a:ea typeface="Calibri" pitchFamily="34" charset="-122"/>
                <a:cs typeface="Calibri" pitchFamily="34" charset="-120"/>
              </a:rPr>
              <a:t>No two documents anywhere in that collection ever share the same _id.</a:t>
            </a:r>
            <a:endParaRPr lang="en-US" sz="1300" dirty="0"/>
          </a:p>
          <a:p>
            <a:pPr marL="0" indent="0">
              <a:lnSpc>
                <a:spcPct val="135000"/>
              </a:lnSpc>
              <a:buNone/>
            </a:pPr>
            <a:endParaRPr lang="en-US" sz="1300" dirty="0"/>
          </a:p>
          <a:p>
            <a:pPr marL="0" indent="0">
              <a:lnSpc>
                <a:spcPct val="135000"/>
              </a:lnSpc>
              <a:buNone/>
            </a:pPr>
            <a:r>
              <a:rPr lang="en-US" sz="1300" dirty="0">
                <a:solidFill>
                  <a:srgbClr val="0B2B22"/>
                </a:solidFill>
                <a:latin typeface="Calibri" pitchFamily="34" charset="0"/>
                <a:ea typeface="Calibri" pitchFamily="34" charset="-122"/>
                <a:cs typeface="Calibri" pitchFamily="34" charset="-120"/>
              </a:rPr>
              <a:t>Think of it as a permanent fingerprint for that one document: it identifies that document, and only that document, forever.</a:t>
            </a:r>
            <a:endParaRPr lang="en-US" sz="1300" dirty="0"/>
          </a:p>
        </p:txBody>
      </p:sp>
      <p:sp>
        <p:nvSpPr>
          <p:cNvPr id="8" name="Shape 5"/>
          <p:cNvSpPr/>
          <p:nvPr/>
        </p:nvSpPr>
        <p:spPr>
          <a:xfrm>
            <a:off x="6172200" y="1371600"/>
            <a:ext cx="5440680" cy="4389120"/>
          </a:xfrm>
          <a:prstGeom prst="roundRect">
            <a:avLst>
              <a:gd name="adj" fmla="val 2500"/>
            </a:avLst>
          </a:prstGeom>
          <a:solidFill>
            <a:srgbClr val="FFFFFF"/>
          </a:solidFill>
          <a:ln/>
          <a:effectLst>
            <a:outerShdw blurRad="101600" dist="38100" dir="5400000" algn="bl" rotWithShape="0">
              <a:srgbClr val="0B2B22">
                <a:alpha val="18000"/>
              </a:srgbClr>
            </a:outerShdw>
          </a:effectLst>
        </p:spPr>
      </p:sp>
      <p:sp>
        <p:nvSpPr>
          <p:cNvPr id="9" name="Shape 6"/>
          <p:cNvSpPr/>
          <p:nvPr/>
        </p:nvSpPr>
        <p:spPr>
          <a:xfrm>
            <a:off x="6492240" y="1691640"/>
            <a:ext cx="548640" cy="548640"/>
          </a:xfrm>
          <a:prstGeom prst="ellipse">
            <a:avLst/>
          </a:prstGeom>
          <a:solidFill>
            <a:srgbClr val="023430"/>
          </a:solidFill>
          <a:ln/>
        </p:spPr>
      </p:sp>
      <p:pic>
        <p:nvPicPr>
          <p:cNvPr id="10" name="Image 1" descr="/home/claude/mongo_ppt/icon_database_w.png"/>
          <p:cNvPicPr>
            <a:picLocks noChangeAspect="1"/>
          </p:cNvPicPr>
          <p:nvPr/>
        </p:nvPicPr>
        <p:blipFill>
          <a:blip r:embed="rId4"/>
          <a:stretch>
            <a:fillRect/>
          </a:stretch>
        </p:blipFill>
        <p:spPr>
          <a:xfrm>
            <a:off x="6615684" y="1815084"/>
            <a:ext cx="301752" cy="301752"/>
          </a:xfrm>
          <a:prstGeom prst="rect">
            <a:avLst/>
          </a:prstGeom>
        </p:spPr>
      </p:pic>
      <p:sp>
        <p:nvSpPr>
          <p:cNvPr id="11" name="Text 7"/>
          <p:cNvSpPr/>
          <p:nvPr/>
        </p:nvSpPr>
        <p:spPr>
          <a:xfrm>
            <a:off x="7223760" y="1691640"/>
            <a:ext cx="4114800" cy="548640"/>
          </a:xfrm>
          <a:prstGeom prst="rect">
            <a:avLst/>
          </a:prstGeom>
          <a:noFill/>
          <a:ln/>
        </p:spPr>
        <p:txBody>
          <a:bodyPr wrap="square" lIns="0" tIns="0" rIns="0" bIns="0" rtlCol="0" anchor="ctr"/>
          <a:lstStyle/>
          <a:p>
            <a:pPr marL="0" indent="0">
              <a:buNone/>
            </a:pPr>
            <a:r>
              <a:rPr lang="en-US" sz="1700" b="1" dirty="0">
                <a:solidFill>
                  <a:srgbClr val="023430"/>
                </a:solidFill>
                <a:latin typeface="Calibri" pitchFamily="34" charset="0"/>
                <a:ea typeface="Calibri" pitchFamily="34" charset="-122"/>
                <a:cs typeface="Calibri" pitchFamily="34" charset="-120"/>
              </a:rPr>
              <a:t>BSON</a:t>
            </a:r>
            <a:endParaRPr lang="en-US" sz="1700" dirty="0"/>
          </a:p>
        </p:txBody>
      </p:sp>
      <p:sp>
        <p:nvSpPr>
          <p:cNvPr id="12" name="Text 8"/>
          <p:cNvSpPr/>
          <p:nvPr/>
        </p:nvSpPr>
        <p:spPr>
          <a:xfrm>
            <a:off x="6492240" y="2468880"/>
            <a:ext cx="4846320" cy="3108960"/>
          </a:xfrm>
          <a:prstGeom prst="rect">
            <a:avLst/>
          </a:prstGeom>
          <a:noFill/>
          <a:ln/>
        </p:spPr>
        <p:txBody>
          <a:bodyPr wrap="square" lIns="0" tIns="0" rIns="0" bIns="0" rtlCol="0" anchor="ctr"/>
          <a:lstStyle/>
          <a:p>
            <a:pPr marL="0" indent="0">
              <a:lnSpc>
                <a:spcPct val="130000"/>
              </a:lnSpc>
              <a:buNone/>
            </a:pPr>
            <a:r>
              <a:rPr lang="en-US" sz="1230" dirty="0">
                <a:solidFill>
                  <a:srgbClr val="0B2B22"/>
                </a:solidFill>
                <a:latin typeface="Calibri" pitchFamily="34" charset="0"/>
                <a:ea typeface="Calibri" pitchFamily="34" charset="-122"/>
                <a:cs typeface="Calibri" pitchFamily="34" charset="-120"/>
              </a:rPr>
              <a:t>When you write a document, it looks just like plain JSON text. But that is not actually what gets saved to disk.</a:t>
            </a:r>
            <a:endParaRPr lang="en-US" sz="1230" dirty="0"/>
          </a:p>
          <a:p>
            <a:pPr marL="0" indent="0">
              <a:lnSpc>
                <a:spcPct val="130000"/>
              </a:lnSpc>
              <a:buNone/>
            </a:pPr>
            <a:endParaRPr lang="en-US" sz="1230" dirty="0"/>
          </a:p>
          <a:p>
            <a:pPr marL="0" indent="0">
              <a:lnSpc>
                <a:spcPct val="130000"/>
              </a:lnSpc>
              <a:buNone/>
            </a:pPr>
            <a:r>
              <a:rPr lang="en-US" sz="1230" dirty="0">
                <a:solidFill>
                  <a:srgbClr val="0B2B22"/>
                </a:solidFill>
                <a:latin typeface="Calibri" pitchFamily="34" charset="0"/>
                <a:ea typeface="Calibri" pitchFamily="34" charset="-122"/>
                <a:cs typeface="Calibri" pitchFamily="34" charset="-120"/>
              </a:rPr>
              <a:t>MongoDB converts it into a format called BSON, short for “Binary JSON.” BSON is a binary format — it is faster for the computer to read and write, and it can store a few extra data types that plain JSON cannot, like real date values.</a:t>
            </a:r>
            <a:endParaRPr lang="en-US" sz="1230" dirty="0"/>
          </a:p>
          <a:p>
            <a:pPr marL="0" indent="0">
              <a:lnSpc>
                <a:spcPct val="130000"/>
              </a:lnSpc>
              <a:buNone/>
            </a:pPr>
            <a:endParaRPr lang="en-US" sz="1230" dirty="0"/>
          </a:p>
          <a:p>
            <a:pPr marL="0" indent="0">
              <a:lnSpc>
                <a:spcPct val="130000"/>
              </a:lnSpc>
              <a:buNone/>
            </a:pPr>
            <a:r>
              <a:rPr lang="en-US" sz="1230" dirty="0">
                <a:solidFill>
                  <a:srgbClr val="0B2B22"/>
                </a:solidFill>
                <a:latin typeface="Calibri" pitchFamily="34" charset="0"/>
                <a:ea typeface="Calibri" pitchFamily="34" charset="-122"/>
                <a:cs typeface="Calibri" pitchFamily="34" charset="-120"/>
              </a:rPr>
              <a:t>You never have to do this conversion yourself. pymongo (the Python tool used in every lab to talk to MongoDB) does it for you automatically, every single time.</a:t>
            </a:r>
            <a:endParaRPr lang="en-US" sz="12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MongoDB vs. Normal Databases</a:t>
            </a:r>
            <a:endParaRPr lang="en-US" sz="2800" dirty="0"/>
          </a:p>
        </p:txBody>
      </p:sp>
      <p:sp>
        <p:nvSpPr>
          <p:cNvPr id="3" name="Shape 1"/>
          <p:cNvSpPr/>
          <p:nvPr/>
        </p:nvSpPr>
        <p:spPr>
          <a:xfrm>
            <a:off x="548640" y="1371600"/>
            <a:ext cx="5394960" cy="502920"/>
          </a:xfrm>
          <a:prstGeom prst="roundRect">
            <a:avLst>
              <a:gd name="adj" fmla="val 14545"/>
            </a:avLst>
          </a:prstGeom>
          <a:solidFill>
            <a:srgbClr val="023430"/>
          </a:solidFill>
          <a:ln/>
        </p:spPr>
      </p:sp>
      <p:sp>
        <p:nvSpPr>
          <p:cNvPr id="4" name="Text 2"/>
          <p:cNvSpPr/>
          <p:nvPr/>
        </p:nvSpPr>
        <p:spPr>
          <a:xfrm>
            <a:off x="548640" y="1371600"/>
            <a:ext cx="539496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Normal Database (SQL)</a:t>
            </a:r>
            <a:endParaRPr lang="en-US" sz="1500" dirty="0"/>
          </a:p>
        </p:txBody>
      </p:sp>
      <p:sp>
        <p:nvSpPr>
          <p:cNvPr id="5" name="Shape 3"/>
          <p:cNvSpPr/>
          <p:nvPr/>
        </p:nvSpPr>
        <p:spPr>
          <a:xfrm>
            <a:off x="6172200" y="1371600"/>
            <a:ext cx="5440680" cy="502920"/>
          </a:xfrm>
          <a:prstGeom prst="roundRect">
            <a:avLst>
              <a:gd name="adj" fmla="val 14545"/>
            </a:avLst>
          </a:prstGeom>
          <a:solidFill>
            <a:srgbClr val="00ED64"/>
          </a:solidFill>
          <a:ln/>
        </p:spPr>
      </p:sp>
      <p:sp>
        <p:nvSpPr>
          <p:cNvPr id="6" name="Text 4"/>
          <p:cNvSpPr/>
          <p:nvPr/>
        </p:nvSpPr>
        <p:spPr>
          <a:xfrm>
            <a:off x="6172200" y="1371600"/>
            <a:ext cx="5440680" cy="502920"/>
          </a:xfrm>
          <a:prstGeom prst="rect">
            <a:avLst/>
          </a:prstGeom>
          <a:noFill/>
          <a:ln/>
        </p:spPr>
        <p:txBody>
          <a:bodyPr wrap="square" lIns="0" tIns="0" rIns="0" bIns="0" rtlCol="0" anchor="ctr"/>
          <a:lstStyle/>
          <a:p>
            <a:pPr marL="0" indent="0" algn="ctr">
              <a:buNone/>
            </a:pPr>
            <a:r>
              <a:rPr lang="en-US" sz="1500" b="1" dirty="0">
                <a:solidFill>
                  <a:srgbClr val="023430"/>
                </a:solidFill>
                <a:latin typeface="Calibri" pitchFamily="34" charset="0"/>
                <a:ea typeface="Calibri" pitchFamily="34" charset="-122"/>
                <a:cs typeface="Calibri" pitchFamily="34" charset="-120"/>
              </a:rPr>
              <a:t>MongoDB (NoSQL)</a:t>
            </a:r>
            <a:endParaRPr lang="en-US" sz="1500" dirty="0"/>
          </a:p>
        </p:txBody>
      </p:sp>
      <p:sp>
        <p:nvSpPr>
          <p:cNvPr id="7" name="Shape 5"/>
          <p:cNvSpPr/>
          <p:nvPr/>
        </p:nvSpPr>
        <p:spPr>
          <a:xfrm>
            <a:off x="548640" y="2011680"/>
            <a:ext cx="11064240" cy="713232"/>
          </a:xfrm>
          <a:prstGeom prst="rect">
            <a:avLst/>
          </a:prstGeom>
          <a:solidFill>
            <a:srgbClr val="FFFFFF"/>
          </a:solidFill>
          <a:ln/>
        </p:spPr>
      </p:sp>
      <p:sp>
        <p:nvSpPr>
          <p:cNvPr id="8" name="Text 6"/>
          <p:cNvSpPr/>
          <p:nvPr/>
        </p:nvSpPr>
        <p:spPr>
          <a:xfrm>
            <a:off x="685800" y="2011680"/>
            <a:ext cx="2286000" cy="713232"/>
          </a:xfrm>
          <a:prstGeom prst="rect">
            <a:avLst/>
          </a:prstGeom>
          <a:noFill/>
          <a:ln/>
        </p:spPr>
        <p:txBody>
          <a:bodyPr wrap="square" lIns="0" tIns="0" rIns="0" bIns="0" rtlCol="0" anchor="ctr"/>
          <a:lstStyle/>
          <a:p>
            <a:pPr marL="0" indent="0">
              <a:buNone/>
            </a:pPr>
            <a:r>
              <a:rPr lang="en-US" sz="1250" b="1" dirty="0">
                <a:solidFill>
                  <a:srgbClr val="4C6D62"/>
                </a:solidFill>
                <a:latin typeface="Calibri" pitchFamily="34" charset="0"/>
                <a:ea typeface="Calibri" pitchFamily="34" charset="-122"/>
                <a:cs typeface="Calibri" pitchFamily="34" charset="-120"/>
              </a:rPr>
              <a:t>One piece of data</a:t>
            </a:r>
            <a:endParaRPr lang="en-US" sz="1250" dirty="0"/>
          </a:p>
        </p:txBody>
      </p:sp>
      <p:sp>
        <p:nvSpPr>
          <p:cNvPr id="9" name="Text 7"/>
          <p:cNvSpPr/>
          <p:nvPr/>
        </p:nvSpPr>
        <p:spPr>
          <a:xfrm>
            <a:off x="3063240" y="2011680"/>
            <a:ext cx="2834640" cy="713232"/>
          </a:xfrm>
          <a:prstGeom prst="rect">
            <a:avLst/>
          </a:prstGeom>
          <a:noFill/>
          <a:ln/>
        </p:spPr>
        <p:txBody>
          <a:bodyPr wrap="square" lIns="0" tIns="0" rIns="0" bIns="0" rtlCol="0" anchor="ctr"/>
          <a:lstStyle/>
          <a:p>
            <a:pPr marL="0" indent="0">
              <a:buNone/>
            </a:pPr>
            <a:r>
              <a:rPr lang="en-US" sz="1300" dirty="0">
                <a:solidFill>
                  <a:srgbClr val="0B2B22"/>
                </a:solidFill>
                <a:latin typeface="Calibri" pitchFamily="34" charset="0"/>
                <a:ea typeface="Calibri" pitchFamily="34" charset="-122"/>
                <a:cs typeface="Calibri" pitchFamily="34" charset="-120"/>
              </a:rPr>
              <a:t>A row in a table</a:t>
            </a:r>
            <a:endParaRPr lang="en-US" sz="1300" dirty="0"/>
          </a:p>
        </p:txBody>
      </p:sp>
      <p:sp>
        <p:nvSpPr>
          <p:cNvPr id="10" name="Text 8"/>
          <p:cNvSpPr/>
          <p:nvPr/>
        </p:nvSpPr>
        <p:spPr>
          <a:xfrm>
            <a:off x="6309360" y="2011680"/>
            <a:ext cx="5212080" cy="713232"/>
          </a:xfrm>
          <a:prstGeom prst="rect">
            <a:avLst/>
          </a:prstGeom>
          <a:noFill/>
          <a:ln/>
        </p:spPr>
        <p:txBody>
          <a:bodyPr wrap="square" lIns="0" tIns="0" rIns="0" bIns="0" rtlCol="0" anchor="ctr"/>
          <a:lstStyle/>
          <a:p>
            <a:pPr marL="0" indent="0">
              <a:buNone/>
            </a:pPr>
            <a:r>
              <a:rPr lang="en-US" sz="1300" b="1" dirty="0">
                <a:solidFill>
                  <a:srgbClr val="023430"/>
                </a:solidFill>
                <a:latin typeface="Calibri" pitchFamily="34" charset="0"/>
                <a:ea typeface="Calibri" pitchFamily="34" charset="-122"/>
                <a:cs typeface="Calibri" pitchFamily="34" charset="-120"/>
              </a:rPr>
              <a:t>A document</a:t>
            </a:r>
            <a:endParaRPr lang="en-US" sz="1300" dirty="0"/>
          </a:p>
        </p:txBody>
      </p:sp>
      <p:sp>
        <p:nvSpPr>
          <p:cNvPr id="11" name="Shape 9"/>
          <p:cNvSpPr/>
          <p:nvPr/>
        </p:nvSpPr>
        <p:spPr>
          <a:xfrm>
            <a:off x="548640" y="2724912"/>
            <a:ext cx="11064240" cy="713232"/>
          </a:xfrm>
          <a:prstGeom prst="rect">
            <a:avLst/>
          </a:prstGeom>
          <a:solidFill>
            <a:srgbClr val="EAF3EE"/>
          </a:solidFill>
          <a:ln/>
        </p:spPr>
      </p:sp>
      <p:sp>
        <p:nvSpPr>
          <p:cNvPr id="12" name="Text 10"/>
          <p:cNvSpPr/>
          <p:nvPr/>
        </p:nvSpPr>
        <p:spPr>
          <a:xfrm>
            <a:off x="685800" y="2724912"/>
            <a:ext cx="2286000" cy="713232"/>
          </a:xfrm>
          <a:prstGeom prst="rect">
            <a:avLst/>
          </a:prstGeom>
          <a:noFill/>
          <a:ln/>
        </p:spPr>
        <p:txBody>
          <a:bodyPr wrap="square" lIns="0" tIns="0" rIns="0" bIns="0" rtlCol="0" anchor="ctr"/>
          <a:lstStyle/>
          <a:p>
            <a:pPr marL="0" indent="0">
              <a:buNone/>
            </a:pPr>
            <a:r>
              <a:rPr lang="en-US" sz="1250" b="1" dirty="0">
                <a:solidFill>
                  <a:srgbClr val="4C6D62"/>
                </a:solidFill>
                <a:latin typeface="Calibri" pitchFamily="34" charset="0"/>
                <a:ea typeface="Calibri" pitchFamily="34" charset="-122"/>
                <a:cs typeface="Calibri" pitchFamily="34" charset="-120"/>
              </a:rPr>
              <a:t>Rules for data shape</a:t>
            </a:r>
            <a:endParaRPr lang="en-US" sz="1250" dirty="0"/>
          </a:p>
        </p:txBody>
      </p:sp>
      <p:sp>
        <p:nvSpPr>
          <p:cNvPr id="13" name="Text 11"/>
          <p:cNvSpPr/>
          <p:nvPr/>
        </p:nvSpPr>
        <p:spPr>
          <a:xfrm>
            <a:off x="3063240" y="2724912"/>
            <a:ext cx="2834640" cy="713232"/>
          </a:xfrm>
          <a:prstGeom prst="rect">
            <a:avLst/>
          </a:prstGeom>
          <a:noFill/>
          <a:ln/>
        </p:spPr>
        <p:txBody>
          <a:bodyPr wrap="square" lIns="0" tIns="0" rIns="0" bIns="0" rtlCol="0" anchor="ctr"/>
          <a:lstStyle/>
          <a:p>
            <a:pPr marL="0" indent="0">
              <a:buNone/>
            </a:pPr>
            <a:r>
              <a:rPr lang="en-US" sz="1300" dirty="0">
                <a:solidFill>
                  <a:srgbClr val="0B2B22"/>
                </a:solidFill>
                <a:latin typeface="Calibri" pitchFamily="34" charset="0"/>
                <a:ea typeface="Calibri" pitchFamily="34" charset="-122"/>
                <a:cs typeface="Calibri" pitchFamily="34" charset="-120"/>
              </a:rPr>
              <a:t>Fixed — every row is the same</a:t>
            </a:r>
            <a:endParaRPr lang="en-US" sz="1300" dirty="0"/>
          </a:p>
        </p:txBody>
      </p:sp>
      <p:sp>
        <p:nvSpPr>
          <p:cNvPr id="14" name="Text 12"/>
          <p:cNvSpPr/>
          <p:nvPr/>
        </p:nvSpPr>
        <p:spPr>
          <a:xfrm>
            <a:off x="6309360" y="2724912"/>
            <a:ext cx="5212080" cy="713232"/>
          </a:xfrm>
          <a:prstGeom prst="rect">
            <a:avLst/>
          </a:prstGeom>
          <a:noFill/>
          <a:ln/>
        </p:spPr>
        <p:txBody>
          <a:bodyPr wrap="square" lIns="0" tIns="0" rIns="0" bIns="0" rtlCol="0" anchor="ctr"/>
          <a:lstStyle/>
          <a:p>
            <a:pPr marL="0" indent="0">
              <a:buNone/>
            </a:pPr>
            <a:r>
              <a:rPr lang="en-US" sz="1300" b="1" dirty="0">
                <a:solidFill>
                  <a:srgbClr val="023430"/>
                </a:solidFill>
                <a:latin typeface="Calibri" pitchFamily="34" charset="0"/>
                <a:ea typeface="Calibri" pitchFamily="34" charset="-122"/>
                <a:cs typeface="Calibri" pitchFamily="34" charset="-120"/>
              </a:rPr>
              <a:t>Flexible — each one can differ</a:t>
            </a:r>
            <a:endParaRPr lang="en-US" sz="1300" dirty="0"/>
          </a:p>
        </p:txBody>
      </p:sp>
      <p:sp>
        <p:nvSpPr>
          <p:cNvPr id="15" name="Shape 13"/>
          <p:cNvSpPr/>
          <p:nvPr/>
        </p:nvSpPr>
        <p:spPr>
          <a:xfrm>
            <a:off x="548640" y="3438144"/>
            <a:ext cx="11064240" cy="713232"/>
          </a:xfrm>
          <a:prstGeom prst="rect">
            <a:avLst/>
          </a:prstGeom>
          <a:solidFill>
            <a:srgbClr val="FFFFFF"/>
          </a:solidFill>
          <a:ln/>
        </p:spPr>
      </p:sp>
      <p:sp>
        <p:nvSpPr>
          <p:cNvPr id="16" name="Text 14"/>
          <p:cNvSpPr/>
          <p:nvPr/>
        </p:nvSpPr>
        <p:spPr>
          <a:xfrm>
            <a:off x="685800" y="3438144"/>
            <a:ext cx="2286000" cy="713232"/>
          </a:xfrm>
          <a:prstGeom prst="rect">
            <a:avLst/>
          </a:prstGeom>
          <a:noFill/>
          <a:ln/>
        </p:spPr>
        <p:txBody>
          <a:bodyPr wrap="square" lIns="0" tIns="0" rIns="0" bIns="0" rtlCol="0" anchor="ctr"/>
          <a:lstStyle/>
          <a:p>
            <a:pPr marL="0" indent="0">
              <a:buNone/>
            </a:pPr>
            <a:r>
              <a:rPr lang="en-US" sz="1250" b="1" dirty="0">
                <a:solidFill>
                  <a:srgbClr val="4C6D62"/>
                </a:solidFill>
                <a:latin typeface="Calibri" pitchFamily="34" charset="0"/>
                <a:ea typeface="Calibri" pitchFamily="34" charset="-122"/>
                <a:cs typeface="Calibri" pitchFamily="34" charset="-120"/>
              </a:rPr>
              <a:t>Joining data</a:t>
            </a:r>
            <a:endParaRPr lang="en-US" sz="1250" dirty="0"/>
          </a:p>
        </p:txBody>
      </p:sp>
      <p:sp>
        <p:nvSpPr>
          <p:cNvPr id="17" name="Text 15"/>
          <p:cNvSpPr/>
          <p:nvPr/>
        </p:nvSpPr>
        <p:spPr>
          <a:xfrm>
            <a:off x="3063240" y="3438144"/>
            <a:ext cx="2834640" cy="713232"/>
          </a:xfrm>
          <a:prstGeom prst="rect">
            <a:avLst/>
          </a:prstGeom>
          <a:noFill/>
          <a:ln/>
        </p:spPr>
        <p:txBody>
          <a:bodyPr wrap="square" lIns="0" tIns="0" rIns="0" bIns="0" rtlCol="0" anchor="ctr"/>
          <a:lstStyle/>
          <a:p>
            <a:pPr marL="0" indent="0">
              <a:buNone/>
            </a:pPr>
            <a:r>
              <a:rPr lang="en-US" sz="1300" dirty="0">
                <a:solidFill>
                  <a:srgbClr val="0B2B22"/>
                </a:solidFill>
                <a:latin typeface="Calibri" pitchFamily="34" charset="0"/>
                <a:ea typeface="Calibri" pitchFamily="34" charset="-122"/>
                <a:cs typeface="Calibri" pitchFamily="34" charset="-120"/>
              </a:rPr>
              <a:t>Uses joins between tables</a:t>
            </a:r>
            <a:endParaRPr lang="en-US" sz="1300" dirty="0"/>
          </a:p>
        </p:txBody>
      </p:sp>
      <p:sp>
        <p:nvSpPr>
          <p:cNvPr id="18" name="Text 16"/>
          <p:cNvSpPr/>
          <p:nvPr/>
        </p:nvSpPr>
        <p:spPr>
          <a:xfrm>
            <a:off x="6309360" y="3438144"/>
            <a:ext cx="5212080" cy="713232"/>
          </a:xfrm>
          <a:prstGeom prst="rect">
            <a:avLst/>
          </a:prstGeom>
          <a:noFill/>
          <a:ln/>
        </p:spPr>
        <p:txBody>
          <a:bodyPr wrap="square" lIns="0" tIns="0" rIns="0" bIns="0" rtlCol="0" anchor="ctr"/>
          <a:lstStyle/>
          <a:p>
            <a:pPr marL="0" indent="0">
              <a:buNone/>
            </a:pPr>
            <a:r>
              <a:rPr lang="en-US" sz="1300" b="1" dirty="0">
                <a:solidFill>
                  <a:srgbClr val="023430"/>
                </a:solidFill>
                <a:latin typeface="Calibri" pitchFamily="34" charset="0"/>
                <a:ea typeface="Calibri" pitchFamily="34" charset="-122"/>
                <a:cs typeface="Calibri" pitchFamily="34" charset="-120"/>
              </a:rPr>
              <a:t>Puts data inside, or links it</a:t>
            </a:r>
            <a:endParaRPr lang="en-US" sz="1300" dirty="0"/>
          </a:p>
        </p:txBody>
      </p:sp>
      <p:sp>
        <p:nvSpPr>
          <p:cNvPr id="19" name="Shape 17"/>
          <p:cNvSpPr/>
          <p:nvPr/>
        </p:nvSpPr>
        <p:spPr>
          <a:xfrm>
            <a:off x="548640" y="4151376"/>
            <a:ext cx="11064240" cy="713232"/>
          </a:xfrm>
          <a:prstGeom prst="rect">
            <a:avLst/>
          </a:prstGeom>
          <a:solidFill>
            <a:srgbClr val="EAF3EE"/>
          </a:solidFill>
          <a:ln/>
        </p:spPr>
      </p:sp>
      <p:sp>
        <p:nvSpPr>
          <p:cNvPr id="20" name="Text 18"/>
          <p:cNvSpPr/>
          <p:nvPr/>
        </p:nvSpPr>
        <p:spPr>
          <a:xfrm>
            <a:off x="685800" y="4151376"/>
            <a:ext cx="2286000" cy="713232"/>
          </a:xfrm>
          <a:prstGeom prst="rect">
            <a:avLst/>
          </a:prstGeom>
          <a:noFill/>
          <a:ln/>
        </p:spPr>
        <p:txBody>
          <a:bodyPr wrap="square" lIns="0" tIns="0" rIns="0" bIns="0" rtlCol="0" anchor="ctr"/>
          <a:lstStyle/>
          <a:p>
            <a:pPr marL="0" indent="0">
              <a:buNone/>
            </a:pPr>
            <a:r>
              <a:rPr lang="en-US" sz="1250" b="1" dirty="0">
                <a:solidFill>
                  <a:srgbClr val="4C6D62"/>
                </a:solidFill>
                <a:latin typeface="Calibri" pitchFamily="34" charset="0"/>
                <a:ea typeface="Calibri" pitchFamily="34" charset="-122"/>
                <a:cs typeface="Calibri" pitchFamily="34" charset="-120"/>
              </a:rPr>
              <a:t>How you ask for data</a:t>
            </a:r>
            <a:endParaRPr lang="en-US" sz="1250" dirty="0"/>
          </a:p>
        </p:txBody>
      </p:sp>
      <p:sp>
        <p:nvSpPr>
          <p:cNvPr id="21" name="Text 19"/>
          <p:cNvSpPr/>
          <p:nvPr/>
        </p:nvSpPr>
        <p:spPr>
          <a:xfrm>
            <a:off x="3063240" y="4151376"/>
            <a:ext cx="2834640" cy="713232"/>
          </a:xfrm>
          <a:prstGeom prst="rect">
            <a:avLst/>
          </a:prstGeom>
          <a:noFill/>
          <a:ln/>
        </p:spPr>
        <p:txBody>
          <a:bodyPr wrap="square" lIns="0" tIns="0" rIns="0" bIns="0" rtlCol="0" anchor="ctr"/>
          <a:lstStyle/>
          <a:p>
            <a:pPr marL="0" indent="0">
              <a:buNone/>
            </a:pPr>
            <a:r>
              <a:rPr lang="en-US" sz="1300" dirty="0">
                <a:solidFill>
                  <a:srgbClr val="0B2B22"/>
                </a:solidFill>
                <a:latin typeface="Calibri" pitchFamily="34" charset="0"/>
                <a:ea typeface="Calibri" pitchFamily="34" charset="-122"/>
                <a:cs typeface="Calibri" pitchFamily="34" charset="-120"/>
              </a:rPr>
              <a:t>SQL</a:t>
            </a:r>
            <a:endParaRPr lang="en-US" sz="1300" dirty="0"/>
          </a:p>
        </p:txBody>
      </p:sp>
      <p:sp>
        <p:nvSpPr>
          <p:cNvPr id="22" name="Text 20"/>
          <p:cNvSpPr/>
          <p:nvPr/>
        </p:nvSpPr>
        <p:spPr>
          <a:xfrm>
            <a:off x="6309360" y="4151376"/>
            <a:ext cx="5212080" cy="713232"/>
          </a:xfrm>
          <a:prstGeom prst="rect">
            <a:avLst/>
          </a:prstGeom>
          <a:noFill/>
          <a:ln/>
        </p:spPr>
        <p:txBody>
          <a:bodyPr wrap="square" lIns="0" tIns="0" rIns="0" bIns="0" rtlCol="0" anchor="ctr"/>
          <a:lstStyle/>
          <a:p>
            <a:pPr marL="0" indent="0">
              <a:buNone/>
            </a:pPr>
            <a:r>
              <a:rPr lang="en-US" sz="1300" b="1" dirty="0">
                <a:solidFill>
                  <a:srgbClr val="023430"/>
                </a:solidFill>
                <a:latin typeface="Calibri" pitchFamily="34" charset="0"/>
                <a:ea typeface="Calibri" pitchFamily="34" charset="-122"/>
                <a:cs typeface="Calibri" pitchFamily="34" charset="-120"/>
              </a:rPr>
              <a:t>Simple, JSON-like queries</a:t>
            </a:r>
            <a:endParaRPr lang="en-US" sz="1300" dirty="0"/>
          </a:p>
        </p:txBody>
      </p:sp>
      <p:sp>
        <p:nvSpPr>
          <p:cNvPr id="23" name="Shape 21"/>
          <p:cNvSpPr/>
          <p:nvPr/>
        </p:nvSpPr>
        <p:spPr>
          <a:xfrm>
            <a:off x="548640" y="4864608"/>
            <a:ext cx="11064240" cy="713232"/>
          </a:xfrm>
          <a:prstGeom prst="rect">
            <a:avLst/>
          </a:prstGeom>
          <a:solidFill>
            <a:srgbClr val="FFFFFF"/>
          </a:solidFill>
          <a:ln/>
        </p:spPr>
      </p:sp>
      <p:sp>
        <p:nvSpPr>
          <p:cNvPr id="24" name="Text 22"/>
          <p:cNvSpPr/>
          <p:nvPr/>
        </p:nvSpPr>
        <p:spPr>
          <a:xfrm>
            <a:off x="685800" y="4864608"/>
            <a:ext cx="2286000" cy="713232"/>
          </a:xfrm>
          <a:prstGeom prst="rect">
            <a:avLst/>
          </a:prstGeom>
          <a:noFill/>
          <a:ln/>
        </p:spPr>
        <p:txBody>
          <a:bodyPr wrap="square" lIns="0" tIns="0" rIns="0" bIns="0" rtlCol="0" anchor="ctr"/>
          <a:lstStyle/>
          <a:p>
            <a:pPr marL="0" indent="0">
              <a:buNone/>
            </a:pPr>
            <a:r>
              <a:rPr lang="en-US" sz="1250" b="1" dirty="0">
                <a:solidFill>
                  <a:srgbClr val="4C6D62"/>
                </a:solidFill>
                <a:latin typeface="Calibri" pitchFamily="34" charset="0"/>
                <a:ea typeface="Calibri" pitchFamily="34" charset="-122"/>
                <a:cs typeface="Calibri" pitchFamily="34" charset="-120"/>
              </a:rPr>
              <a:t>Growing bigger</a:t>
            </a:r>
            <a:endParaRPr lang="en-US" sz="1250" dirty="0"/>
          </a:p>
        </p:txBody>
      </p:sp>
      <p:sp>
        <p:nvSpPr>
          <p:cNvPr id="25" name="Text 23"/>
          <p:cNvSpPr/>
          <p:nvPr/>
        </p:nvSpPr>
        <p:spPr>
          <a:xfrm>
            <a:off x="3063240" y="4864608"/>
            <a:ext cx="2834640" cy="713232"/>
          </a:xfrm>
          <a:prstGeom prst="rect">
            <a:avLst/>
          </a:prstGeom>
          <a:noFill/>
          <a:ln/>
        </p:spPr>
        <p:txBody>
          <a:bodyPr wrap="square" lIns="0" tIns="0" rIns="0" bIns="0" rtlCol="0" anchor="ctr"/>
          <a:lstStyle/>
          <a:p>
            <a:pPr marL="0" indent="0">
              <a:buNone/>
            </a:pPr>
            <a:r>
              <a:rPr lang="en-US" sz="1300" dirty="0">
                <a:solidFill>
                  <a:srgbClr val="0B2B22"/>
                </a:solidFill>
                <a:latin typeface="Calibri" pitchFamily="34" charset="0"/>
                <a:ea typeface="Calibri" pitchFamily="34" charset="-122"/>
                <a:cs typeface="Calibri" pitchFamily="34" charset="-120"/>
              </a:rPr>
              <a:t>Needs a bigger single server</a:t>
            </a:r>
            <a:endParaRPr lang="en-US" sz="1300" dirty="0"/>
          </a:p>
        </p:txBody>
      </p:sp>
      <p:sp>
        <p:nvSpPr>
          <p:cNvPr id="26" name="Text 24"/>
          <p:cNvSpPr/>
          <p:nvPr/>
        </p:nvSpPr>
        <p:spPr>
          <a:xfrm>
            <a:off x="6309360" y="4864608"/>
            <a:ext cx="5212080" cy="713232"/>
          </a:xfrm>
          <a:prstGeom prst="rect">
            <a:avLst/>
          </a:prstGeom>
          <a:noFill/>
          <a:ln/>
        </p:spPr>
        <p:txBody>
          <a:bodyPr wrap="square" lIns="0" tIns="0" rIns="0" bIns="0" rtlCol="0" anchor="ctr"/>
          <a:lstStyle/>
          <a:p>
            <a:pPr marL="0" indent="0">
              <a:buNone/>
            </a:pPr>
            <a:r>
              <a:rPr lang="en-US" sz="1300" b="1" dirty="0">
                <a:solidFill>
                  <a:srgbClr val="023430"/>
                </a:solidFill>
                <a:latin typeface="Calibri" pitchFamily="34" charset="0"/>
                <a:ea typeface="Calibri" pitchFamily="34" charset="-122"/>
                <a:cs typeface="Calibri" pitchFamily="34" charset="-120"/>
              </a:rPr>
              <a:t>Can spread across many servers</a:t>
            </a:r>
            <a:endParaRPr lang="en-US" sz="1300" dirty="0"/>
          </a:p>
        </p:txBody>
      </p:sp>
      <p:sp>
        <p:nvSpPr>
          <p:cNvPr id="27" name="Text 25"/>
          <p:cNvSpPr/>
          <p:nvPr/>
        </p:nvSpPr>
        <p:spPr>
          <a:xfrm>
            <a:off x="548640" y="5715000"/>
            <a:ext cx="11064240" cy="365760"/>
          </a:xfrm>
          <a:prstGeom prst="rect">
            <a:avLst/>
          </a:prstGeom>
          <a:noFill/>
          <a:ln/>
        </p:spPr>
        <p:txBody>
          <a:bodyPr wrap="square" lIns="0" tIns="0" rIns="0" bIns="0" rtlCol="0" anchor="ctr"/>
          <a:lstStyle/>
          <a:p>
            <a:pPr marL="0" indent="0">
              <a:buNone/>
            </a:pPr>
            <a:r>
              <a:rPr lang="en-US" sz="1150" i="1" dirty="0">
                <a:solidFill>
                  <a:srgbClr val="4C6D62"/>
                </a:solidFill>
                <a:latin typeface="Calibri" pitchFamily="34" charset="0"/>
                <a:ea typeface="Calibri" pitchFamily="34" charset="-122"/>
                <a:cs typeface="Calibri" pitchFamily="34" charset="-120"/>
              </a:rPr>
              <a:t>Note: SQL means “Structured Query Language” — the language normal databases use to ask for data.</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Embedding vs. Referencing</a:t>
            </a:r>
            <a:endParaRPr lang="en-US" sz="2800" dirty="0"/>
          </a:p>
        </p:txBody>
      </p:sp>
      <p:sp>
        <p:nvSpPr>
          <p:cNvPr id="3" name="Text 1"/>
          <p:cNvSpPr/>
          <p:nvPr/>
        </p:nvSpPr>
        <p:spPr>
          <a:xfrm>
            <a:off x="548640" y="1069848"/>
            <a:ext cx="10881360" cy="411480"/>
          </a:xfrm>
          <a:prstGeom prst="rect">
            <a:avLst/>
          </a:prstGeom>
          <a:noFill/>
          <a:ln/>
        </p:spPr>
        <p:txBody>
          <a:bodyPr wrap="square" lIns="0" tIns="0" rIns="0" bIns="0" rtlCol="0" anchor="ctr"/>
          <a:lstStyle/>
          <a:p>
            <a:pPr marL="0" indent="0">
              <a:buNone/>
            </a:pPr>
            <a:r>
              <a:rPr lang="en-US" sz="1350" dirty="0">
                <a:solidFill>
                  <a:srgbClr val="4C6D62"/>
                </a:solidFill>
                <a:latin typeface="Calibri" pitchFamily="34" charset="0"/>
                <a:ea typeface="Calibri" pitchFamily="34" charset="-122"/>
                <a:cs typeface="Calibri" pitchFamily="34" charset="-120"/>
              </a:rPr>
              <a:t>Because documents can hold nested data, MongoDB gives you a choice SQL never asks you to make.</a:t>
            </a:r>
            <a:endParaRPr lang="en-US" sz="1350" dirty="0"/>
          </a:p>
        </p:txBody>
      </p:sp>
      <p:sp>
        <p:nvSpPr>
          <p:cNvPr id="4" name="Shape 2"/>
          <p:cNvSpPr/>
          <p:nvPr/>
        </p:nvSpPr>
        <p:spPr>
          <a:xfrm>
            <a:off x="548640" y="1417320"/>
            <a:ext cx="5394960" cy="4160520"/>
          </a:xfrm>
          <a:prstGeom prst="roundRect">
            <a:avLst>
              <a:gd name="adj" fmla="val 2637"/>
            </a:avLst>
          </a:prstGeom>
          <a:solidFill>
            <a:srgbClr val="FFFFFF"/>
          </a:solidFill>
          <a:ln/>
          <a:effectLst>
            <a:outerShdw blurRad="101600" dist="38100" dir="5400000" algn="bl" rotWithShape="0">
              <a:srgbClr val="0B2B22">
                <a:alpha val="18000"/>
              </a:srgbClr>
            </a:outerShdw>
          </a:effectLst>
        </p:spPr>
      </p:sp>
      <p:sp>
        <p:nvSpPr>
          <p:cNvPr id="5" name="Shape 3"/>
          <p:cNvSpPr/>
          <p:nvPr/>
        </p:nvSpPr>
        <p:spPr>
          <a:xfrm>
            <a:off x="868680" y="1737360"/>
            <a:ext cx="548640" cy="548640"/>
          </a:xfrm>
          <a:prstGeom prst="ellipse">
            <a:avLst/>
          </a:prstGeom>
          <a:solidFill>
            <a:srgbClr val="023430"/>
          </a:solidFill>
          <a:ln/>
        </p:spPr>
      </p:sp>
      <p:pic>
        <p:nvPicPr>
          <p:cNvPr id="6" name="Image 0" descr="/home/claude/mongo_ppt/icon_box_w.png"/>
          <p:cNvPicPr>
            <a:picLocks noChangeAspect="1"/>
          </p:cNvPicPr>
          <p:nvPr/>
        </p:nvPicPr>
        <p:blipFill>
          <a:blip r:embed="rId3"/>
          <a:stretch>
            <a:fillRect/>
          </a:stretch>
        </p:blipFill>
        <p:spPr>
          <a:xfrm>
            <a:off x="992124" y="1860804"/>
            <a:ext cx="301752" cy="301752"/>
          </a:xfrm>
          <a:prstGeom prst="rect">
            <a:avLst/>
          </a:prstGeom>
        </p:spPr>
      </p:pic>
      <p:sp>
        <p:nvSpPr>
          <p:cNvPr id="7" name="Text 4"/>
          <p:cNvSpPr/>
          <p:nvPr/>
        </p:nvSpPr>
        <p:spPr>
          <a:xfrm>
            <a:off x="1600200" y="1737360"/>
            <a:ext cx="4114800" cy="548640"/>
          </a:xfrm>
          <a:prstGeom prst="rect">
            <a:avLst/>
          </a:prstGeom>
          <a:noFill/>
          <a:ln/>
        </p:spPr>
        <p:txBody>
          <a:bodyPr wrap="square" lIns="0" tIns="0" rIns="0" bIns="0" rtlCol="0" anchor="ctr"/>
          <a:lstStyle/>
          <a:p>
            <a:pPr marL="0" indent="0">
              <a:buNone/>
            </a:pPr>
            <a:r>
              <a:rPr lang="en-US" sz="1700" b="1" dirty="0">
                <a:solidFill>
                  <a:srgbClr val="023430"/>
                </a:solidFill>
                <a:latin typeface="Calibri" pitchFamily="34" charset="0"/>
                <a:ea typeface="Calibri" pitchFamily="34" charset="-122"/>
                <a:cs typeface="Calibri" pitchFamily="34" charset="-120"/>
              </a:rPr>
              <a:t>Embedding</a:t>
            </a:r>
            <a:endParaRPr lang="en-US" sz="1700" dirty="0"/>
          </a:p>
        </p:txBody>
      </p:sp>
      <p:sp>
        <p:nvSpPr>
          <p:cNvPr id="8" name="Text 5"/>
          <p:cNvSpPr/>
          <p:nvPr/>
        </p:nvSpPr>
        <p:spPr>
          <a:xfrm>
            <a:off x="868680" y="2514600"/>
            <a:ext cx="4800600" cy="2926080"/>
          </a:xfrm>
          <a:prstGeom prst="rect">
            <a:avLst/>
          </a:prstGeom>
          <a:noFill/>
          <a:ln/>
        </p:spPr>
        <p:txBody>
          <a:bodyPr wrap="square" lIns="0" tIns="0" rIns="0" bIns="0" rtlCol="0" anchor="ctr"/>
          <a:lstStyle/>
          <a:p>
            <a:pPr marL="0" indent="0">
              <a:lnSpc>
                <a:spcPct val="135000"/>
              </a:lnSpc>
              <a:buNone/>
            </a:pPr>
            <a:r>
              <a:rPr lang="en-US" sz="1300" dirty="0">
                <a:solidFill>
                  <a:srgbClr val="0B2B22"/>
                </a:solidFill>
                <a:latin typeface="Calibri" pitchFamily="34" charset="0"/>
                <a:ea typeface="Calibri" pitchFamily="34" charset="-122"/>
                <a:cs typeface="Calibri" pitchFamily="34" charset="-120"/>
              </a:rPr>
              <a:t>Put the related data INSIDE the same document.</a:t>
            </a:r>
            <a:endParaRPr lang="en-US" sz="1300" dirty="0"/>
          </a:p>
          <a:p>
            <a:pPr marL="0" indent="0">
              <a:lnSpc>
                <a:spcPct val="135000"/>
              </a:lnSpc>
              <a:buNone/>
            </a:pPr>
            <a:endParaRPr lang="en-US" sz="1300" dirty="0"/>
          </a:p>
          <a:p>
            <a:pPr marL="0" indent="0">
              <a:lnSpc>
                <a:spcPct val="135000"/>
              </a:lnSpc>
              <a:buNone/>
            </a:pPr>
            <a:r>
              <a:rPr lang="en-US" sz="1300" dirty="0">
                <a:solidFill>
                  <a:srgbClr val="0B2B22"/>
                </a:solidFill>
                <a:latin typeface="Calibri" pitchFamily="34" charset="0"/>
                <a:ea typeface="Calibri" pitchFamily="34" charset="-122"/>
                <a:cs typeface="Calibri" pitchFamily="34" charset="-120"/>
              </a:rPr>
              <a:t>Best for data that is always read together, and that will not keep growing forever.</a:t>
            </a:r>
            <a:endParaRPr lang="en-US" sz="1300" dirty="0"/>
          </a:p>
          <a:p>
            <a:pPr marL="0" indent="0">
              <a:lnSpc>
                <a:spcPct val="135000"/>
              </a:lnSpc>
              <a:buNone/>
            </a:pPr>
            <a:endParaRPr lang="en-US" sz="1300" dirty="0"/>
          </a:p>
          <a:p>
            <a:pPr marL="0" indent="0">
              <a:lnSpc>
                <a:spcPct val="135000"/>
              </a:lnSpc>
              <a:buNone/>
            </a:pPr>
            <a:r>
              <a:rPr lang="en-US" sz="1300" dirty="0">
                <a:solidFill>
                  <a:srgbClr val="0B2B22"/>
                </a:solidFill>
                <a:latin typeface="Calibri" pitchFamily="34" charset="0"/>
                <a:ea typeface="Calibri" pitchFamily="34" charset="-122"/>
                <a:cs typeface="Calibri" pitchFamily="34" charset="-120"/>
              </a:rPr>
              <a:t>Example: an order, and its shipping address. You always need them together, and one order never gains a thousand addresses.</a:t>
            </a:r>
            <a:endParaRPr lang="en-US" sz="1300" dirty="0"/>
          </a:p>
        </p:txBody>
      </p:sp>
      <p:sp>
        <p:nvSpPr>
          <p:cNvPr id="9" name="Shape 6"/>
          <p:cNvSpPr/>
          <p:nvPr/>
        </p:nvSpPr>
        <p:spPr>
          <a:xfrm>
            <a:off x="6172200" y="1417320"/>
            <a:ext cx="5440680" cy="4160520"/>
          </a:xfrm>
          <a:prstGeom prst="roundRect">
            <a:avLst>
              <a:gd name="adj" fmla="val 2637"/>
            </a:avLst>
          </a:prstGeom>
          <a:solidFill>
            <a:srgbClr val="FFFFFF"/>
          </a:solidFill>
          <a:ln/>
          <a:effectLst>
            <a:outerShdw blurRad="101600" dist="38100" dir="5400000" algn="bl" rotWithShape="0">
              <a:srgbClr val="0B2B22">
                <a:alpha val="18000"/>
              </a:srgbClr>
            </a:outerShdw>
          </a:effectLst>
        </p:spPr>
      </p:sp>
      <p:sp>
        <p:nvSpPr>
          <p:cNvPr id="10" name="Shape 7"/>
          <p:cNvSpPr/>
          <p:nvPr/>
        </p:nvSpPr>
        <p:spPr>
          <a:xfrm>
            <a:off x="6492240" y="1737360"/>
            <a:ext cx="548640" cy="548640"/>
          </a:xfrm>
          <a:prstGeom prst="ellipse">
            <a:avLst/>
          </a:prstGeom>
          <a:solidFill>
            <a:srgbClr val="023430"/>
          </a:solidFill>
          <a:ln/>
        </p:spPr>
      </p:sp>
      <p:pic>
        <p:nvPicPr>
          <p:cNvPr id="11" name="Image 1" descr="/home/claude/mongo_ppt/icon_link_w.png"/>
          <p:cNvPicPr>
            <a:picLocks noChangeAspect="1"/>
          </p:cNvPicPr>
          <p:nvPr/>
        </p:nvPicPr>
        <p:blipFill>
          <a:blip r:embed="rId4"/>
          <a:stretch>
            <a:fillRect/>
          </a:stretch>
        </p:blipFill>
        <p:spPr>
          <a:xfrm>
            <a:off x="6629400" y="1874520"/>
            <a:ext cx="274320" cy="274320"/>
          </a:xfrm>
          <a:prstGeom prst="rect">
            <a:avLst/>
          </a:prstGeom>
        </p:spPr>
      </p:pic>
      <p:sp>
        <p:nvSpPr>
          <p:cNvPr id="12" name="Text 8"/>
          <p:cNvSpPr/>
          <p:nvPr/>
        </p:nvSpPr>
        <p:spPr>
          <a:xfrm>
            <a:off x="7223760" y="1737360"/>
            <a:ext cx="4114800" cy="548640"/>
          </a:xfrm>
          <a:prstGeom prst="rect">
            <a:avLst/>
          </a:prstGeom>
          <a:noFill/>
          <a:ln/>
        </p:spPr>
        <p:txBody>
          <a:bodyPr wrap="square" lIns="0" tIns="0" rIns="0" bIns="0" rtlCol="0" anchor="ctr"/>
          <a:lstStyle/>
          <a:p>
            <a:pPr marL="0" indent="0">
              <a:buNone/>
            </a:pPr>
            <a:r>
              <a:rPr lang="en-US" sz="1700" b="1" dirty="0">
                <a:solidFill>
                  <a:srgbClr val="023430"/>
                </a:solidFill>
                <a:latin typeface="Calibri" pitchFamily="34" charset="0"/>
                <a:ea typeface="Calibri" pitchFamily="34" charset="-122"/>
                <a:cs typeface="Calibri" pitchFamily="34" charset="-120"/>
              </a:rPr>
              <a:t>Referencing</a:t>
            </a:r>
            <a:endParaRPr lang="en-US" sz="1700" dirty="0"/>
          </a:p>
        </p:txBody>
      </p:sp>
      <p:sp>
        <p:nvSpPr>
          <p:cNvPr id="13" name="Text 9"/>
          <p:cNvSpPr/>
          <p:nvPr/>
        </p:nvSpPr>
        <p:spPr>
          <a:xfrm>
            <a:off x="6492240" y="2514600"/>
            <a:ext cx="4892040" cy="2926080"/>
          </a:xfrm>
          <a:prstGeom prst="rect">
            <a:avLst/>
          </a:prstGeom>
          <a:noFill/>
          <a:ln/>
        </p:spPr>
        <p:txBody>
          <a:bodyPr wrap="square" lIns="0" tIns="0" rIns="0" bIns="0" rtlCol="0" anchor="ctr"/>
          <a:lstStyle/>
          <a:p>
            <a:pPr marL="0" indent="0">
              <a:lnSpc>
                <a:spcPct val="135000"/>
              </a:lnSpc>
              <a:buNone/>
            </a:pPr>
            <a:r>
              <a:rPr lang="en-US" sz="1300" dirty="0">
                <a:solidFill>
                  <a:srgbClr val="0B2B22"/>
                </a:solidFill>
                <a:latin typeface="Calibri" pitchFamily="34" charset="0"/>
                <a:ea typeface="Calibri" pitchFamily="34" charset="-122"/>
                <a:cs typeface="Calibri" pitchFamily="34" charset="-120"/>
              </a:rPr>
              <a:t>Store the related data separately, and link to it using its _id. This is similar to a “foreign key” in SQL.</a:t>
            </a:r>
            <a:endParaRPr lang="en-US" sz="1300" dirty="0"/>
          </a:p>
          <a:p>
            <a:pPr marL="0" indent="0">
              <a:lnSpc>
                <a:spcPct val="135000"/>
              </a:lnSpc>
              <a:buNone/>
            </a:pPr>
            <a:endParaRPr lang="en-US" sz="1300" dirty="0"/>
          </a:p>
          <a:p>
            <a:pPr marL="0" indent="0">
              <a:lnSpc>
                <a:spcPct val="135000"/>
              </a:lnSpc>
              <a:buNone/>
            </a:pPr>
            <a:r>
              <a:rPr lang="en-US" sz="1300" dirty="0">
                <a:solidFill>
                  <a:srgbClr val="0B2B22"/>
                </a:solidFill>
                <a:latin typeface="Calibri" pitchFamily="34" charset="0"/>
                <a:ea typeface="Calibri" pitchFamily="34" charset="-122"/>
                <a:cs typeface="Calibri" pitchFamily="34" charset="-120"/>
              </a:rPr>
              <a:t>Best for data that is large, shared by many documents, or that changes on its own.</a:t>
            </a:r>
            <a:endParaRPr lang="en-US" sz="1300" dirty="0"/>
          </a:p>
          <a:p>
            <a:pPr marL="0" indent="0">
              <a:lnSpc>
                <a:spcPct val="135000"/>
              </a:lnSpc>
              <a:buNone/>
            </a:pPr>
            <a:endParaRPr lang="en-US" sz="1300" dirty="0"/>
          </a:p>
          <a:p>
            <a:pPr marL="0" indent="0">
              <a:lnSpc>
                <a:spcPct val="135000"/>
              </a:lnSpc>
              <a:buNone/>
            </a:pPr>
            <a:r>
              <a:rPr lang="en-US" sz="1300" dirty="0">
                <a:solidFill>
                  <a:srgbClr val="0B2B22"/>
                </a:solidFill>
                <a:latin typeface="Calibri" pitchFamily="34" charset="0"/>
                <a:ea typeface="Calibri" pitchFamily="34" charset="-122"/>
                <a:cs typeface="Calibri" pitchFamily="34" charset="-120"/>
              </a:rPr>
              <a:t>Example: a blog post linking to its author's _id — one author writes many posts, so their full details should not be repeated inside every single post.</a:t>
            </a:r>
            <a:endParaRPr lang="en-US" sz="1300" dirty="0"/>
          </a:p>
        </p:txBody>
      </p:sp>
      <p:sp>
        <p:nvSpPr>
          <p:cNvPr id="14" name="Text 10"/>
          <p:cNvSpPr/>
          <p:nvPr/>
        </p:nvSpPr>
        <p:spPr>
          <a:xfrm>
            <a:off x="548640" y="5806440"/>
            <a:ext cx="11064240" cy="365760"/>
          </a:xfrm>
          <a:prstGeom prst="rect">
            <a:avLst/>
          </a:prstGeom>
          <a:noFill/>
          <a:ln/>
        </p:spPr>
        <p:txBody>
          <a:bodyPr wrap="square" lIns="0" tIns="0" rIns="0" bIns="0" rtlCol="0" anchor="ctr"/>
          <a:lstStyle/>
          <a:p>
            <a:pPr marL="0" indent="0">
              <a:buNone/>
            </a:pPr>
            <a:r>
              <a:rPr lang="en-US" sz="1250" i="1" dirty="0">
                <a:solidFill>
                  <a:srgbClr val="4C6D62"/>
                </a:solidFill>
                <a:latin typeface="Calibri" pitchFamily="34" charset="0"/>
                <a:ea typeface="Calibri" pitchFamily="34" charset="-122"/>
                <a:cs typeface="Calibri" pitchFamily="34" charset="-120"/>
              </a:rPr>
              <a:t>Lab 4 uses exactly this decision to design its data.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3430"/>
        </a:solidFill>
        <a:effectLst/>
      </p:bgPr>
    </p:bg>
    <p:spTree>
      <p:nvGrpSpPr>
        <p:cNvPr id="1" name=""/>
        <p:cNvGrpSpPr/>
        <p:nvPr/>
      </p:nvGrpSpPr>
      <p:grpSpPr>
        <a:xfrm>
          <a:off x="0" y="0"/>
          <a:ext cx="0" cy="0"/>
          <a:chOff x="0" y="0"/>
          <a:chExt cx="0" cy="0"/>
        </a:xfrm>
      </p:grpSpPr>
      <p:pic>
        <p:nvPicPr>
          <p:cNvPr id="2" name="Image 0" descr="/home/claude/mongo_ppt/icon_leaf.png"/>
          <p:cNvPicPr>
            <a:picLocks noChangeAspect="1"/>
          </p:cNvPicPr>
          <p:nvPr/>
        </p:nvPicPr>
        <p:blipFill>
          <a:blip r:embed="rId3"/>
          <a:stretch>
            <a:fillRect/>
          </a:stretch>
        </p:blipFill>
        <p:spPr>
          <a:xfrm>
            <a:off x="822960" y="2468880"/>
            <a:ext cx="731520" cy="731520"/>
          </a:xfrm>
          <a:prstGeom prst="rect">
            <a:avLst/>
          </a:prstGeom>
        </p:spPr>
      </p:pic>
      <p:sp>
        <p:nvSpPr>
          <p:cNvPr id="3" name="Text 0"/>
          <p:cNvSpPr/>
          <p:nvPr/>
        </p:nvSpPr>
        <p:spPr>
          <a:xfrm>
            <a:off x="822960" y="3383280"/>
            <a:ext cx="10515600"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Part 2</a:t>
            </a:r>
            <a:endParaRPr lang="en-US" sz="3800" dirty="0"/>
          </a:p>
        </p:txBody>
      </p:sp>
      <p:sp>
        <p:nvSpPr>
          <p:cNvPr id="4" name="Text 1"/>
          <p:cNvSpPr/>
          <p:nvPr/>
        </p:nvSpPr>
        <p:spPr>
          <a:xfrm>
            <a:off x="822960" y="4251960"/>
            <a:ext cx="10332720" cy="548640"/>
          </a:xfrm>
          <a:prstGeom prst="rect">
            <a:avLst/>
          </a:prstGeom>
          <a:noFill/>
          <a:ln/>
        </p:spPr>
        <p:txBody>
          <a:bodyPr wrap="square" lIns="0" tIns="0" rIns="0" bIns="0" rtlCol="0" anchor="ctr"/>
          <a:lstStyle/>
          <a:p>
            <a:pPr marL="0" indent="0">
              <a:buNone/>
            </a:pPr>
            <a:r>
              <a:rPr lang="en-US" sz="1500" dirty="0">
                <a:solidFill>
                  <a:srgbClr val="00ED64"/>
                </a:solidFill>
                <a:latin typeface="Calibri" pitchFamily="34" charset="0"/>
                <a:ea typeface="Calibri" pitchFamily="34" charset="-122"/>
                <a:cs typeface="Calibri" pitchFamily="34" charset="-120"/>
              </a:rPr>
              <a:t>The Main Features That Make MongoDB Useful</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Feature: Flexible Schema</a:t>
            </a:r>
            <a:endParaRPr lang="en-US" sz="2800" dirty="0"/>
          </a:p>
        </p:txBody>
      </p:sp>
      <p:sp>
        <p:nvSpPr>
          <p:cNvPr id="3" name="Shape 1"/>
          <p:cNvSpPr/>
          <p:nvPr/>
        </p:nvSpPr>
        <p:spPr>
          <a:xfrm>
            <a:off x="548640" y="1417320"/>
            <a:ext cx="822960" cy="822960"/>
          </a:xfrm>
          <a:prstGeom prst="ellipse">
            <a:avLst/>
          </a:prstGeom>
          <a:solidFill>
            <a:srgbClr val="023430"/>
          </a:solidFill>
          <a:ln/>
        </p:spPr>
      </p:sp>
      <p:pic>
        <p:nvPicPr>
          <p:cNvPr id="4" name="Image 0" descr="/home/claude/mongo_ppt/icon_shield.png"/>
          <p:cNvPicPr>
            <a:picLocks noChangeAspect="1"/>
          </p:cNvPicPr>
          <p:nvPr/>
        </p:nvPicPr>
        <p:blipFill>
          <a:blip r:embed="rId3"/>
          <a:stretch>
            <a:fillRect/>
          </a:stretch>
        </p:blipFill>
        <p:spPr>
          <a:xfrm>
            <a:off x="754380" y="1623060"/>
            <a:ext cx="411480" cy="411480"/>
          </a:xfrm>
          <a:prstGeom prst="rect">
            <a:avLst/>
          </a:prstGeom>
        </p:spPr>
      </p:pic>
      <p:sp>
        <p:nvSpPr>
          <p:cNvPr id="5" name="Text 2"/>
          <p:cNvSpPr/>
          <p:nvPr/>
        </p:nvSpPr>
        <p:spPr>
          <a:xfrm>
            <a:off x="1600200" y="1417320"/>
            <a:ext cx="9875520" cy="1737360"/>
          </a:xfrm>
          <a:prstGeom prst="rect">
            <a:avLst/>
          </a:prstGeom>
          <a:noFill/>
          <a:ln/>
        </p:spPr>
        <p:txBody>
          <a:bodyPr wrap="square" lIns="0" tIns="0" rIns="0" bIns="0" rtlCol="0" anchor="t"/>
          <a:lstStyle/>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Documents inside the same collection do NOT have to match each other. Your application can add a brand new field the moment it needs one, with no special “migration” step required.
</a:t>
            </a:r>
            <a:endParaRPr lang="en-US" sz="1400" dirty="0"/>
          </a:p>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Any new documents you save from now on will carry that new field. Any older documents that were saved before the field existed are simply left alone — they still work perfectly fine without it.</a:t>
            </a:r>
            <a:endParaRPr lang="en-US" sz="1400" dirty="0"/>
          </a:p>
        </p:txBody>
      </p:sp>
      <p:sp>
        <p:nvSpPr>
          <p:cNvPr id="6" name="Shape 3"/>
          <p:cNvSpPr/>
          <p:nvPr/>
        </p:nvSpPr>
        <p:spPr>
          <a:xfrm>
            <a:off x="548640" y="3429000"/>
            <a:ext cx="5372100" cy="1828800"/>
          </a:xfrm>
          <a:prstGeom prst="roundRect">
            <a:avLst>
              <a:gd name="adj" fmla="val 5000"/>
            </a:avLst>
          </a:prstGeom>
          <a:solidFill>
            <a:srgbClr val="EAF3EE"/>
          </a:solidFill>
          <a:ln/>
        </p:spPr>
      </p:sp>
      <p:sp>
        <p:nvSpPr>
          <p:cNvPr id="7" name="Text 4"/>
          <p:cNvSpPr/>
          <p:nvPr/>
        </p:nvSpPr>
        <p:spPr>
          <a:xfrm>
            <a:off x="749808" y="3593592"/>
            <a:ext cx="4969764" cy="457200"/>
          </a:xfrm>
          <a:prstGeom prst="rect">
            <a:avLst/>
          </a:prstGeom>
          <a:noFill/>
          <a:ln/>
        </p:spPr>
        <p:txBody>
          <a:bodyPr wrap="square" lIns="0" tIns="0" rIns="0" bIns="0" rtlCol="0" anchor="ctr"/>
          <a:lstStyle/>
          <a:p>
            <a:pPr marL="0" indent="0">
              <a:buNone/>
            </a:pPr>
            <a:r>
              <a:rPr lang="en-US" sz="1350" b="1" dirty="0">
                <a:solidFill>
                  <a:srgbClr val="023430"/>
                </a:solidFill>
                <a:latin typeface="Calibri" pitchFamily="34" charset="0"/>
                <a:ea typeface="Calibri" pitchFamily="34" charset="-122"/>
                <a:cs typeface="Calibri" pitchFamily="34" charset="-120"/>
              </a:rPr>
              <a:t>Saved in January</a:t>
            </a:r>
            <a:endParaRPr lang="en-US" sz="1350" dirty="0"/>
          </a:p>
        </p:txBody>
      </p:sp>
      <p:sp>
        <p:nvSpPr>
          <p:cNvPr id="8" name="Text 5"/>
          <p:cNvSpPr/>
          <p:nvPr/>
        </p:nvSpPr>
        <p:spPr>
          <a:xfrm>
            <a:off x="749808" y="4050792"/>
            <a:ext cx="4969764" cy="1051560"/>
          </a:xfrm>
          <a:prstGeom prst="rect">
            <a:avLst/>
          </a:prstGeom>
          <a:noFill/>
          <a:ln/>
        </p:spPr>
        <p:txBody>
          <a:bodyPr wrap="square" lIns="0" tIns="0" rIns="0" bIns="0" rtlCol="0" anchor="ctr"/>
          <a:lstStyle/>
          <a:p>
            <a:pPr marL="0" indent="0">
              <a:lnSpc>
                <a:spcPct val="120000"/>
              </a:lnSpc>
              <a:buNone/>
            </a:pPr>
            <a:r>
              <a:rPr lang="en-US" sz="1150" dirty="0">
                <a:solidFill>
                  <a:srgbClr val="0B2B22"/>
                </a:solidFill>
                <a:latin typeface="Calibri" pitchFamily="34" charset="0"/>
                <a:ea typeface="Calibri" pitchFamily="34" charset="-122"/>
                <a:cs typeface="Calibri" pitchFamily="34" charset="-120"/>
              </a:rPr>
              <a:t>{ name: "Alice", grade: 95 }</a:t>
            </a:r>
            <a:endParaRPr lang="en-US" sz="1150" dirty="0"/>
          </a:p>
        </p:txBody>
      </p:sp>
      <p:sp>
        <p:nvSpPr>
          <p:cNvPr id="9" name="Shape 6"/>
          <p:cNvSpPr/>
          <p:nvPr/>
        </p:nvSpPr>
        <p:spPr>
          <a:xfrm>
            <a:off x="6240780" y="3429000"/>
            <a:ext cx="5372100" cy="1828800"/>
          </a:xfrm>
          <a:prstGeom prst="roundRect">
            <a:avLst>
              <a:gd name="adj" fmla="val 5000"/>
            </a:avLst>
          </a:prstGeom>
          <a:solidFill>
            <a:srgbClr val="EAF3EE"/>
          </a:solidFill>
          <a:ln/>
        </p:spPr>
      </p:sp>
      <p:sp>
        <p:nvSpPr>
          <p:cNvPr id="10" name="Text 7"/>
          <p:cNvSpPr/>
          <p:nvPr/>
        </p:nvSpPr>
        <p:spPr>
          <a:xfrm>
            <a:off x="6441948" y="3593592"/>
            <a:ext cx="4969764" cy="457200"/>
          </a:xfrm>
          <a:prstGeom prst="rect">
            <a:avLst/>
          </a:prstGeom>
          <a:noFill/>
          <a:ln/>
        </p:spPr>
        <p:txBody>
          <a:bodyPr wrap="square" lIns="0" tIns="0" rIns="0" bIns="0" rtlCol="0" anchor="ctr"/>
          <a:lstStyle/>
          <a:p>
            <a:pPr marL="0" indent="0">
              <a:buNone/>
            </a:pPr>
            <a:r>
              <a:rPr lang="en-US" sz="1350" b="1" dirty="0">
                <a:solidFill>
                  <a:srgbClr val="023430"/>
                </a:solidFill>
                <a:latin typeface="Calibri" pitchFamily="34" charset="0"/>
                <a:ea typeface="Calibri" pitchFamily="34" charset="-122"/>
                <a:cs typeface="Calibri" pitchFamily="34" charset="-120"/>
              </a:rPr>
              <a:t>Saved in June (new field added)</a:t>
            </a:r>
            <a:endParaRPr lang="en-US" sz="1350" dirty="0"/>
          </a:p>
        </p:txBody>
      </p:sp>
      <p:sp>
        <p:nvSpPr>
          <p:cNvPr id="11" name="Text 8"/>
          <p:cNvSpPr/>
          <p:nvPr/>
        </p:nvSpPr>
        <p:spPr>
          <a:xfrm>
            <a:off x="6441948" y="4050792"/>
            <a:ext cx="4969764" cy="1051560"/>
          </a:xfrm>
          <a:prstGeom prst="rect">
            <a:avLst/>
          </a:prstGeom>
          <a:noFill/>
          <a:ln/>
        </p:spPr>
        <p:txBody>
          <a:bodyPr wrap="square" lIns="0" tIns="0" rIns="0" bIns="0" rtlCol="0" anchor="ctr"/>
          <a:lstStyle/>
          <a:p>
            <a:pPr marL="0" indent="0">
              <a:lnSpc>
                <a:spcPct val="120000"/>
              </a:lnSpc>
              <a:buNone/>
            </a:pPr>
            <a:r>
              <a:rPr lang="en-US" sz="1150" dirty="0">
                <a:solidFill>
                  <a:srgbClr val="0B2B22"/>
                </a:solidFill>
                <a:latin typeface="Calibri" pitchFamily="34" charset="0"/>
                <a:ea typeface="Calibri" pitchFamily="34" charset="-122"/>
                <a:cs typeface="Calibri" pitchFamily="34" charset="-120"/>
              </a:rPr>
              <a:t>{ name: "Bob", grade: 88, email: "bob@mail.com" }</a:t>
            </a:r>
            <a:endParaRPr lang="en-US" sz="1150" dirty="0"/>
          </a:p>
        </p:txBody>
      </p:sp>
      <p:sp>
        <p:nvSpPr>
          <p:cNvPr id="12" name="Text 9"/>
          <p:cNvSpPr/>
          <p:nvPr/>
        </p:nvSpPr>
        <p:spPr>
          <a:xfrm>
            <a:off x="548640" y="5486400"/>
            <a:ext cx="11064240" cy="457200"/>
          </a:xfrm>
          <a:prstGeom prst="rect">
            <a:avLst/>
          </a:prstGeom>
          <a:noFill/>
          <a:ln/>
        </p:spPr>
        <p:txBody>
          <a:bodyPr wrap="square" lIns="0" tIns="0" rIns="0" bIns="0" rtlCol="0" anchor="ctr"/>
          <a:lstStyle/>
          <a:p>
            <a:pPr marL="0" indent="0">
              <a:buNone/>
            </a:pPr>
            <a:r>
              <a:rPr lang="en-US" sz="1300" i="1" dirty="0">
                <a:solidFill>
                  <a:srgbClr val="4C6D62"/>
                </a:solidFill>
                <a:latin typeface="Calibri" pitchFamily="34" charset="0"/>
                <a:ea typeface="Calibri" pitchFamily="34" charset="-122"/>
                <a:cs typeface="Calibri" pitchFamily="34" charset="-120"/>
              </a:rPr>
              <a:t>Both documents live happily side by side in the very same collection — nothing breaks.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Feature: Sharding (Spreading Data Out)</a:t>
            </a:r>
            <a:endParaRPr lang="en-US" sz="2800" dirty="0"/>
          </a:p>
        </p:txBody>
      </p:sp>
      <p:sp>
        <p:nvSpPr>
          <p:cNvPr id="3" name="Shape 1"/>
          <p:cNvSpPr/>
          <p:nvPr/>
        </p:nvSpPr>
        <p:spPr>
          <a:xfrm>
            <a:off x="548640" y="1417320"/>
            <a:ext cx="822960" cy="822960"/>
          </a:xfrm>
          <a:prstGeom prst="ellipse">
            <a:avLst/>
          </a:prstGeom>
          <a:solidFill>
            <a:srgbClr val="023430"/>
          </a:solidFill>
          <a:ln/>
        </p:spPr>
      </p:sp>
      <p:pic>
        <p:nvPicPr>
          <p:cNvPr id="4" name="Image 0" descr="/home/claude/mongo_ppt/icon_project.png"/>
          <p:cNvPicPr>
            <a:picLocks noChangeAspect="1"/>
          </p:cNvPicPr>
          <p:nvPr/>
        </p:nvPicPr>
        <p:blipFill>
          <a:blip r:embed="rId3"/>
          <a:stretch>
            <a:fillRect/>
          </a:stretch>
        </p:blipFill>
        <p:spPr>
          <a:xfrm>
            <a:off x="754380" y="1623060"/>
            <a:ext cx="411480" cy="411480"/>
          </a:xfrm>
          <a:prstGeom prst="rect">
            <a:avLst/>
          </a:prstGeom>
        </p:spPr>
      </p:pic>
      <p:sp>
        <p:nvSpPr>
          <p:cNvPr id="5" name="Text 2"/>
          <p:cNvSpPr/>
          <p:nvPr/>
        </p:nvSpPr>
        <p:spPr>
          <a:xfrm>
            <a:off x="1600200" y="1417320"/>
            <a:ext cx="9875520" cy="1737360"/>
          </a:xfrm>
          <a:prstGeom prst="rect">
            <a:avLst/>
          </a:prstGeom>
          <a:noFill/>
          <a:ln/>
        </p:spPr>
        <p:txBody>
          <a:bodyPr wrap="square" lIns="0" tIns="0" rIns="0" bIns="0" rtlCol="0" anchor="t"/>
          <a:lstStyle/>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Sometimes one single computer is not enough to hold, or quickly serve, all the data in a big collection. Sharding is how MongoDB solves this: it automatically splits one collection across several servers, called shards.
</a:t>
            </a:r>
            <a:endParaRPr lang="en-US" sz="1400" dirty="0"/>
          </a:p>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A part called the router decides which shard should store or look up each piece of data, so your application never has to figure this out itself.</a:t>
            </a:r>
            <a:endParaRPr lang="en-US" sz="1400" dirty="0"/>
          </a:p>
        </p:txBody>
      </p:sp>
      <p:sp>
        <p:nvSpPr>
          <p:cNvPr id="6" name="Shape 3"/>
          <p:cNvSpPr/>
          <p:nvPr/>
        </p:nvSpPr>
        <p:spPr>
          <a:xfrm>
            <a:off x="548640" y="3429000"/>
            <a:ext cx="2526030" cy="1737360"/>
          </a:xfrm>
          <a:prstGeom prst="roundRect">
            <a:avLst>
              <a:gd name="adj" fmla="val 5263"/>
            </a:avLst>
          </a:prstGeom>
          <a:solidFill>
            <a:srgbClr val="EAF3EE"/>
          </a:solidFill>
          <a:ln/>
        </p:spPr>
      </p:sp>
      <p:sp>
        <p:nvSpPr>
          <p:cNvPr id="7" name="Text 4"/>
          <p:cNvSpPr/>
          <p:nvPr/>
        </p:nvSpPr>
        <p:spPr>
          <a:xfrm>
            <a:off x="749808" y="3593592"/>
            <a:ext cx="2123694" cy="457200"/>
          </a:xfrm>
          <a:prstGeom prst="rect">
            <a:avLst/>
          </a:prstGeom>
          <a:noFill/>
          <a:ln/>
        </p:spPr>
        <p:txBody>
          <a:bodyPr wrap="square" lIns="0" tIns="0" rIns="0" bIns="0" rtlCol="0" anchor="ctr"/>
          <a:lstStyle/>
          <a:p>
            <a:pPr marL="0" indent="0">
              <a:buNone/>
            </a:pPr>
            <a:r>
              <a:rPr lang="en-US" sz="1350" b="1" dirty="0">
                <a:solidFill>
                  <a:srgbClr val="023430"/>
                </a:solidFill>
                <a:latin typeface="Calibri" pitchFamily="34" charset="0"/>
                <a:ea typeface="Calibri" pitchFamily="34" charset="-122"/>
                <a:cs typeface="Calibri" pitchFamily="34" charset="-120"/>
              </a:rPr>
              <a:t>Application</a:t>
            </a:r>
            <a:endParaRPr lang="en-US" sz="1350" dirty="0"/>
          </a:p>
        </p:txBody>
      </p:sp>
      <p:sp>
        <p:nvSpPr>
          <p:cNvPr id="8" name="Text 5"/>
          <p:cNvSpPr/>
          <p:nvPr/>
        </p:nvSpPr>
        <p:spPr>
          <a:xfrm>
            <a:off x="749808" y="4050792"/>
            <a:ext cx="212369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Sends a request</a:t>
            </a:r>
            <a:endParaRPr lang="en-US" sz="1150" dirty="0"/>
          </a:p>
        </p:txBody>
      </p:sp>
      <p:sp>
        <p:nvSpPr>
          <p:cNvPr id="9" name="Text 6"/>
          <p:cNvSpPr/>
          <p:nvPr/>
        </p:nvSpPr>
        <p:spPr>
          <a:xfrm>
            <a:off x="3092958" y="4069080"/>
            <a:ext cx="283464" cy="457200"/>
          </a:xfrm>
          <a:prstGeom prst="rect">
            <a:avLst/>
          </a:prstGeom>
          <a:noFill/>
          <a:ln/>
        </p:spPr>
        <p:txBody>
          <a:bodyPr wrap="square" lIns="0" tIns="0" rIns="0" bIns="0" rtlCol="0" anchor="ctr"/>
          <a:lstStyle/>
          <a:p>
            <a:pPr marL="0" indent="0" algn="ctr">
              <a:buNone/>
            </a:pPr>
            <a:r>
              <a:rPr lang="en-US" sz="2000" dirty="0">
                <a:solidFill>
                  <a:srgbClr val="023430"/>
                </a:solidFill>
                <a:latin typeface="Arial" pitchFamily="34" charset="0"/>
                <a:ea typeface="Arial" pitchFamily="34" charset="-122"/>
                <a:cs typeface="Arial" pitchFamily="34" charset="-120"/>
              </a:rPr>
              <a:t>→</a:t>
            </a:r>
            <a:endParaRPr lang="en-US" sz="2000" dirty="0"/>
          </a:p>
        </p:txBody>
      </p:sp>
      <p:sp>
        <p:nvSpPr>
          <p:cNvPr id="10" name="Shape 7"/>
          <p:cNvSpPr/>
          <p:nvPr/>
        </p:nvSpPr>
        <p:spPr>
          <a:xfrm>
            <a:off x="3394710" y="3429000"/>
            <a:ext cx="2526030" cy="1737360"/>
          </a:xfrm>
          <a:prstGeom prst="roundRect">
            <a:avLst>
              <a:gd name="adj" fmla="val 5263"/>
            </a:avLst>
          </a:prstGeom>
          <a:solidFill>
            <a:srgbClr val="EAF3EE"/>
          </a:solidFill>
          <a:ln/>
        </p:spPr>
      </p:sp>
      <p:sp>
        <p:nvSpPr>
          <p:cNvPr id="11" name="Text 8"/>
          <p:cNvSpPr/>
          <p:nvPr/>
        </p:nvSpPr>
        <p:spPr>
          <a:xfrm>
            <a:off x="3595878" y="3593592"/>
            <a:ext cx="2123694" cy="457200"/>
          </a:xfrm>
          <a:prstGeom prst="rect">
            <a:avLst/>
          </a:prstGeom>
          <a:noFill/>
          <a:ln/>
        </p:spPr>
        <p:txBody>
          <a:bodyPr wrap="square" lIns="0" tIns="0" rIns="0" bIns="0" rtlCol="0" anchor="ctr"/>
          <a:lstStyle/>
          <a:p>
            <a:pPr marL="0" indent="0">
              <a:buNone/>
            </a:pPr>
            <a:r>
              <a:rPr lang="en-US" sz="1350" b="1" dirty="0">
                <a:solidFill>
                  <a:srgbClr val="023430"/>
                </a:solidFill>
                <a:latin typeface="Calibri" pitchFamily="34" charset="0"/>
                <a:ea typeface="Calibri" pitchFamily="34" charset="-122"/>
                <a:cs typeface="Calibri" pitchFamily="34" charset="-120"/>
              </a:rPr>
              <a:t>Router</a:t>
            </a:r>
            <a:endParaRPr lang="en-US" sz="1350" dirty="0"/>
          </a:p>
        </p:txBody>
      </p:sp>
      <p:sp>
        <p:nvSpPr>
          <p:cNvPr id="12" name="Text 9"/>
          <p:cNvSpPr/>
          <p:nvPr/>
        </p:nvSpPr>
        <p:spPr>
          <a:xfrm>
            <a:off x="3595878" y="4050792"/>
            <a:ext cx="212369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Decides which shard to use</a:t>
            </a:r>
            <a:endParaRPr lang="en-US" sz="1150" dirty="0"/>
          </a:p>
        </p:txBody>
      </p:sp>
      <p:sp>
        <p:nvSpPr>
          <p:cNvPr id="13" name="Text 10"/>
          <p:cNvSpPr/>
          <p:nvPr/>
        </p:nvSpPr>
        <p:spPr>
          <a:xfrm>
            <a:off x="5939028" y="4069080"/>
            <a:ext cx="283464" cy="457200"/>
          </a:xfrm>
          <a:prstGeom prst="rect">
            <a:avLst/>
          </a:prstGeom>
          <a:noFill/>
          <a:ln/>
        </p:spPr>
        <p:txBody>
          <a:bodyPr wrap="square" lIns="0" tIns="0" rIns="0" bIns="0" rtlCol="0" anchor="ctr"/>
          <a:lstStyle/>
          <a:p>
            <a:pPr marL="0" indent="0" algn="ctr">
              <a:buNone/>
            </a:pPr>
            <a:r>
              <a:rPr lang="en-US" sz="2000" dirty="0">
                <a:solidFill>
                  <a:srgbClr val="023430"/>
                </a:solidFill>
                <a:latin typeface="Arial" pitchFamily="34" charset="0"/>
                <a:ea typeface="Arial" pitchFamily="34" charset="-122"/>
                <a:cs typeface="Arial" pitchFamily="34" charset="-120"/>
              </a:rPr>
              <a:t>→</a:t>
            </a:r>
            <a:endParaRPr lang="en-US" sz="2000" dirty="0"/>
          </a:p>
        </p:txBody>
      </p:sp>
      <p:sp>
        <p:nvSpPr>
          <p:cNvPr id="14" name="Shape 11"/>
          <p:cNvSpPr/>
          <p:nvPr/>
        </p:nvSpPr>
        <p:spPr>
          <a:xfrm>
            <a:off x="6240780" y="3429000"/>
            <a:ext cx="2526030" cy="1737360"/>
          </a:xfrm>
          <a:prstGeom prst="roundRect">
            <a:avLst>
              <a:gd name="adj" fmla="val 5263"/>
            </a:avLst>
          </a:prstGeom>
          <a:solidFill>
            <a:srgbClr val="EAF3EE"/>
          </a:solidFill>
          <a:ln/>
        </p:spPr>
      </p:sp>
      <p:sp>
        <p:nvSpPr>
          <p:cNvPr id="15" name="Text 12"/>
          <p:cNvSpPr/>
          <p:nvPr/>
        </p:nvSpPr>
        <p:spPr>
          <a:xfrm>
            <a:off x="6441948" y="3593592"/>
            <a:ext cx="2123694" cy="457200"/>
          </a:xfrm>
          <a:prstGeom prst="rect">
            <a:avLst/>
          </a:prstGeom>
          <a:noFill/>
          <a:ln/>
        </p:spPr>
        <p:txBody>
          <a:bodyPr wrap="square" lIns="0" tIns="0" rIns="0" bIns="0" rtlCol="0" anchor="ctr"/>
          <a:lstStyle/>
          <a:p>
            <a:pPr marL="0" indent="0">
              <a:buNone/>
            </a:pPr>
            <a:r>
              <a:rPr lang="en-US" sz="1350" b="1" dirty="0">
                <a:solidFill>
                  <a:srgbClr val="023430"/>
                </a:solidFill>
                <a:latin typeface="Calibri" pitchFamily="34" charset="0"/>
                <a:ea typeface="Calibri" pitchFamily="34" charset="-122"/>
                <a:cs typeface="Calibri" pitchFamily="34" charset="-120"/>
              </a:rPr>
              <a:t>Shard 1</a:t>
            </a:r>
            <a:endParaRPr lang="en-US" sz="1350" dirty="0"/>
          </a:p>
        </p:txBody>
      </p:sp>
      <p:sp>
        <p:nvSpPr>
          <p:cNvPr id="16" name="Text 13"/>
          <p:cNvSpPr/>
          <p:nvPr/>
        </p:nvSpPr>
        <p:spPr>
          <a:xfrm>
            <a:off x="6441948" y="4050792"/>
            <a:ext cx="212369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Students A–H</a:t>
            </a:r>
            <a:endParaRPr lang="en-US" sz="1150" dirty="0"/>
          </a:p>
        </p:txBody>
      </p:sp>
      <p:sp>
        <p:nvSpPr>
          <p:cNvPr id="17" name="Text 14"/>
          <p:cNvSpPr/>
          <p:nvPr/>
        </p:nvSpPr>
        <p:spPr>
          <a:xfrm>
            <a:off x="8785098" y="4069080"/>
            <a:ext cx="283464" cy="457200"/>
          </a:xfrm>
          <a:prstGeom prst="rect">
            <a:avLst/>
          </a:prstGeom>
          <a:noFill/>
          <a:ln/>
        </p:spPr>
        <p:txBody>
          <a:bodyPr wrap="square" lIns="0" tIns="0" rIns="0" bIns="0" rtlCol="0" anchor="ctr"/>
          <a:lstStyle/>
          <a:p>
            <a:pPr marL="0" indent="0" algn="ctr">
              <a:buNone/>
            </a:pPr>
            <a:r>
              <a:rPr lang="en-US" sz="2000" dirty="0">
                <a:solidFill>
                  <a:srgbClr val="023430"/>
                </a:solidFill>
                <a:latin typeface="Arial" pitchFamily="34" charset="0"/>
                <a:ea typeface="Arial" pitchFamily="34" charset="-122"/>
                <a:cs typeface="Arial" pitchFamily="34" charset="-120"/>
              </a:rPr>
              <a:t>→</a:t>
            </a:r>
            <a:endParaRPr lang="en-US" sz="2000" dirty="0"/>
          </a:p>
        </p:txBody>
      </p:sp>
      <p:sp>
        <p:nvSpPr>
          <p:cNvPr id="18" name="Shape 15"/>
          <p:cNvSpPr/>
          <p:nvPr/>
        </p:nvSpPr>
        <p:spPr>
          <a:xfrm>
            <a:off x="9086850" y="3429000"/>
            <a:ext cx="2526030" cy="1737360"/>
          </a:xfrm>
          <a:prstGeom prst="roundRect">
            <a:avLst>
              <a:gd name="adj" fmla="val 5263"/>
            </a:avLst>
          </a:prstGeom>
          <a:solidFill>
            <a:srgbClr val="EAF3EE"/>
          </a:solidFill>
          <a:ln/>
        </p:spPr>
      </p:sp>
      <p:sp>
        <p:nvSpPr>
          <p:cNvPr id="19" name="Text 16"/>
          <p:cNvSpPr/>
          <p:nvPr/>
        </p:nvSpPr>
        <p:spPr>
          <a:xfrm>
            <a:off x="9288018" y="3593592"/>
            <a:ext cx="2123694" cy="457200"/>
          </a:xfrm>
          <a:prstGeom prst="rect">
            <a:avLst/>
          </a:prstGeom>
          <a:noFill/>
          <a:ln/>
        </p:spPr>
        <p:txBody>
          <a:bodyPr wrap="square" lIns="0" tIns="0" rIns="0" bIns="0" rtlCol="0" anchor="ctr"/>
          <a:lstStyle/>
          <a:p>
            <a:pPr marL="0" indent="0">
              <a:buNone/>
            </a:pPr>
            <a:r>
              <a:rPr lang="en-US" sz="1350" b="1" dirty="0">
                <a:solidFill>
                  <a:srgbClr val="023430"/>
                </a:solidFill>
                <a:latin typeface="Calibri" pitchFamily="34" charset="0"/>
                <a:ea typeface="Calibri" pitchFamily="34" charset="-122"/>
                <a:cs typeface="Calibri" pitchFamily="34" charset="-120"/>
              </a:rPr>
              <a:t>Shard 2 / 3</a:t>
            </a:r>
            <a:endParaRPr lang="en-US" sz="1350" dirty="0"/>
          </a:p>
        </p:txBody>
      </p:sp>
      <p:sp>
        <p:nvSpPr>
          <p:cNvPr id="20" name="Text 17"/>
          <p:cNvSpPr/>
          <p:nvPr/>
        </p:nvSpPr>
        <p:spPr>
          <a:xfrm>
            <a:off x="9288018" y="4050792"/>
            <a:ext cx="212369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Students I–Z</a:t>
            </a:r>
            <a:endParaRPr lang="en-US" sz="1150" dirty="0"/>
          </a:p>
        </p:txBody>
      </p:sp>
      <p:sp>
        <p:nvSpPr>
          <p:cNvPr id="21" name="Text 18"/>
          <p:cNvSpPr/>
          <p:nvPr/>
        </p:nvSpPr>
        <p:spPr>
          <a:xfrm>
            <a:off x="548640" y="5440680"/>
            <a:ext cx="11064240" cy="457200"/>
          </a:xfrm>
          <a:prstGeom prst="rect">
            <a:avLst/>
          </a:prstGeom>
          <a:noFill/>
          <a:ln/>
        </p:spPr>
        <p:txBody>
          <a:bodyPr wrap="square" lIns="0" tIns="0" rIns="0" bIns="0" rtlCol="0" anchor="ctr"/>
          <a:lstStyle/>
          <a:p>
            <a:pPr marL="0" indent="0">
              <a:buNone/>
            </a:pPr>
            <a:r>
              <a:rPr lang="en-US" sz="1300" i="1" dirty="0">
                <a:solidFill>
                  <a:srgbClr val="4C6D62"/>
                </a:solidFill>
                <a:latin typeface="Calibri" pitchFamily="34" charset="0"/>
                <a:ea typeface="Calibri" pitchFamily="34" charset="-122"/>
                <a:cs typeface="Calibri" pitchFamily="34" charset="-120"/>
              </a:rPr>
              <a:t>This lets MongoDB handle far more data than any single computer could hold alone. (Lab 6 covers this idea.)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Feature: Replica Sets (Backup Copies)</a:t>
            </a:r>
            <a:endParaRPr lang="en-US" sz="2800" dirty="0"/>
          </a:p>
        </p:txBody>
      </p:sp>
      <p:sp>
        <p:nvSpPr>
          <p:cNvPr id="3" name="Shape 1"/>
          <p:cNvSpPr/>
          <p:nvPr/>
        </p:nvSpPr>
        <p:spPr>
          <a:xfrm>
            <a:off x="548640" y="1417320"/>
            <a:ext cx="822960" cy="822960"/>
          </a:xfrm>
          <a:prstGeom prst="ellipse">
            <a:avLst/>
          </a:prstGeom>
          <a:solidFill>
            <a:srgbClr val="023430"/>
          </a:solidFill>
          <a:ln/>
        </p:spPr>
      </p:sp>
      <p:pic>
        <p:nvPicPr>
          <p:cNvPr id="4" name="Image 0" descr="/home/claude/mongo_ppt/icon_sync.png"/>
          <p:cNvPicPr>
            <a:picLocks noChangeAspect="1"/>
          </p:cNvPicPr>
          <p:nvPr/>
        </p:nvPicPr>
        <p:blipFill>
          <a:blip r:embed="rId3"/>
          <a:stretch>
            <a:fillRect/>
          </a:stretch>
        </p:blipFill>
        <p:spPr>
          <a:xfrm>
            <a:off x="754380" y="1623060"/>
            <a:ext cx="411480" cy="411480"/>
          </a:xfrm>
          <a:prstGeom prst="rect">
            <a:avLst/>
          </a:prstGeom>
        </p:spPr>
      </p:pic>
      <p:sp>
        <p:nvSpPr>
          <p:cNvPr id="5" name="Text 2"/>
          <p:cNvSpPr/>
          <p:nvPr/>
        </p:nvSpPr>
        <p:spPr>
          <a:xfrm>
            <a:off x="1600200" y="1417320"/>
            <a:ext cx="9875520" cy="1737360"/>
          </a:xfrm>
          <a:prstGeom prst="rect">
            <a:avLst/>
          </a:prstGeom>
          <a:noFill/>
          <a:ln/>
        </p:spPr>
        <p:txBody>
          <a:bodyPr wrap="square" lIns="0" tIns="0" rIns="0" bIns="0" rtlCol="0" anchor="t"/>
          <a:lstStyle/>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A replica set is a group of servers that all keep an exact, kept-in-sync copy of the same data.
</a:t>
            </a:r>
            <a:endParaRPr lang="en-US" sz="1400" dirty="0"/>
          </a:p>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One server, the primary, is the only one allowed to accept new writes (new data being saved). The others, the secondaries, automatically copy every change the primary makes. If the primary ever goes down, a secondary can immediately take over.</a:t>
            </a:r>
            <a:endParaRPr lang="en-US" sz="1400" dirty="0"/>
          </a:p>
        </p:txBody>
      </p:sp>
      <p:sp>
        <p:nvSpPr>
          <p:cNvPr id="6" name="Shape 3"/>
          <p:cNvSpPr/>
          <p:nvPr/>
        </p:nvSpPr>
        <p:spPr>
          <a:xfrm>
            <a:off x="548640" y="3429000"/>
            <a:ext cx="3474720" cy="1737360"/>
          </a:xfrm>
          <a:prstGeom prst="roundRect">
            <a:avLst>
              <a:gd name="adj" fmla="val 5263"/>
            </a:avLst>
          </a:prstGeom>
          <a:solidFill>
            <a:srgbClr val="EAF3EE"/>
          </a:solidFill>
          <a:ln/>
        </p:spPr>
      </p:sp>
      <p:sp>
        <p:nvSpPr>
          <p:cNvPr id="7" name="Text 4"/>
          <p:cNvSpPr/>
          <p:nvPr/>
        </p:nvSpPr>
        <p:spPr>
          <a:xfrm>
            <a:off x="749808" y="3593592"/>
            <a:ext cx="3072384" cy="457200"/>
          </a:xfrm>
          <a:prstGeom prst="rect">
            <a:avLst/>
          </a:prstGeom>
          <a:noFill/>
          <a:ln/>
        </p:spPr>
        <p:txBody>
          <a:bodyPr wrap="square" lIns="0" tIns="0" rIns="0" bIns="0" rtlCol="0" anchor="ctr"/>
          <a:lstStyle/>
          <a:p>
            <a:pPr marL="0" indent="0">
              <a:buNone/>
            </a:pPr>
            <a:r>
              <a:rPr lang="en-US" sz="1350" b="1" dirty="0">
                <a:solidFill>
                  <a:srgbClr val="023430"/>
                </a:solidFill>
                <a:latin typeface="Calibri" pitchFamily="34" charset="0"/>
                <a:ea typeface="Calibri" pitchFamily="34" charset="-122"/>
                <a:cs typeface="Calibri" pitchFamily="34" charset="-120"/>
              </a:rPr>
              <a:t>Primary</a:t>
            </a:r>
            <a:endParaRPr lang="en-US" sz="1350" dirty="0"/>
          </a:p>
        </p:txBody>
      </p:sp>
      <p:sp>
        <p:nvSpPr>
          <p:cNvPr id="8" name="Text 5"/>
          <p:cNvSpPr/>
          <p:nvPr/>
        </p:nvSpPr>
        <p:spPr>
          <a:xfrm>
            <a:off x="749808" y="4050792"/>
            <a:ext cx="307238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Accepts new writes</a:t>
            </a:r>
            <a:endParaRPr lang="en-US" sz="1150" dirty="0"/>
          </a:p>
        </p:txBody>
      </p:sp>
      <p:sp>
        <p:nvSpPr>
          <p:cNvPr id="9" name="Text 6"/>
          <p:cNvSpPr/>
          <p:nvPr/>
        </p:nvSpPr>
        <p:spPr>
          <a:xfrm>
            <a:off x="4041648" y="4069080"/>
            <a:ext cx="283464" cy="457200"/>
          </a:xfrm>
          <a:prstGeom prst="rect">
            <a:avLst/>
          </a:prstGeom>
          <a:noFill/>
          <a:ln/>
        </p:spPr>
        <p:txBody>
          <a:bodyPr wrap="square" lIns="0" tIns="0" rIns="0" bIns="0" rtlCol="0" anchor="ctr"/>
          <a:lstStyle/>
          <a:p>
            <a:pPr marL="0" indent="0" algn="ctr">
              <a:buNone/>
            </a:pPr>
            <a:r>
              <a:rPr lang="en-US" sz="2000" dirty="0">
                <a:solidFill>
                  <a:srgbClr val="023430"/>
                </a:solidFill>
                <a:latin typeface="Arial" pitchFamily="34" charset="0"/>
                <a:ea typeface="Arial" pitchFamily="34" charset="-122"/>
                <a:cs typeface="Arial" pitchFamily="34" charset="-120"/>
              </a:rPr>
              <a:t>→</a:t>
            </a:r>
            <a:endParaRPr lang="en-US" sz="2000" dirty="0"/>
          </a:p>
        </p:txBody>
      </p:sp>
      <p:sp>
        <p:nvSpPr>
          <p:cNvPr id="10" name="Shape 7"/>
          <p:cNvSpPr/>
          <p:nvPr/>
        </p:nvSpPr>
        <p:spPr>
          <a:xfrm>
            <a:off x="4343400" y="3429000"/>
            <a:ext cx="3474720" cy="1737360"/>
          </a:xfrm>
          <a:prstGeom prst="roundRect">
            <a:avLst>
              <a:gd name="adj" fmla="val 5263"/>
            </a:avLst>
          </a:prstGeom>
          <a:solidFill>
            <a:srgbClr val="EAF3EE"/>
          </a:solidFill>
          <a:ln/>
        </p:spPr>
      </p:sp>
      <p:sp>
        <p:nvSpPr>
          <p:cNvPr id="11" name="Text 8"/>
          <p:cNvSpPr/>
          <p:nvPr/>
        </p:nvSpPr>
        <p:spPr>
          <a:xfrm>
            <a:off x="4544568" y="3593592"/>
            <a:ext cx="3072384" cy="457200"/>
          </a:xfrm>
          <a:prstGeom prst="rect">
            <a:avLst/>
          </a:prstGeom>
          <a:noFill/>
          <a:ln/>
        </p:spPr>
        <p:txBody>
          <a:bodyPr wrap="square" lIns="0" tIns="0" rIns="0" bIns="0" rtlCol="0" anchor="ctr"/>
          <a:lstStyle/>
          <a:p>
            <a:pPr marL="0" indent="0">
              <a:buNone/>
            </a:pPr>
            <a:r>
              <a:rPr lang="en-US" sz="1350" b="1" dirty="0">
                <a:solidFill>
                  <a:srgbClr val="023430"/>
                </a:solidFill>
                <a:latin typeface="Calibri" pitchFamily="34" charset="0"/>
                <a:ea typeface="Calibri" pitchFamily="34" charset="-122"/>
                <a:cs typeface="Calibri" pitchFamily="34" charset="-120"/>
              </a:rPr>
              <a:t>Secondary 1</a:t>
            </a:r>
            <a:endParaRPr lang="en-US" sz="1350" dirty="0"/>
          </a:p>
        </p:txBody>
      </p:sp>
      <p:sp>
        <p:nvSpPr>
          <p:cNvPr id="12" name="Text 9"/>
          <p:cNvSpPr/>
          <p:nvPr/>
        </p:nvSpPr>
        <p:spPr>
          <a:xfrm>
            <a:off x="4544568" y="4050792"/>
            <a:ext cx="307238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Synced copy of the data</a:t>
            </a:r>
            <a:endParaRPr lang="en-US" sz="1150" dirty="0"/>
          </a:p>
        </p:txBody>
      </p:sp>
      <p:sp>
        <p:nvSpPr>
          <p:cNvPr id="13" name="Text 10"/>
          <p:cNvSpPr/>
          <p:nvPr/>
        </p:nvSpPr>
        <p:spPr>
          <a:xfrm>
            <a:off x="7836408" y="4069080"/>
            <a:ext cx="283464" cy="457200"/>
          </a:xfrm>
          <a:prstGeom prst="rect">
            <a:avLst/>
          </a:prstGeom>
          <a:noFill/>
          <a:ln/>
        </p:spPr>
        <p:txBody>
          <a:bodyPr wrap="square" lIns="0" tIns="0" rIns="0" bIns="0" rtlCol="0" anchor="ctr"/>
          <a:lstStyle/>
          <a:p>
            <a:pPr marL="0" indent="0" algn="ctr">
              <a:buNone/>
            </a:pPr>
            <a:r>
              <a:rPr lang="en-US" sz="2000" dirty="0">
                <a:solidFill>
                  <a:srgbClr val="023430"/>
                </a:solidFill>
                <a:latin typeface="Arial" pitchFamily="34" charset="0"/>
                <a:ea typeface="Arial" pitchFamily="34" charset="-122"/>
                <a:cs typeface="Arial" pitchFamily="34" charset="-120"/>
              </a:rPr>
              <a:t>→</a:t>
            </a:r>
            <a:endParaRPr lang="en-US" sz="2000" dirty="0"/>
          </a:p>
        </p:txBody>
      </p:sp>
      <p:sp>
        <p:nvSpPr>
          <p:cNvPr id="14" name="Shape 11"/>
          <p:cNvSpPr/>
          <p:nvPr/>
        </p:nvSpPr>
        <p:spPr>
          <a:xfrm>
            <a:off x="8138160" y="3429000"/>
            <a:ext cx="3474720" cy="1737360"/>
          </a:xfrm>
          <a:prstGeom prst="roundRect">
            <a:avLst>
              <a:gd name="adj" fmla="val 5263"/>
            </a:avLst>
          </a:prstGeom>
          <a:solidFill>
            <a:srgbClr val="EAF3EE"/>
          </a:solidFill>
          <a:ln/>
        </p:spPr>
      </p:sp>
      <p:sp>
        <p:nvSpPr>
          <p:cNvPr id="15" name="Text 12"/>
          <p:cNvSpPr/>
          <p:nvPr/>
        </p:nvSpPr>
        <p:spPr>
          <a:xfrm>
            <a:off x="8339328" y="3593592"/>
            <a:ext cx="3072384" cy="457200"/>
          </a:xfrm>
          <a:prstGeom prst="rect">
            <a:avLst/>
          </a:prstGeom>
          <a:noFill/>
          <a:ln/>
        </p:spPr>
        <p:txBody>
          <a:bodyPr wrap="square" lIns="0" tIns="0" rIns="0" bIns="0" rtlCol="0" anchor="ctr"/>
          <a:lstStyle/>
          <a:p>
            <a:pPr marL="0" indent="0">
              <a:buNone/>
            </a:pPr>
            <a:r>
              <a:rPr lang="en-US" sz="1350" b="1" dirty="0">
                <a:solidFill>
                  <a:srgbClr val="023430"/>
                </a:solidFill>
                <a:latin typeface="Calibri" pitchFamily="34" charset="0"/>
                <a:ea typeface="Calibri" pitchFamily="34" charset="-122"/>
                <a:cs typeface="Calibri" pitchFamily="34" charset="-120"/>
              </a:rPr>
              <a:t>Secondary 2</a:t>
            </a:r>
            <a:endParaRPr lang="en-US" sz="1350" dirty="0"/>
          </a:p>
        </p:txBody>
      </p:sp>
      <p:sp>
        <p:nvSpPr>
          <p:cNvPr id="16" name="Text 13"/>
          <p:cNvSpPr/>
          <p:nvPr/>
        </p:nvSpPr>
        <p:spPr>
          <a:xfrm>
            <a:off x="8339328" y="4050792"/>
            <a:ext cx="307238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Synced copy of the data</a:t>
            </a:r>
            <a:endParaRPr lang="en-US" sz="1150" dirty="0"/>
          </a:p>
        </p:txBody>
      </p:sp>
      <p:sp>
        <p:nvSpPr>
          <p:cNvPr id="17" name="Text 14"/>
          <p:cNvSpPr/>
          <p:nvPr/>
        </p:nvSpPr>
        <p:spPr>
          <a:xfrm>
            <a:off x="548640" y="5440680"/>
            <a:ext cx="11064240" cy="457200"/>
          </a:xfrm>
          <a:prstGeom prst="rect">
            <a:avLst/>
          </a:prstGeom>
          <a:noFill/>
          <a:ln/>
        </p:spPr>
        <p:txBody>
          <a:bodyPr wrap="square" lIns="0" tIns="0" rIns="0" bIns="0" rtlCol="0" anchor="ctr"/>
          <a:lstStyle/>
          <a:p>
            <a:pPr marL="0" indent="0">
              <a:buNone/>
            </a:pPr>
            <a:r>
              <a:rPr lang="en-US" sz="1300" i="1" dirty="0">
                <a:solidFill>
                  <a:srgbClr val="4C6D62"/>
                </a:solidFill>
                <a:latin typeface="Calibri" pitchFamily="34" charset="0"/>
                <a:ea typeface="Calibri" pitchFamily="34" charset="-122"/>
                <a:cs typeface="Calibri" pitchFamily="34" charset="-120"/>
              </a:rPr>
              <a:t>Result: the application keeps working with little to no interruption, even if one server fails. (Lab 6 covers this idea.)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Feature: Aggregation Pipeline</a:t>
            </a:r>
            <a:endParaRPr lang="en-US" sz="2800" dirty="0"/>
          </a:p>
        </p:txBody>
      </p:sp>
      <p:sp>
        <p:nvSpPr>
          <p:cNvPr id="3" name="Shape 1"/>
          <p:cNvSpPr/>
          <p:nvPr/>
        </p:nvSpPr>
        <p:spPr>
          <a:xfrm>
            <a:off x="548640" y="1417320"/>
            <a:ext cx="822960" cy="822960"/>
          </a:xfrm>
          <a:prstGeom prst="ellipse">
            <a:avLst/>
          </a:prstGeom>
          <a:solidFill>
            <a:srgbClr val="023430"/>
          </a:solidFill>
          <a:ln/>
        </p:spPr>
      </p:sp>
      <p:pic>
        <p:nvPicPr>
          <p:cNvPr id="4" name="Image 0" descr="/home/claude/mongo_ppt/icon_chart.png"/>
          <p:cNvPicPr>
            <a:picLocks noChangeAspect="1"/>
          </p:cNvPicPr>
          <p:nvPr/>
        </p:nvPicPr>
        <p:blipFill>
          <a:blip r:embed="rId3"/>
          <a:stretch>
            <a:fillRect/>
          </a:stretch>
        </p:blipFill>
        <p:spPr>
          <a:xfrm>
            <a:off x="754380" y="1623060"/>
            <a:ext cx="411480" cy="411480"/>
          </a:xfrm>
          <a:prstGeom prst="rect">
            <a:avLst/>
          </a:prstGeom>
        </p:spPr>
      </p:pic>
      <p:sp>
        <p:nvSpPr>
          <p:cNvPr id="5" name="Text 2"/>
          <p:cNvSpPr/>
          <p:nvPr/>
        </p:nvSpPr>
        <p:spPr>
          <a:xfrm>
            <a:off x="1600200" y="1417320"/>
            <a:ext cx="9875520" cy="1737360"/>
          </a:xfrm>
          <a:prstGeom prst="rect">
            <a:avLst/>
          </a:prstGeom>
          <a:noFill/>
          <a:ln/>
        </p:spPr>
        <p:txBody>
          <a:bodyPr wrap="square" lIns="0" tIns="0" rIns="0" bIns="0" rtlCol="0" anchor="t"/>
          <a:lstStyle/>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Instead of pulling every raw document out of the database and processing it yourself in your own code, MongoDB can process the data in stages, right inside the database.
</a:t>
            </a:r>
            <a:endParaRPr lang="en-US" sz="1400" dirty="0"/>
          </a:p>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Each stage can filter data, group it, count it, or average it. This whole chain of stages is called an aggregation pipeline. It does the same basic job as “GROUP BY” in SQL — just written as a series of simple steps instead of one line.</a:t>
            </a:r>
            <a:endParaRPr lang="en-US" sz="1400" dirty="0"/>
          </a:p>
        </p:txBody>
      </p:sp>
      <p:sp>
        <p:nvSpPr>
          <p:cNvPr id="6" name="Shape 3"/>
          <p:cNvSpPr/>
          <p:nvPr/>
        </p:nvSpPr>
        <p:spPr>
          <a:xfrm>
            <a:off x="548640" y="3429000"/>
            <a:ext cx="3474720" cy="1737360"/>
          </a:xfrm>
          <a:prstGeom prst="roundRect">
            <a:avLst>
              <a:gd name="adj" fmla="val 5263"/>
            </a:avLst>
          </a:prstGeom>
          <a:solidFill>
            <a:srgbClr val="EAF3EE"/>
          </a:solidFill>
          <a:ln/>
        </p:spPr>
      </p:sp>
      <p:sp>
        <p:nvSpPr>
          <p:cNvPr id="7" name="Text 4"/>
          <p:cNvSpPr/>
          <p:nvPr/>
        </p:nvSpPr>
        <p:spPr>
          <a:xfrm>
            <a:off x="749808" y="3593592"/>
            <a:ext cx="3072384" cy="457200"/>
          </a:xfrm>
          <a:prstGeom prst="rect">
            <a:avLst/>
          </a:prstGeom>
          <a:noFill/>
          <a:ln/>
        </p:spPr>
        <p:txBody>
          <a:bodyPr wrap="square" lIns="0" tIns="0" rIns="0" bIns="0" rtlCol="0" anchor="ctr"/>
          <a:lstStyle/>
          <a:p>
            <a:pPr marL="0" indent="0">
              <a:buNone/>
            </a:pPr>
            <a:r>
              <a:rPr lang="en-US" sz="1350" b="1" dirty="0">
                <a:solidFill>
                  <a:srgbClr val="023430"/>
                </a:solidFill>
                <a:latin typeface="Calibri" pitchFamily="34" charset="0"/>
                <a:ea typeface="Calibri" pitchFamily="34" charset="-122"/>
                <a:cs typeface="Calibri" pitchFamily="34" charset="-120"/>
              </a:rPr>
              <a:t>Stage 1: Filter</a:t>
            </a:r>
            <a:endParaRPr lang="en-US" sz="1350" dirty="0"/>
          </a:p>
        </p:txBody>
      </p:sp>
      <p:sp>
        <p:nvSpPr>
          <p:cNvPr id="8" name="Text 5"/>
          <p:cNvSpPr/>
          <p:nvPr/>
        </p:nvSpPr>
        <p:spPr>
          <a:xfrm>
            <a:off x="749808" y="4050792"/>
            <a:ext cx="307238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Keep only the documents you need</a:t>
            </a:r>
            <a:endParaRPr lang="en-US" sz="1150" dirty="0"/>
          </a:p>
        </p:txBody>
      </p:sp>
      <p:sp>
        <p:nvSpPr>
          <p:cNvPr id="9" name="Text 6"/>
          <p:cNvSpPr/>
          <p:nvPr/>
        </p:nvSpPr>
        <p:spPr>
          <a:xfrm>
            <a:off x="4041648" y="4069080"/>
            <a:ext cx="283464" cy="457200"/>
          </a:xfrm>
          <a:prstGeom prst="rect">
            <a:avLst/>
          </a:prstGeom>
          <a:noFill/>
          <a:ln/>
        </p:spPr>
        <p:txBody>
          <a:bodyPr wrap="square" lIns="0" tIns="0" rIns="0" bIns="0" rtlCol="0" anchor="ctr"/>
          <a:lstStyle/>
          <a:p>
            <a:pPr marL="0" indent="0" algn="ctr">
              <a:buNone/>
            </a:pPr>
            <a:r>
              <a:rPr lang="en-US" sz="2000" dirty="0">
                <a:solidFill>
                  <a:srgbClr val="023430"/>
                </a:solidFill>
                <a:latin typeface="Arial" pitchFamily="34" charset="0"/>
                <a:ea typeface="Arial" pitchFamily="34" charset="-122"/>
                <a:cs typeface="Arial" pitchFamily="34" charset="-120"/>
              </a:rPr>
              <a:t>→</a:t>
            </a:r>
            <a:endParaRPr lang="en-US" sz="2000" dirty="0"/>
          </a:p>
        </p:txBody>
      </p:sp>
      <p:sp>
        <p:nvSpPr>
          <p:cNvPr id="10" name="Shape 7"/>
          <p:cNvSpPr/>
          <p:nvPr/>
        </p:nvSpPr>
        <p:spPr>
          <a:xfrm>
            <a:off x="4343400" y="3429000"/>
            <a:ext cx="3474720" cy="1737360"/>
          </a:xfrm>
          <a:prstGeom prst="roundRect">
            <a:avLst>
              <a:gd name="adj" fmla="val 5263"/>
            </a:avLst>
          </a:prstGeom>
          <a:solidFill>
            <a:srgbClr val="EAF3EE"/>
          </a:solidFill>
          <a:ln/>
        </p:spPr>
      </p:sp>
      <p:sp>
        <p:nvSpPr>
          <p:cNvPr id="11" name="Text 8"/>
          <p:cNvSpPr/>
          <p:nvPr/>
        </p:nvSpPr>
        <p:spPr>
          <a:xfrm>
            <a:off x="4544568" y="3593592"/>
            <a:ext cx="3072384" cy="457200"/>
          </a:xfrm>
          <a:prstGeom prst="rect">
            <a:avLst/>
          </a:prstGeom>
          <a:noFill/>
          <a:ln/>
        </p:spPr>
        <p:txBody>
          <a:bodyPr wrap="square" lIns="0" tIns="0" rIns="0" bIns="0" rtlCol="0" anchor="ctr"/>
          <a:lstStyle/>
          <a:p>
            <a:pPr marL="0" indent="0">
              <a:buNone/>
            </a:pPr>
            <a:r>
              <a:rPr lang="en-US" sz="1350" b="1" dirty="0">
                <a:solidFill>
                  <a:srgbClr val="023430"/>
                </a:solidFill>
                <a:latin typeface="Calibri" pitchFamily="34" charset="0"/>
                <a:ea typeface="Calibri" pitchFamily="34" charset="-122"/>
                <a:cs typeface="Calibri" pitchFamily="34" charset="-120"/>
              </a:rPr>
              <a:t>Stage 2: Group</a:t>
            </a:r>
            <a:endParaRPr lang="en-US" sz="1350" dirty="0"/>
          </a:p>
        </p:txBody>
      </p:sp>
      <p:sp>
        <p:nvSpPr>
          <p:cNvPr id="12" name="Text 9"/>
          <p:cNvSpPr/>
          <p:nvPr/>
        </p:nvSpPr>
        <p:spPr>
          <a:xfrm>
            <a:off x="4544568" y="4050792"/>
            <a:ext cx="307238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Put matching documents together</a:t>
            </a:r>
            <a:endParaRPr lang="en-US" sz="1150" dirty="0"/>
          </a:p>
        </p:txBody>
      </p:sp>
      <p:sp>
        <p:nvSpPr>
          <p:cNvPr id="13" name="Text 10"/>
          <p:cNvSpPr/>
          <p:nvPr/>
        </p:nvSpPr>
        <p:spPr>
          <a:xfrm>
            <a:off x="7836408" y="4069080"/>
            <a:ext cx="283464" cy="457200"/>
          </a:xfrm>
          <a:prstGeom prst="rect">
            <a:avLst/>
          </a:prstGeom>
          <a:noFill/>
          <a:ln/>
        </p:spPr>
        <p:txBody>
          <a:bodyPr wrap="square" lIns="0" tIns="0" rIns="0" bIns="0" rtlCol="0" anchor="ctr"/>
          <a:lstStyle/>
          <a:p>
            <a:pPr marL="0" indent="0" algn="ctr">
              <a:buNone/>
            </a:pPr>
            <a:r>
              <a:rPr lang="en-US" sz="2000" dirty="0">
                <a:solidFill>
                  <a:srgbClr val="023430"/>
                </a:solidFill>
                <a:latin typeface="Arial" pitchFamily="34" charset="0"/>
                <a:ea typeface="Arial" pitchFamily="34" charset="-122"/>
                <a:cs typeface="Arial" pitchFamily="34" charset="-120"/>
              </a:rPr>
              <a:t>→</a:t>
            </a:r>
            <a:endParaRPr lang="en-US" sz="2000" dirty="0"/>
          </a:p>
        </p:txBody>
      </p:sp>
      <p:sp>
        <p:nvSpPr>
          <p:cNvPr id="14" name="Shape 11"/>
          <p:cNvSpPr/>
          <p:nvPr/>
        </p:nvSpPr>
        <p:spPr>
          <a:xfrm>
            <a:off x="8138160" y="3429000"/>
            <a:ext cx="3474720" cy="1737360"/>
          </a:xfrm>
          <a:prstGeom prst="roundRect">
            <a:avLst>
              <a:gd name="adj" fmla="val 5263"/>
            </a:avLst>
          </a:prstGeom>
          <a:solidFill>
            <a:srgbClr val="EAF3EE"/>
          </a:solidFill>
          <a:ln/>
        </p:spPr>
      </p:sp>
      <p:sp>
        <p:nvSpPr>
          <p:cNvPr id="15" name="Text 12"/>
          <p:cNvSpPr/>
          <p:nvPr/>
        </p:nvSpPr>
        <p:spPr>
          <a:xfrm>
            <a:off x="8339328" y="3593592"/>
            <a:ext cx="3072384" cy="457200"/>
          </a:xfrm>
          <a:prstGeom prst="rect">
            <a:avLst/>
          </a:prstGeom>
          <a:noFill/>
          <a:ln/>
        </p:spPr>
        <p:txBody>
          <a:bodyPr wrap="square" lIns="0" tIns="0" rIns="0" bIns="0" rtlCol="0" anchor="ctr"/>
          <a:lstStyle/>
          <a:p>
            <a:pPr marL="0" indent="0">
              <a:buNone/>
            </a:pPr>
            <a:r>
              <a:rPr lang="en-US" sz="1350" b="1" dirty="0">
                <a:solidFill>
                  <a:srgbClr val="023430"/>
                </a:solidFill>
                <a:latin typeface="Calibri" pitchFamily="34" charset="0"/>
                <a:ea typeface="Calibri" pitchFamily="34" charset="-122"/>
                <a:cs typeface="Calibri" pitchFamily="34" charset="-120"/>
              </a:rPr>
              <a:t>Stage 3: Average</a:t>
            </a:r>
            <a:endParaRPr lang="en-US" sz="1350" dirty="0"/>
          </a:p>
        </p:txBody>
      </p:sp>
      <p:sp>
        <p:nvSpPr>
          <p:cNvPr id="16" name="Text 13"/>
          <p:cNvSpPr/>
          <p:nvPr/>
        </p:nvSpPr>
        <p:spPr>
          <a:xfrm>
            <a:off x="8339328" y="4050792"/>
            <a:ext cx="307238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Do the math, e.g. average grade</a:t>
            </a:r>
            <a:endParaRPr lang="en-US" sz="1150" dirty="0"/>
          </a:p>
        </p:txBody>
      </p:sp>
      <p:sp>
        <p:nvSpPr>
          <p:cNvPr id="17" name="Text 14"/>
          <p:cNvSpPr/>
          <p:nvPr/>
        </p:nvSpPr>
        <p:spPr>
          <a:xfrm>
            <a:off x="548640" y="5440680"/>
            <a:ext cx="11064240" cy="457200"/>
          </a:xfrm>
          <a:prstGeom prst="rect">
            <a:avLst/>
          </a:prstGeom>
          <a:noFill/>
          <a:ln/>
        </p:spPr>
        <p:txBody>
          <a:bodyPr wrap="square" lIns="0" tIns="0" rIns="0" bIns="0" rtlCol="0" anchor="ctr"/>
          <a:lstStyle/>
          <a:p>
            <a:pPr marL="0" indent="0">
              <a:buNone/>
            </a:pPr>
            <a:r>
              <a:rPr lang="en-US" sz="1300" i="1" dirty="0">
                <a:solidFill>
                  <a:srgbClr val="4C6D62"/>
                </a:solidFill>
                <a:latin typeface="Calibri" pitchFamily="34" charset="0"/>
                <a:ea typeface="Calibri" pitchFamily="34" charset="-122"/>
                <a:cs typeface="Calibri" pitchFamily="34" charset="-120"/>
              </a:rPr>
              <a:t>Lab 1 introduces this idea; Lab 3 goes much further with it.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Feature: Indexing</a:t>
            </a:r>
            <a:endParaRPr lang="en-US" sz="2800" dirty="0"/>
          </a:p>
        </p:txBody>
      </p:sp>
      <p:sp>
        <p:nvSpPr>
          <p:cNvPr id="3" name="Shape 1"/>
          <p:cNvSpPr/>
          <p:nvPr/>
        </p:nvSpPr>
        <p:spPr>
          <a:xfrm>
            <a:off x="548640" y="1417320"/>
            <a:ext cx="822960" cy="822960"/>
          </a:xfrm>
          <a:prstGeom prst="ellipse">
            <a:avLst/>
          </a:prstGeom>
          <a:solidFill>
            <a:srgbClr val="023430"/>
          </a:solidFill>
          <a:ln/>
        </p:spPr>
      </p:sp>
      <p:pic>
        <p:nvPicPr>
          <p:cNvPr id="4" name="Image 0" descr="/home/claude/mongo_ppt/icon_search.png"/>
          <p:cNvPicPr>
            <a:picLocks noChangeAspect="1"/>
          </p:cNvPicPr>
          <p:nvPr/>
        </p:nvPicPr>
        <p:blipFill>
          <a:blip r:embed="rId3"/>
          <a:stretch>
            <a:fillRect/>
          </a:stretch>
        </p:blipFill>
        <p:spPr>
          <a:xfrm>
            <a:off x="754380" y="1623060"/>
            <a:ext cx="411480" cy="411480"/>
          </a:xfrm>
          <a:prstGeom prst="rect">
            <a:avLst/>
          </a:prstGeom>
        </p:spPr>
      </p:pic>
      <p:sp>
        <p:nvSpPr>
          <p:cNvPr id="5" name="Text 2"/>
          <p:cNvSpPr/>
          <p:nvPr/>
        </p:nvSpPr>
        <p:spPr>
          <a:xfrm>
            <a:off x="1600200" y="1417320"/>
            <a:ext cx="9875520" cy="1737360"/>
          </a:xfrm>
          <a:prstGeom prst="rect">
            <a:avLst/>
          </a:prstGeom>
          <a:noFill/>
          <a:ln/>
        </p:spPr>
        <p:txBody>
          <a:bodyPr wrap="square" lIns="0" tIns="0" rIns="0" bIns="0" rtlCol="0" anchor="t"/>
          <a:lstStyle/>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An index lets MongoDB find matching documents quickly, without checking every single document one by one.
</a:t>
            </a:r>
            <a:endParaRPr lang="en-US" sz="1400" dirty="0"/>
          </a:p>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This works exactly like the index at the back of a textbook: instead of reading the whole book to find one topic, you jump straight to the page number the index gives you. Without the right index, a search that should take a few milliseconds can end up taking several seconds once a collection grows large.</a:t>
            </a:r>
            <a:endParaRPr lang="en-US" sz="1400" dirty="0"/>
          </a:p>
        </p:txBody>
      </p:sp>
      <p:sp>
        <p:nvSpPr>
          <p:cNvPr id="6" name="Shape 3"/>
          <p:cNvSpPr/>
          <p:nvPr/>
        </p:nvSpPr>
        <p:spPr>
          <a:xfrm>
            <a:off x="548640" y="3520440"/>
            <a:ext cx="5372100" cy="1737360"/>
          </a:xfrm>
          <a:prstGeom prst="roundRect">
            <a:avLst>
              <a:gd name="adj" fmla="val 5263"/>
            </a:avLst>
          </a:prstGeom>
          <a:solidFill>
            <a:srgbClr val="F7E9E6"/>
          </a:solidFill>
          <a:ln/>
        </p:spPr>
      </p:sp>
      <p:sp>
        <p:nvSpPr>
          <p:cNvPr id="7" name="Text 4"/>
          <p:cNvSpPr/>
          <p:nvPr/>
        </p:nvSpPr>
        <p:spPr>
          <a:xfrm>
            <a:off x="749808" y="3685032"/>
            <a:ext cx="4969764" cy="457200"/>
          </a:xfrm>
          <a:prstGeom prst="rect">
            <a:avLst/>
          </a:prstGeom>
          <a:noFill/>
          <a:ln/>
        </p:spPr>
        <p:txBody>
          <a:bodyPr wrap="square" lIns="0" tIns="0" rIns="0" bIns="0" rtlCol="0" anchor="ctr"/>
          <a:lstStyle/>
          <a:p>
            <a:pPr marL="0" indent="0">
              <a:buNone/>
            </a:pPr>
            <a:r>
              <a:rPr lang="en-US" sz="1350" b="1" dirty="0">
                <a:solidFill>
                  <a:srgbClr val="B85042"/>
                </a:solidFill>
                <a:latin typeface="Calibri" pitchFamily="34" charset="0"/>
                <a:ea typeface="Calibri" pitchFamily="34" charset="-122"/>
                <a:cs typeface="Calibri" pitchFamily="34" charset="-120"/>
              </a:rPr>
              <a:t>Without an index</a:t>
            </a:r>
            <a:endParaRPr lang="en-US" sz="1350" dirty="0"/>
          </a:p>
        </p:txBody>
      </p:sp>
      <p:sp>
        <p:nvSpPr>
          <p:cNvPr id="8" name="Text 5"/>
          <p:cNvSpPr/>
          <p:nvPr/>
        </p:nvSpPr>
        <p:spPr>
          <a:xfrm>
            <a:off x="749808" y="4142232"/>
            <a:ext cx="496976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MongoDB checks every single document, one at a time. Slow once the collection is big.</a:t>
            </a:r>
            <a:endParaRPr lang="en-US" sz="1150" dirty="0"/>
          </a:p>
        </p:txBody>
      </p:sp>
      <p:sp>
        <p:nvSpPr>
          <p:cNvPr id="9" name="Shape 6"/>
          <p:cNvSpPr/>
          <p:nvPr/>
        </p:nvSpPr>
        <p:spPr>
          <a:xfrm>
            <a:off x="6240780" y="3520440"/>
            <a:ext cx="5372100" cy="1737360"/>
          </a:xfrm>
          <a:prstGeom prst="roundRect">
            <a:avLst>
              <a:gd name="adj" fmla="val 5263"/>
            </a:avLst>
          </a:prstGeom>
          <a:solidFill>
            <a:srgbClr val="E8F7EE"/>
          </a:solidFill>
          <a:ln/>
        </p:spPr>
      </p:sp>
      <p:sp>
        <p:nvSpPr>
          <p:cNvPr id="10" name="Text 7"/>
          <p:cNvSpPr/>
          <p:nvPr/>
        </p:nvSpPr>
        <p:spPr>
          <a:xfrm>
            <a:off x="6441948" y="3685032"/>
            <a:ext cx="4969764" cy="457200"/>
          </a:xfrm>
          <a:prstGeom prst="rect">
            <a:avLst/>
          </a:prstGeom>
          <a:noFill/>
          <a:ln/>
        </p:spPr>
        <p:txBody>
          <a:bodyPr wrap="square" lIns="0" tIns="0" rIns="0" bIns="0" rtlCol="0" anchor="ctr"/>
          <a:lstStyle/>
          <a:p>
            <a:pPr marL="0" indent="0">
              <a:buNone/>
            </a:pPr>
            <a:r>
              <a:rPr lang="en-US" sz="1350" b="1" dirty="0">
                <a:solidFill>
                  <a:srgbClr val="1E7A46"/>
                </a:solidFill>
                <a:latin typeface="Calibri" pitchFamily="34" charset="0"/>
                <a:ea typeface="Calibri" pitchFamily="34" charset="-122"/>
                <a:cs typeface="Calibri" pitchFamily="34" charset="-120"/>
              </a:rPr>
              <a:t>With the right index</a:t>
            </a:r>
            <a:endParaRPr lang="en-US" sz="1350" dirty="0"/>
          </a:p>
        </p:txBody>
      </p:sp>
      <p:sp>
        <p:nvSpPr>
          <p:cNvPr id="11" name="Text 8"/>
          <p:cNvSpPr/>
          <p:nvPr/>
        </p:nvSpPr>
        <p:spPr>
          <a:xfrm>
            <a:off x="6441948" y="4142232"/>
            <a:ext cx="496976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MongoDB jumps straight to the matching documents. Fast, even on a huge collection.</a:t>
            </a:r>
            <a:endParaRPr lang="en-US" sz="1150" dirty="0"/>
          </a:p>
        </p:txBody>
      </p:sp>
      <p:sp>
        <p:nvSpPr>
          <p:cNvPr id="12" name="Text 9"/>
          <p:cNvSpPr/>
          <p:nvPr/>
        </p:nvSpPr>
        <p:spPr>
          <a:xfrm>
            <a:off x="548640" y="5532120"/>
            <a:ext cx="11064240" cy="457200"/>
          </a:xfrm>
          <a:prstGeom prst="rect">
            <a:avLst/>
          </a:prstGeom>
          <a:noFill/>
          <a:ln/>
        </p:spPr>
        <p:txBody>
          <a:bodyPr wrap="square" lIns="0" tIns="0" rIns="0" bIns="0" rtlCol="0" anchor="ctr"/>
          <a:lstStyle/>
          <a:p>
            <a:pPr marL="0" indent="0">
              <a:buNone/>
            </a:pPr>
            <a:r>
              <a:rPr lang="en-US" sz="1300" i="1" dirty="0">
                <a:solidFill>
                  <a:srgbClr val="4C6D62"/>
                </a:solidFill>
                <a:latin typeface="Calibri" pitchFamily="34" charset="0"/>
                <a:ea typeface="Calibri" pitchFamily="34" charset="-122"/>
                <a:cs typeface="Calibri" pitchFamily="34" charset="-120"/>
              </a:rPr>
              <a:t>Lab 3 shows this exact difference, using a tool called .explain().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Feature: ACID Transactions (Safe Multi-Step Saves)</a:t>
            </a:r>
            <a:endParaRPr lang="en-US" sz="2800" dirty="0"/>
          </a:p>
        </p:txBody>
      </p:sp>
      <p:sp>
        <p:nvSpPr>
          <p:cNvPr id="3" name="Shape 1"/>
          <p:cNvSpPr/>
          <p:nvPr/>
        </p:nvSpPr>
        <p:spPr>
          <a:xfrm>
            <a:off x="548640" y="1417320"/>
            <a:ext cx="822960" cy="822960"/>
          </a:xfrm>
          <a:prstGeom prst="ellipse">
            <a:avLst/>
          </a:prstGeom>
          <a:solidFill>
            <a:srgbClr val="023430"/>
          </a:solidFill>
          <a:ln/>
        </p:spPr>
      </p:sp>
      <p:pic>
        <p:nvPicPr>
          <p:cNvPr id="4" name="Image 0" descr="/home/claude/mongo_ppt/icon_lock.png"/>
          <p:cNvPicPr>
            <a:picLocks noChangeAspect="1"/>
          </p:cNvPicPr>
          <p:nvPr/>
        </p:nvPicPr>
        <p:blipFill>
          <a:blip r:embed="rId3"/>
          <a:stretch>
            <a:fillRect/>
          </a:stretch>
        </p:blipFill>
        <p:spPr>
          <a:xfrm>
            <a:off x="754380" y="1623060"/>
            <a:ext cx="411480" cy="411480"/>
          </a:xfrm>
          <a:prstGeom prst="rect">
            <a:avLst/>
          </a:prstGeom>
        </p:spPr>
      </p:pic>
      <p:sp>
        <p:nvSpPr>
          <p:cNvPr id="5" name="Text 2"/>
          <p:cNvSpPr/>
          <p:nvPr/>
        </p:nvSpPr>
        <p:spPr>
          <a:xfrm>
            <a:off x="1600200" y="1417320"/>
            <a:ext cx="9875520" cy="1737360"/>
          </a:xfrm>
          <a:prstGeom prst="rect">
            <a:avLst/>
          </a:prstGeom>
          <a:noFill/>
          <a:ln/>
        </p:spPr>
        <p:txBody>
          <a:bodyPr wrap="square" lIns="0" tIns="0" rIns="0" bIns="0" rtlCol="0" anchor="t"/>
          <a:lstStyle/>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Since version 4.0, MongoDB can group several separate save actions into one safe unit called a transaction.
</a:t>
            </a:r>
            <a:endParaRPr lang="en-US" sz="1400" dirty="0"/>
          </a:p>
          <a:p>
            <a:pPr marL="0" indent="0">
              <a:lnSpc>
                <a:spcPct val="132000"/>
              </a:lnSpc>
              <a:buNone/>
            </a:pPr>
            <a:r>
              <a:rPr lang="en-US" sz="1400" dirty="0">
                <a:solidFill>
                  <a:srgbClr val="0B2B22"/>
                </a:solidFill>
                <a:latin typeface="Calibri" pitchFamily="34" charset="0"/>
                <a:ea typeface="Calibri" pitchFamily="34" charset="-122"/>
                <a:cs typeface="Calibri" pitchFamily="34" charset="-120"/>
              </a:rPr>
              <a:t>In simple words: a whole group of “save” steps either ALL succeed together, or ALL fail together — there is never a situation where only some of them went through. This clears up a common myth that document databases cannot be trusted with strict, all-or-nothing saving.</a:t>
            </a:r>
            <a:endParaRPr lang="en-US" sz="1400" dirty="0"/>
          </a:p>
        </p:txBody>
      </p:sp>
      <p:sp>
        <p:nvSpPr>
          <p:cNvPr id="6" name="Shape 3"/>
          <p:cNvSpPr/>
          <p:nvPr/>
        </p:nvSpPr>
        <p:spPr>
          <a:xfrm>
            <a:off x="548640" y="3520440"/>
            <a:ext cx="5372100" cy="1737360"/>
          </a:xfrm>
          <a:prstGeom prst="roundRect">
            <a:avLst>
              <a:gd name="adj" fmla="val 5263"/>
            </a:avLst>
          </a:prstGeom>
          <a:solidFill>
            <a:srgbClr val="E8F7EE"/>
          </a:solidFill>
          <a:ln/>
        </p:spPr>
      </p:sp>
      <p:sp>
        <p:nvSpPr>
          <p:cNvPr id="7" name="Text 4"/>
          <p:cNvSpPr/>
          <p:nvPr/>
        </p:nvSpPr>
        <p:spPr>
          <a:xfrm>
            <a:off x="749808" y="3685032"/>
            <a:ext cx="4969764" cy="457200"/>
          </a:xfrm>
          <a:prstGeom prst="rect">
            <a:avLst/>
          </a:prstGeom>
          <a:noFill/>
          <a:ln/>
        </p:spPr>
        <p:txBody>
          <a:bodyPr wrap="square" lIns="0" tIns="0" rIns="0" bIns="0" rtlCol="0" anchor="ctr"/>
          <a:lstStyle/>
          <a:p>
            <a:pPr marL="0" indent="0">
              <a:buNone/>
            </a:pPr>
            <a:r>
              <a:rPr lang="en-US" sz="1350" b="1" dirty="0">
                <a:solidFill>
                  <a:srgbClr val="1E7A46"/>
                </a:solidFill>
                <a:latin typeface="Calibri" pitchFamily="34" charset="0"/>
                <a:ea typeface="Calibri" pitchFamily="34" charset="-122"/>
                <a:cs typeface="Calibri" pitchFamily="34" charset="-120"/>
              </a:rPr>
              <a:t>All steps succeed</a:t>
            </a:r>
            <a:endParaRPr lang="en-US" sz="1350" dirty="0"/>
          </a:p>
        </p:txBody>
      </p:sp>
      <p:sp>
        <p:nvSpPr>
          <p:cNvPr id="8" name="Text 5"/>
          <p:cNvSpPr/>
          <p:nvPr/>
        </p:nvSpPr>
        <p:spPr>
          <a:xfrm>
            <a:off x="749808" y="4142232"/>
            <a:ext cx="496976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Example: a seat is removed, AND the student is enrolled. Both happen together.</a:t>
            </a:r>
            <a:endParaRPr lang="en-US" sz="1150" dirty="0"/>
          </a:p>
        </p:txBody>
      </p:sp>
      <p:sp>
        <p:nvSpPr>
          <p:cNvPr id="9" name="Shape 6"/>
          <p:cNvSpPr/>
          <p:nvPr/>
        </p:nvSpPr>
        <p:spPr>
          <a:xfrm>
            <a:off x="6240780" y="3520440"/>
            <a:ext cx="5372100" cy="1737360"/>
          </a:xfrm>
          <a:prstGeom prst="roundRect">
            <a:avLst>
              <a:gd name="adj" fmla="val 5263"/>
            </a:avLst>
          </a:prstGeom>
          <a:solidFill>
            <a:srgbClr val="F7E9E6"/>
          </a:solidFill>
          <a:ln/>
        </p:spPr>
      </p:sp>
      <p:sp>
        <p:nvSpPr>
          <p:cNvPr id="10" name="Text 7"/>
          <p:cNvSpPr/>
          <p:nvPr/>
        </p:nvSpPr>
        <p:spPr>
          <a:xfrm>
            <a:off x="6441948" y="3685032"/>
            <a:ext cx="4969764" cy="457200"/>
          </a:xfrm>
          <a:prstGeom prst="rect">
            <a:avLst/>
          </a:prstGeom>
          <a:noFill/>
          <a:ln/>
        </p:spPr>
        <p:txBody>
          <a:bodyPr wrap="square" lIns="0" tIns="0" rIns="0" bIns="0" rtlCol="0" anchor="ctr"/>
          <a:lstStyle/>
          <a:p>
            <a:pPr marL="0" indent="0">
              <a:buNone/>
            </a:pPr>
            <a:r>
              <a:rPr lang="en-US" sz="1350" b="1" dirty="0">
                <a:solidFill>
                  <a:srgbClr val="B85042"/>
                </a:solidFill>
                <a:latin typeface="Calibri" pitchFamily="34" charset="0"/>
                <a:ea typeface="Calibri" pitchFamily="34" charset="-122"/>
                <a:cs typeface="Calibri" pitchFamily="34" charset="-120"/>
              </a:rPr>
              <a:t>Any step fails</a:t>
            </a:r>
            <a:endParaRPr lang="en-US" sz="1350" dirty="0"/>
          </a:p>
        </p:txBody>
      </p:sp>
      <p:sp>
        <p:nvSpPr>
          <p:cNvPr id="11" name="Text 8"/>
          <p:cNvSpPr/>
          <p:nvPr/>
        </p:nvSpPr>
        <p:spPr>
          <a:xfrm>
            <a:off x="6441948" y="4142232"/>
            <a:ext cx="4969764" cy="960120"/>
          </a:xfrm>
          <a:prstGeom prst="rect">
            <a:avLst/>
          </a:prstGeom>
          <a:noFill/>
          <a:ln/>
        </p:spPr>
        <p:txBody>
          <a:bodyPr wrap="square" lIns="0" tIns="0" rIns="0" bIns="0" rtlCol="0" anchor="ctr"/>
          <a:lstStyle/>
          <a:p>
            <a:pPr marL="0" indent="0">
              <a:lnSpc>
                <a:spcPct val="120000"/>
              </a:lnSpc>
              <a:buNone/>
            </a:pPr>
            <a:r>
              <a:rPr lang="en-US" sz="1150" dirty="0">
                <a:solidFill>
                  <a:srgbClr val="4C6D62"/>
                </a:solidFill>
                <a:latin typeface="Calibri" pitchFamily="34" charset="0"/>
                <a:ea typeface="Calibri" pitchFamily="34" charset="-122"/>
                <a:cs typeface="Calibri" pitchFamily="34" charset="-120"/>
              </a:rPr>
              <a:t>Nothing is kept. It is as if none of the steps were ever attempted.</a:t>
            </a:r>
            <a:endParaRPr lang="en-US" sz="1150" dirty="0"/>
          </a:p>
        </p:txBody>
      </p:sp>
      <p:sp>
        <p:nvSpPr>
          <p:cNvPr id="12" name="Text 9"/>
          <p:cNvSpPr/>
          <p:nvPr/>
        </p:nvSpPr>
        <p:spPr>
          <a:xfrm>
            <a:off x="548640" y="5532120"/>
            <a:ext cx="11064240" cy="457200"/>
          </a:xfrm>
          <a:prstGeom prst="rect">
            <a:avLst/>
          </a:prstGeom>
          <a:noFill/>
          <a:ln/>
        </p:spPr>
        <p:txBody>
          <a:bodyPr wrap="square" lIns="0" tIns="0" rIns="0" bIns="0" rtlCol="0" anchor="ctr"/>
          <a:lstStyle/>
          <a:p>
            <a:pPr marL="0" indent="0">
              <a:buNone/>
            </a:pPr>
            <a:r>
              <a:rPr lang="en-US" sz="1300" i="1" dirty="0">
                <a:solidFill>
                  <a:srgbClr val="4C6D62"/>
                </a:solidFill>
                <a:latin typeface="Calibri" pitchFamily="34" charset="0"/>
                <a:ea typeface="Calibri" pitchFamily="34" charset="-122"/>
                <a:cs typeface="Calibri" pitchFamily="34" charset="-120"/>
              </a:rPr>
              <a:t>Lab 5 applies this to a real student-enrollment scenario.</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23430"/>
        </a:solidFill>
        <a:effectLst/>
      </p:bgPr>
    </p:bg>
    <p:spTree>
      <p:nvGrpSpPr>
        <p:cNvPr id="1" name=""/>
        <p:cNvGrpSpPr/>
        <p:nvPr/>
      </p:nvGrpSpPr>
      <p:grpSpPr>
        <a:xfrm>
          <a:off x="0" y="0"/>
          <a:ext cx="0" cy="0"/>
          <a:chOff x="0" y="0"/>
          <a:chExt cx="0" cy="0"/>
        </a:xfrm>
      </p:grpSpPr>
      <p:pic>
        <p:nvPicPr>
          <p:cNvPr id="2" name="Image 0" descr="/home/claude/mongo_ppt/icon_leaf.png"/>
          <p:cNvPicPr>
            <a:picLocks noChangeAspect="1"/>
          </p:cNvPicPr>
          <p:nvPr/>
        </p:nvPicPr>
        <p:blipFill>
          <a:blip r:embed="rId3"/>
          <a:stretch>
            <a:fillRect/>
          </a:stretch>
        </p:blipFill>
        <p:spPr>
          <a:xfrm>
            <a:off x="822960" y="2468880"/>
            <a:ext cx="731520" cy="731520"/>
          </a:xfrm>
          <a:prstGeom prst="rect">
            <a:avLst/>
          </a:prstGeom>
        </p:spPr>
      </p:pic>
      <p:sp>
        <p:nvSpPr>
          <p:cNvPr id="3" name="Text 0"/>
          <p:cNvSpPr/>
          <p:nvPr/>
        </p:nvSpPr>
        <p:spPr>
          <a:xfrm>
            <a:off x="822960" y="3383280"/>
            <a:ext cx="10515600"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Part 3</a:t>
            </a:r>
            <a:endParaRPr lang="en-US" sz="3800" dirty="0"/>
          </a:p>
        </p:txBody>
      </p:sp>
      <p:sp>
        <p:nvSpPr>
          <p:cNvPr id="4" name="Text 1"/>
          <p:cNvSpPr/>
          <p:nvPr/>
        </p:nvSpPr>
        <p:spPr>
          <a:xfrm>
            <a:off x="822960" y="4251960"/>
            <a:ext cx="10332720" cy="548640"/>
          </a:xfrm>
          <a:prstGeom prst="rect">
            <a:avLst/>
          </a:prstGeom>
          <a:noFill/>
          <a:ln/>
        </p:spPr>
        <p:txBody>
          <a:bodyPr wrap="square" lIns="0" tIns="0" rIns="0" bIns="0" rtlCol="0" anchor="ctr"/>
          <a:lstStyle/>
          <a:p>
            <a:pPr marL="0" indent="0">
              <a:buNone/>
            </a:pPr>
            <a:r>
              <a:rPr lang="en-US" sz="1500" dirty="0">
                <a:solidFill>
                  <a:srgbClr val="00ED64"/>
                </a:solidFill>
                <a:latin typeface="Calibri" pitchFamily="34" charset="0"/>
                <a:ea typeface="Calibri" pitchFamily="34" charset="-122"/>
                <a:cs typeface="Calibri" pitchFamily="34" charset="-120"/>
              </a:rPr>
              <a:t>Where MongoDB Fits, and Words to Know</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Real-World Use Cases</a:t>
            </a:r>
            <a:endParaRPr lang="en-US" sz="2800" dirty="0"/>
          </a:p>
        </p:txBody>
      </p:sp>
      <p:sp>
        <p:nvSpPr>
          <p:cNvPr id="3" name="Text 1"/>
          <p:cNvSpPr/>
          <p:nvPr/>
        </p:nvSpPr>
        <p:spPr>
          <a:xfrm>
            <a:off x="548640" y="1069848"/>
            <a:ext cx="10881360" cy="411480"/>
          </a:xfrm>
          <a:prstGeom prst="rect">
            <a:avLst/>
          </a:prstGeom>
          <a:noFill/>
          <a:ln/>
        </p:spPr>
        <p:txBody>
          <a:bodyPr wrap="square" lIns="0" tIns="0" rIns="0" bIns="0" rtlCol="0" anchor="ctr"/>
          <a:lstStyle/>
          <a:p>
            <a:pPr marL="0" indent="0">
              <a:buNone/>
            </a:pPr>
            <a:r>
              <a:rPr lang="en-US" sz="1350" dirty="0">
                <a:solidFill>
                  <a:srgbClr val="4C6D62"/>
                </a:solidFill>
                <a:latin typeface="Calibri" pitchFamily="34" charset="0"/>
                <a:ea typeface="Calibri" pitchFamily="34" charset="-122"/>
                <a:cs typeface="Calibri" pitchFamily="34" charset="-120"/>
              </a:rPr>
              <a:t>Places where MongoDB is a genuinely strong choice today.</a:t>
            </a:r>
            <a:endParaRPr lang="en-US" sz="1350" dirty="0"/>
          </a:p>
        </p:txBody>
      </p:sp>
      <p:sp>
        <p:nvSpPr>
          <p:cNvPr id="4" name="Shape 2"/>
          <p:cNvSpPr/>
          <p:nvPr/>
        </p:nvSpPr>
        <p:spPr>
          <a:xfrm>
            <a:off x="548640" y="1508760"/>
            <a:ext cx="3657600" cy="502920"/>
          </a:xfrm>
          <a:prstGeom prst="roundRect">
            <a:avLst>
              <a:gd name="adj" fmla="val 14545"/>
            </a:avLst>
          </a:prstGeom>
          <a:solidFill>
            <a:srgbClr val="023430"/>
          </a:solidFill>
          <a:ln/>
        </p:spPr>
      </p:sp>
      <p:sp>
        <p:nvSpPr>
          <p:cNvPr id="5" name="Text 3"/>
          <p:cNvSpPr/>
          <p:nvPr/>
        </p:nvSpPr>
        <p:spPr>
          <a:xfrm>
            <a:off x="548640" y="1508760"/>
            <a:ext cx="36576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Use Case</a:t>
            </a:r>
            <a:endParaRPr lang="en-US" sz="1400" dirty="0"/>
          </a:p>
        </p:txBody>
      </p:sp>
      <p:sp>
        <p:nvSpPr>
          <p:cNvPr id="6" name="Shape 4"/>
          <p:cNvSpPr/>
          <p:nvPr/>
        </p:nvSpPr>
        <p:spPr>
          <a:xfrm>
            <a:off x="4206240" y="1508760"/>
            <a:ext cx="7406640" cy="502920"/>
          </a:xfrm>
          <a:prstGeom prst="roundRect">
            <a:avLst>
              <a:gd name="adj" fmla="val 14545"/>
            </a:avLst>
          </a:prstGeom>
          <a:solidFill>
            <a:srgbClr val="00ED64"/>
          </a:solidFill>
          <a:ln/>
        </p:spPr>
      </p:sp>
      <p:sp>
        <p:nvSpPr>
          <p:cNvPr id="7" name="Text 5"/>
          <p:cNvSpPr/>
          <p:nvPr/>
        </p:nvSpPr>
        <p:spPr>
          <a:xfrm>
            <a:off x="4206240" y="1508760"/>
            <a:ext cx="7406640" cy="502920"/>
          </a:xfrm>
          <a:prstGeom prst="rect">
            <a:avLst/>
          </a:prstGeom>
          <a:noFill/>
          <a:ln/>
        </p:spPr>
        <p:txBody>
          <a:bodyPr wrap="square" lIns="0" tIns="0" rIns="0" bIns="0" rtlCol="0" anchor="ctr"/>
          <a:lstStyle/>
          <a:p>
            <a:pPr marL="0" indent="0" algn="ctr">
              <a:buNone/>
            </a:pPr>
            <a:r>
              <a:rPr lang="en-US" sz="1400" b="1" dirty="0">
                <a:solidFill>
                  <a:srgbClr val="023430"/>
                </a:solidFill>
                <a:latin typeface="Calibri" pitchFamily="34" charset="0"/>
                <a:ea typeface="Calibri" pitchFamily="34" charset="-122"/>
                <a:cs typeface="Calibri" pitchFamily="34" charset="-120"/>
              </a:rPr>
              <a:t>Why MongoDB Fits</a:t>
            </a:r>
            <a:endParaRPr lang="en-US" sz="1400" dirty="0"/>
          </a:p>
        </p:txBody>
      </p:sp>
      <p:sp>
        <p:nvSpPr>
          <p:cNvPr id="8" name="Shape 6"/>
          <p:cNvSpPr/>
          <p:nvPr/>
        </p:nvSpPr>
        <p:spPr>
          <a:xfrm>
            <a:off x="548640" y="2057400"/>
            <a:ext cx="3657600" cy="713232"/>
          </a:xfrm>
          <a:prstGeom prst="rect">
            <a:avLst/>
          </a:prstGeom>
          <a:solidFill>
            <a:srgbClr val="FFFFFF"/>
          </a:solidFill>
          <a:ln/>
        </p:spPr>
      </p:sp>
      <p:sp>
        <p:nvSpPr>
          <p:cNvPr id="9" name="Text 7"/>
          <p:cNvSpPr/>
          <p:nvPr/>
        </p:nvSpPr>
        <p:spPr>
          <a:xfrm>
            <a:off x="713232" y="2057400"/>
            <a:ext cx="3328416" cy="713232"/>
          </a:xfrm>
          <a:prstGeom prst="rect">
            <a:avLst/>
          </a:prstGeom>
          <a:noFill/>
          <a:ln/>
        </p:spPr>
        <p:txBody>
          <a:bodyPr wrap="square" lIns="0" tIns="0" rIns="0" bIns="0" rtlCol="0" anchor="ctr"/>
          <a:lstStyle/>
          <a:p>
            <a:pPr marL="0" indent="0">
              <a:lnSpc>
                <a:spcPct val="115000"/>
              </a:lnSpc>
              <a:buNone/>
            </a:pPr>
            <a:r>
              <a:rPr lang="en-US" sz="1250" b="1" dirty="0">
                <a:solidFill>
                  <a:srgbClr val="023430"/>
                </a:solidFill>
                <a:latin typeface="Calibri" pitchFamily="34" charset="0"/>
                <a:ea typeface="Calibri" pitchFamily="34" charset="-122"/>
                <a:cs typeface="Calibri" pitchFamily="34" charset="-120"/>
              </a:rPr>
              <a:t>Websites and blogs (CMS)</a:t>
            </a:r>
            <a:endParaRPr lang="en-US" sz="1250" dirty="0"/>
          </a:p>
        </p:txBody>
      </p:sp>
      <p:sp>
        <p:nvSpPr>
          <p:cNvPr id="10" name="Shape 8"/>
          <p:cNvSpPr/>
          <p:nvPr/>
        </p:nvSpPr>
        <p:spPr>
          <a:xfrm>
            <a:off x="4206240" y="2057400"/>
            <a:ext cx="7406640" cy="713232"/>
          </a:xfrm>
          <a:prstGeom prst="rect">
            <a:avLst/>
          </a:prstGeom>
          <a:solidFill>
            <a:srgbClr val="FFFFFF"/>
          </a:solidFill>
          <a:ln/>
        </p:spPr>
      </p:sp>
      <p:sp>
        <p:nvSpPr>
          <p:cNvPr id="11" name="Text 9"/>
          <p:cNvSpPr/>
          <p:nvPr/>
        </p:nvSpPr>
        <p:spPr>
          <a:xfrm>
            <a:off x="4370832" y="2057400"/>
            <a:ext cx="7077456" cy="713232"/>
          </a:xfrm>
          <a:prstGeom prst="rect">
            <a:avLst/>
          </a:prstGeom>
          <a:noFill/>
          <a:ln/>
        </p:spPr>
        <p:txBody>
          <a:bodyPr wrap="square" lIns="0" tIns="0" rIns="0" bIns="0" rtlCol="0" anchor="ctr"/>
          <a:lstStyle/>
          <a:p>
            <a:pPr marL="0" indent="0">
              <a:lnSpc>
                <a:spcPct val="115000"/>
              </a:lnSpc>
              <a:buNone/>
            </a:pPr>
            <a:r>
              <a:rPr lang="en-US" sz="1250" dirty="0">
                <a:solidFill>
                  <a:srgbClr val="0B2B22"/>
                </a:solidFill>
                <a:latin typeface="Calibri" pitchFamily="34" charset="0"/>
                <a:ea typeface="Calibri" pitchFamily="34" charset="-122"/>
                <a:cs typeface="Calibri" pitchFamily="34" charset="-120"/>
              </a:rPr>
              <a:t>Articles and pages naturally need different fields from each other.</a:t>
            </a:r>
            <a:endParaRPr lang="en-US" sz="1250" dirty="0"/>
          </a:p>
        </p:txBody>
      </p:sp>
      <p:sp>
        <p:nvSpPr>
          <p:cNvPr id="12" name="Shape 10"/>
          <p:cNvSpPr/>
          <p:nvPr/>
        </p:nvSpPr>
        <p:spPr>
          <a:xfrm>
            <a:off x="548640" y="2770632"/>
            <a:ext cx="3657600" cy="713232"/>
          </a:xfrm>
          <a:prstGeom prst="rect">
            <a:avLst/>
          </a:prstGeom>
          <a:solidFill>
            <a:srgbClr val="EAF3EE"/>
          </a:solidFill>
          <a:ln/>
        </p:spPr>
      </p:sp>
      <p:sp>
        <p:nvSpPr>
          <p:cNvPr id="13" name="Text 11"/>
          <p:cNvSpPr/>
          <p:nvPr/>
        </p:nvSpPr>
        <p:spPr>
          <a:xfrm>
            <a:off x="713232" y="2770632"/>
            <a:ext cx="3328416" cy="713232"/>
          </a:xfrm>
          <a:prstGeom prst="rect">
            <a:avLst/>
          </a:prstGeom>
          <a:noFill/>
          <a:ln/>
        </p:spPr>
        <p:txBody>
          <a:bodyPr wrap="square" lIns="0" tIns="0" rIns="0" bIns="0" rtlCol="0" anchor="ctr"/>
          <a:lstStyle/>
          <a:p>
            <a:pPr marL="0" indent="0">
              <a:lnSpc>
                <a:spcPct val="115000"/>
              </a:lnSpc>
              <a:buNone/>
            </a:pPr>
            <a:r>
              <a:rPr lang="en-US" sz="1250" b="1" dirty="0">
                <a:solidFill>
                  <a:srgbClr val="023430"/>
                </a:solidFill>
                <a:latin typeface="Calibri" pitchFamily="34" charset="0"/>
                <a:ea typeface="Calibri" pitchFamily="34" charset="-122"/>
                <a:cs typeface="Calibri" pitchFamily="34" charset="-120"/>
              </a:rPr>
              <a:t>Online shops (e-commerce)</a:t>
            </a:r>
            <a:endParaRPr lang="en-US" sz="1250" dirty="0"/>
          </a:p>
        </p:txBody>
      </p:sp>
      <p:sp>
        <p:nvSpPr>
          <p:cNvPr id="14" name="Shape 12"/>
          <p:cNvSpPr/>
          <p:nvPr/>
        </p:nvSpPr>
        <p:spPr>
          <a:xfrm>
            <a:off x="4206240" y="2770632"/>
            <a:ext cx="7406640" cy="713232"/>
          </a:xfrm>
          <a:prstGeom prst="rect">
            <a:avLst/>
          </a:prstGeom>
          <a:solidFill>
            <a:srgbClr val="EAF3EE"/>
          </a:solidFill>
          <a:ln/>
        </p:spPr>
      </p:sp>
      <p:sp>
        <p:nvSpPr>
          <p:cNvPr id="15" name="Text 13"/>
          <p:cNvSpPr/>
          <p:nvPr/>
        </p:nvSpPr>
        <p:spPr>
          <a:xfrm>
            <a:off x="4370832" y="2770632"/>
            <a:ext cx="7077456" cy="713232"/>
          </a:xfrm>
          <a:prstGeom prst="rect">
            <a:avLst/>
          </a:prstGeom>
          <a:noFill/>
          <a:ln/>
        </p:spPr>
        <p:txBody>
          <a:bodyPr wrap="square" lIns="0" tIns="0" rIns="0" bIns="0" rtlCol="0" anchor="ctr"/>
          <a:lstStyle/>
          <a:p>
            <a:pPr marL="0" indent="0">
              <a:lnSpc>
                <a:spcPct val="115000"/>
              </a:lnSpc>
              <a:buNone/>
            </a:pPr>
            <a:r>
              <a:rPr lang="en-US" sz="1250" dirty="0">
                <a:solidFill>
                  <a:srgbClr val="0B2B22"/>
                </a:solidFill>
                <a:latin typeface="Calibri" pitchFamily="34" charset="0"/>
                <a:ea typeface="Calibri" pitchFamily="34" charset="-122"/>
                <a:cs typeface="Calibri" pitchFamily="34" charset="-120"/>
              </a:rPr>
              <a:t>Different product types need different attributes, e.g. a shoe needs a size, a book does not.</a:t>
            </a:r>
            <a:endParaRPr lang="en-US" sz="1250" dirty="0"/>
          </a:p>
        </p:txBody>
      </p:sp>
      <p:sp>
        <p:nvSpPr>
          <p:cNvPr id="16" name="Shape 14"/>
          <p:cNvSpPr/>
          <p:nvPr/>
        </p:nvSpPr>
        <p:spPr>
          <a:xfrm>
            <a:off x="548640" y="3483864"/>
            <a:ext cx="3657600" cy="713232"/>
          </a:xfrm>
          <a:prstGeom prst="rect">
            <a:avLst/>
          </a:prstGeom>
          <a:solidFill>
            <a:srgbClr val="FFFFFF"/>
          </a:solidFill>
          <a:ln/>
        </p:spPr>
      </p:sp>
      <p:sp>
        <p:nvSpPr>
          <p:cNvPr id="17" name="Text 15"/>
          <p:cNvSpPr/>
          <p:nvPr/>
        </p:nvSpPr>
        <p:spPr>
          <a:xfrm>
            <a:off x="713232" y="3483864"/>
            <a:ext cx="3328416" cy="713232"/>
          </a:xfrm>
          <a:prstGeom prst="rect">
            <a:avLst/>
          </a:prstGeom>
          <a:noFill/>
          <a:ln/>
        </p:spPr>
        <p:txBody>
          <a:bodyPr wrap="square" lIns="0" tIns="0" rIns="0" bIns="0" rtlCol="0" anchor="ctr"/>
          <a:lstStyle/>
          <a:p>
            <a:pPr marL="0" indent="0">
              <a:lnSpc>
                <a:spcPct val="115000"/>
              </a:lnSpc>
              <a:buNone/>
            </a:pPr>
            <a:r>
              <a:rPr lang="en-US" sz="1250" b="1" dirty="0">
                <a:solidFill>
                  <a:srgbClr val="023430"/>
                </a:solidFill>
                <a:latin typeface="Calibri" pitchFamily="34" charset="0"/>
                <a:ea typeface="Calibri" pitchFamily="34" charset="-122"/>
                <a:cs typeface="Calibri" pitchFamily="34" charset="-120"/>
              </a:rPr>
              <a:t>Live dashboards</a:t>
            </a:r>
            <a:endParaRPr lang="en-US" sz="1250" dirty="0"/>
          </a:p>
        </p:txBody>
      </p:sp>
      <p:sp>
        <p:nvSpPr>
          <p:cNvPr id="18" name="Shape 16"/>
          <p:cNvSpPr/>
          <p:nvPr/>
        </p:nvSpPr>
        <p:spPr>
          <a:xfrm>
            <a:off x="4206240" y="3483864"/>
            <a:ext cx="7406640" cy="713232"/>
          </a:xfrm>
          <a:prstGeom prst="rect">
            <a:avLst/>
          </a:prstGeom>
          <a:solidFill>
            <a:srgbClr val="FFFFFF"/>
          </a:solidFill>
          <a:ln/>
        </p:spPr>
      </p:sp>
      <p:sp>
        <p:nvSpPr>
          <p:cNvPr id="19" name="Text 17"/>
          <p:cNvSpPr/>
          <p:nvPr/>
        </p:nvSpPr>
        <p:spPr>
          <a:xfrm>
            <a:off x="4370832" y="3483864"/>
            <a:ext cx="7077456" cy="713232"/>
          </a:xfrm>
          <a:prstGeom prst="rect">
            <a:avLst/>
          </a:prstGeom>
          <a:noFill/>
          <a:ln/>
        </p:spPr>
        <p:txBody>
          <a:bodyPr wrap="square" lIns="0" tIns="0" rIns="0" bIns="0" rtlCol="0" anchor="ctr"/>
          <a:lstStyle/>
          <a:p>
            <a:pPr marL="0" indent="0">
              <a:lnSpc>
                <a:spcPct val="115000"/>
              </a:lnSpc>
              <a:buNone/>
            </a:pPr>
            <a:r>
              <a:rPr lang="en-US" sz="1250" dirty="0">
                <a:solidFill>
                  <a:srgbClr val="0B2B22"/>
                </a:solidFill>
                <a:latin typeface="Calibri" pitchFamily="34" charset="0"/>
                <a:ea typeface="Calibri" pitchFamily="34" charset="-122"/>
                <a:cs typeface="Calibri" pitchFamily="34" charset="-120"/>
              </a:rPr>
              <a:t>Aggregation pipelines can total up and summarize data very quickly.</a:t>
            </a:r>
            <a:endParaRPr lang="en-US" sz="1250" dirty="0"/>
          </a:p>
        </p:txBody>
      </p:sp>
      <p:sp>
        <p:nvSpPr>
          <p:cNvPr id="20" name="Shape 18"/>
          <p:cNvSpPr/>
          <p:nvPr/>
        </p:nvSpPr>
        <p:spPr>
          <a:xfrm>
            <a:off x="548640" y="4197096"/>
            <a:ext cx="3657600" cy="713232"/>
          </a:xfrm>
          <a:prstGeom prst="rect">
            <a:avLst/>
          </a:prstGeom>
          <a:solidFill>
            <a:srgbClr val="EAF3EE"/>
          </a:solidFill>
          <a:ln/>
        </p:spPr>
      </p:sp>
      <p:sp>
        <p:nvSpPr>
          <p:cNvPr id="21" name="Text 19"/>
          <p:cNvSpPr/>
          <p:nvPr/>
        </p:nvSpPr>
        <p:spPr>
          <a:xfrm>
            <a:off x="713232" y="4197096"/>
            <a:ext cx="3328416" cy="713232"/>
          </a:xfrm>
          <a:prstGeom prst="rect">
            <a:avLst/>
          </a:prstGeom>
          <a:noFill/>
          <a:ln/>
        </p:spPr>
        <p:txBody>
          <a:bodyPr wrap="square" lIns="0" tIns="0" rIns="0" bIns="0" rtlCol="0" anchor="ctr"/>
          <a:lstStyle/>
          <a:p>
            <a:pPr marL="0" indent="0">
              <a:lnSpc>
                <a:spcPct val="115000"/>
              </a:lnSpc>
              <a:buNone/>
            </a:pPr>
            <a:r>
              <a:rPr lang="en-US" sz="1250" b="1" dirty="0">
                <a:solidFill>
                  <a:srgbClr val="023430"/>
                </a:solidFill>
                <a:latin typeface="Calibri" pitchFamily="34" charset="0"/>
                <a:ea typeface="Calibri" pitchFamily="34" charset="-122"/>
                <a:cs typeface="Calibri" pitchFamily="34" charset="-120"/>
              </a:rPr>
              <a:t>Sensors and smart devices (IoT)</a:t>
            </a:r>
            <a:endParaRPr lang="en-US" sz="1250" dirty="0"/>
          </a:p>
        </p:txBody>
      </p:sp>
      <p:sp>
        <p:nvSpPr>
          <p:cNvPr id="22" name="Shape 20"/>
          <p:cNvSpPr/>
          <p:nvPr/>
        </p:nvSpPr>
        <p:spPr>
          <a:xfrm>
            <a:off x="4206240" y="4197096"/>
            <a:ext cx="7406640" cy="713232"/>
          </a:xfrm>
          <a:prstGeom prst="rect">
            <a:avLst/>
          </a:prstGeom>
          <a:solidFill>
            <a:srgbClr val="EAF3EE"/>
          </a:solidFill>
          <a:ln/>
        </p:spPr>
      </p:sp>
      <p:sp>
        <p:nvSpPr>
          <p:cNvPr id="23" name="Text 21"/>
          <p:cNvSpPr/>
          <p:nvPr/>
        </p:nvSpPr>
        <p:spPr>
          <a:xfrm>
            <a:off x="4370832" y="4197096"/>
            <a:ext cx="7077456" cy="713232"/>
          </a:xfrm>
          <a:prstGeom prst="rect">
            <a:avLst/>
          </a:prstGeom>
          <a:noFill/>
          <a:ln/>
        </p:spPr>
        <p:txBody>
          <a:bodyPr wrap="square" lIns="0" tIns="0" rIns="0" bIns="0" rtlCol="0" anchor="ctr"/>
          <a:lstStyle/>
          <a:p>
            <a:pPr marL="0" indent="0">
              <a:lnSpc>
                <a:spcPct val="115000"/>
              </a:lnSpc>
              <a:buNone/>
            </a:pPr>
            <a:r>
              <a:rPr lang="en-US" sz="1250" dirty="0">
                <a:solidFill>
                  <a:srgbClr val="0B2B22"/>
                </a:solidFill>
                <a:latin typeface="Calibri" pitchFamily="34" charset="0"/>
                <a:ea typeface="Calibri" pitchFamily="34" charset="-122"/>
                <a:cs typeface="Calibri" pitchFamily="34" charset="-120"/>
              </a:rPr>
              <a:t>Huge amounts of data arrive fast, and the shape of each event can vary.</a:t>
            </a:r>
            <a:endParaRPr lang="en-US" sz="1250" dirty="0"/>
          </a:p>
        </p:txBody>
      </p:sp>
      <p:sp>
        <p:nvSpPr>
          <p:cNvPr id="24" name="Shape 22"/>
          <p:cNvSpPr/>
          <p:nvPr/>
        </p:nvSpPr>
        <p:spPr>
          <a:xfrm>
            <a:off x="548640" y="4910328"/>
            <a:ext cx="3657600" cy="713232"/>
          </a:xfrm>
          <a:prstGeom prst="rect">
            <a:avLst/>
          </a:prstGeom>
          <a:solidFill>
            <a:srgbClr val="FFFFFF"/>
          </a:solidFill>
          <a:ln/>
        </p:spPr>
      </p:sp>
      <p:sp>
        <p:nvSpPr>
          <p:cNvPr id="25" name="Text 23"/>
          <p:cNvSpPr/>
          <p:nvPr/>
        </p:nvSpPr>
        <p:spPr>
          <a:xfrm>
            <a:off x="713232" y="4910328"/>
            <a:ext cx="3328416" cy="713232"/>
          </a:xfrm>
          <a:prstGeom prst="rect">
            <a:avLst/>
          </a:prstGeom>
          <a:noFill/>
          <a:ln/>
        </p:spPr>
        <p:txBody>
          <a:bodyPr wrap="square" lIns="0" tIns="0" rIns="0" bIns="0" rtlCol="0" anchor="ctr"/>
          <a:lstStyle/>
          <a:p>
            <a:pPr marL="0" indent="0">
              <a:lnSpc>
                <a:spcPct val="115000"/>
              </a:lnSpc>
              <a:buNone/>
            </a:pPr>
            <a:r>
              <a:rPr lang="en-US" sz="1250" b="1" dirty="0">
                <a:solidFill>
                  <a:srgbClr val="023430"/>
                </a:solidFill>
                <a:latin typeface="Calibri" pitchFamily="34" charset="0"/>
                <a:ea typeface="Calibri" pitchFamily="34" charset="-122"/>
                <a:cs typeface="Calibri" pitchFamily="34" charset="-120"/>
              </a:rPr>
              <a:t>Mobile apps and social media</a:t>
            </a:r>
            <a:endParaRPr lang="en-US" sz="1250" dirty="0"/>
          </a:p>
        </p:txBody>
      </p:sp>
      <p:sp>
        <p:nvSpPr>
          <p:cNvPr id="26" name="Shape 24"/>
          <p:cNvSpPr/>
          <p:nvPr/>
        </p:nvSpPr>
        <p:spPr>
          <a:xfrm>
            <a:off x="4206240" y="4910328"/>
            <a:ext cx="7406640" cy="713232"/>
          </a:xfrm>
          <a:prstGeom prst="rect">
            <a:avLst/>
          </a:prstGeom>
          <a:solidFill>
            <a:srgbClr val="FFFFFF"/>
          </a:solidFill>
          <a:ln/>
        </p:spPr>
      </p:sp>
      <p:sp>
        <p:nvSpPr>
          <p:cNvPr id="27" name="Text 25"/>
          <p:cNvSpPr/>
          <p:nvPr/>
        </p:nvSpPr>
        <p:spPr>
          <a:xfrm>
            <a:off x="4370832" y="4910328"/>
            <a:ext cx="7077456" cy="713232"/>
          </a:xfrm>
          <a:prstGeom prst="rect">
            <a:avLst/>
          </a:prstGeom>
          <a:noFill/>
          <a:ln/>
        </p:spPr>
        <p:txBody>
          <a:bodyPr wrap="square" lIns="0" tIns="0" rIns="0" bIns="0" rtlCol="0" anchor="ctr"/>
          <a:lstStyle/>
          <a:p>
            <a:pPr marL="0" indent="0">
              <a:lnSpc>
                <a:spcPct val="115000"/>
              </a:lnSpc>
              <a:buNone/>
            </a:pPr>
            <a:r>
              <a:rPr lang="en-US" sz="1250" dirty="0">
                <a:solidFill>
                  <a:srgbClr val="0B2B22"/>
                </a:solidFill>
                <a:latin typeface="Calibri" pitchFamily="34" charset="0"/>
                <a:ea typeface="Calibri" pitchFamily="34" charset="-122"/>
                <a:cs typeface="Calibri" pitchFamily="34" charset="-120"/>
              </a:rPr>
              <a:t>What users create keeps changing shape constantly.</a:t>
            </a:r>
            <a:endParaRPr lang="en-US" sz="1250" dirty="0"/>
          </a:p>
        </p:txBody>
      </p:sp>
      <p:sp>
        <p:nvSpPr>
          <p:cNvPr id="28" name="Shape 26"/>
          <p:cNvSpPr/>
          <p:nvPr/>
        </p:nvSpPr>
        <p:spPr>
          <a:xfrm>
            <a:off x="548640" y="5623560"/>
            <a:ext cx="3657600" cy="713232"/>
          </a:xfrm>
          <a:prstGeom prst="rect">
            <a:avLst/>
          </a:prstGeom>
          <a:solidFill>
            <a:srgbClr val="EAF3EE"/>
          </a:solidFill>
          <a:ln/>
        </p:spPr>
      </p:sp>
      <p:sp>
        <p:nvSpPr>
          <p:cNvPr id="29" name="Text 27"/>
          <p:cNvSpPr/>
          <p:nvPr/>
        </p:nvSpPr>
        <p:spPr>
          <a:xfrm>
            <a:off x="713232" y="5623560"/>
            <a:ext cx="3328416" cy="713232"/>
          </a:xfrm>
          <a:prstGeom prst="rect">
            <a:avLst/>
          </a:prstGeom>
          <a:noFill/>
          <a:ln/>
        </p:spPr>
        <p:txBody>
          <a:bodyPr wrap="square" lIns="0" tIns="0" rIns="0" bIns="0" rtlCol="0" anchor="ctr"/>
          <a:lstStyle/>
          <a:p>
            <a:pPr marL="0" indent="0">
              <a:lnSpc>
                <a:spcPct val="115000"/>
              </a:lnSpc>
              <a:buNone/>
            </a:pPr>
            <a:r>
              <a:rPr lang="en-US" sz="1250" b="1" dirty="0">
                <a:solidFill>
                  <a:srgbClr val="023430"/>
                </a:solidFill>
                <a:latin typeface="Calibri" pitchFamily="34" charset="0"/>
                <a:ea typeface="Calibri" pitchFamily="34" charset="-122"/>
                <a:cs typeface="Calibri" pitchFamily="34" charset="-120"/>
              </a:rPr>
              <a:t>Logs and activity history</a:t>
            </a:r>
            <a:endParaRPr lang="en-US" sz="1250" dirty="0"/>
          </a:p>
        </p:txBody>
      </p:sp>
      <p:sp>
        <p:nvSpPr>
          <p:cNvPr id="30" name="Shape 28"/>
          <p:cNvSpPr/>
          <p:nvPr/>
        </p:nvSpPr>
        <p:spPr>
          <a:xfrm>
            <a:off x="4206240" y="5623560"/>
            <a:ext cx="7406640" cy="713232"/>
          </a:xfrm>
          <a:prstGeom prst="rect">
            <a:avLst/>
          </a:prstGeom>
          <a:solidFill>
            <a:srgbClr val="EAF3EE"/>
          </a:solidFill>
          <a:ln/>
        </p:spPr>
      </p:sp>
      <p:sp>
        <p:nvSpPr>
          <p:cNvPr id="31" name="Text 29"/>
          <p:cNvSpPr/>
          <p:nvPr/>
        </p:nvSpPr>
        <p:spPr>
          <a:xfrm>
            <a:off x="4370832" y="5623560"/>
            <a:ext cx="7077456" cy="713232"/>
          </a:xfrm>
          <a:prstGeom prst="rect">
            <a:avLst/>
          </a:prstGeom>
          <a:noFill/>
          <a:ln/>
        </p:spPr>
        <p:txBody>
          <a:bodyPr wrap="square" lIns="0" tIns="0" rIns="0" bIns="0" rtlCol="0" anchor="ctr"/>
          <a:lstStyle/>
          <a:p>
            <a:pPr marL="0" indent="0">
              <a:lnSpc>
                <a:spcPct val="115000"/>
              </a:lnSpc>
              <a:buNone/>
            </a:pPr>
            <a:r>
              <a:rPr lang="en-US" sz="1250" dirty="0">
                <a:solidFill>
                  <a:srgbClr val="0B2B22"/>
                </a:solidFill>
                <a:latin typeface="Calibri" pitchFamily="34" charset="0"/>
                <a:ea typeface="Calibri" pitchFamily="34" charset="-122"/>
                <a:cs typeface="Calibri" pitchFamily="34" charset="-120"/>
              </a:rPr>
              <a:t>Naturally has no fixed shape, and needs very fast saving.</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When MongoDB Is Not The Right Fit</a:t>
            </a:r>
            <a:endParaRPr lang="en-US" sz="2800" dirty="0"/>
          </a:p>
        </p:txBody>
      </p:sp>
      <p:sp>
        <p:nvSpPr>
          <p:cNvPr id="3" name="Shape 1"/>
          <p:cNvSpPr/>
          <p:nvPr/>
        </p:nvSpPr>
        <p:spPr>
          <a:xfrm>
            <a:off x="548640" y="1371600"/>
            <a:ext cx="5394960" cy="4389120"/>
          </a:xfrm>
          <a:prstGeom prst="roundRect">
            <a:avLst>
              <a:gd name="adj" fmla="val 2500"/>
            </a:avLst>
          </a:prstGeom>
          <a:solidFill>
            <a:srgbClr val="FFFFFF"/>
          </a:solidFill>
          <a:ln/>
          <a:effectLst>
            <a:outerShdw blurRad="101600" dist="38100" dir="5400000" algn="bl" rotWithShape="0">
              <a:srgbClr val="0B2B22">
                <a:alpha val="18000"/>
              </a:srgbClr>
            </a:outerShdw>
          </a:effectLst>
        </p:spPr>
      </p:sp>
      <p:sp>
        <p:nvSpPr>
          <p:cNvPr id="4" name="Shape 2"/>
          <p:cNvSpPr/>
          <p:nvPr/>
        </p:nvSpPr>
        <p:spPr>
          <a:xfrm>
            <a:off x="868680" y="1691640"/>
            <a:ext cx="548640" cy="548640"/>
          </a:xfrm>
          <a:prstGeom prst="ellipse">
            <a:avLst/>
          </a:prstGeom>
          <a:solidFill>
            <a:srgbClr val="B85042"/>
          </a:solidFill>
          <a:ln/>
        </p:spPr>
      </p:sp>
      <p:pic>
        <p:nvPicPr>
          <p:cNvPr id="5" name="Image 0" descr="/home/claude/mongo_ppt/icon_thumbsdown.png"/>
          <p:cNvPicPr>
            <a:picLocks noChangeAspect="1"/>
          </p:cNvPicPr>
          <p:nvPr/>
        </p:nvPicPr>
        <p:blipFill>
          <a:blip r:embed="rId3"/>
          <a:stretch>
            <a:fillRect/>
          </a:stretch>
        </p:blipFill>
        <p:spPr>
          <a:xfrm>
            <a:off x="1005840" y="1828800"/>
            <a:ext cx="274320" cy="274320"/>
          </a:xfrm>
          <a:prstGeom prst="rect">
            <a:avLst/>
          </a:prstGeom>
        </p:spPr>
      </p:pic>
      <p:sp>
        <p:nvSpPr>
          <p:cNvPr id="6" name="Text 3"/>
          <p:cNvSpPr/>
          <p:nvPr/>
        </p:nvSpPr>
        <p:spPr>
          <a:xfrm>
            <a:off x="1600200" y="1691640"/>
            <a:ext cx="4114800" cy="548640"/>
          </a:xfrm>
          <a:prstGeom prst="rect">
            <a:avLst/>
          </a:prstGeom>
          <a:noFill/>
          <a:ln/>
        </p:spPr>
        <p:txBody>
          <a:bodyPr wrap="square" lIns="0" tIns="0" rIns="0" bIns="0" rtlCol="0" anchor="ctr"/>
          <a:lstStyle/>
          <a:p>
            <a:pPr marL="0" indent="0">
              <a:buNone/>
            </a:pPr>
            <a:r>
              <a:rPr lang="en-US" sz="1700" b="1" dirty="0">
                <a:solidFill>
                  <a:srgbClr val="023430"/>
                </a:solidFill>
                <a:latin typeface="Calibri" pitchFamily="34" charset="0"/>
                <a:ea typeface="Calibri" pitchFamily="34" charset="-122"/>
                <a:cs typeface="Calibri" pitchFamily="34" charset="-120"/>
              </a:rPr>
              <a:t>Not The Best Fit</a:t>
            </a:r>
            <a:endParaRPr lang="en-US" sz="1700" dirty="0"/>
          </a:p>
        </p:txBody>
      </p:sp>
      <p:sp>
        <p:nvSpPr>
          <p:cNvPr id="7" name="Text 4"/>
          <p:cNvSpPr/>
          <p:nvPr/>
        </p:nvSpPr>
        <p:spPr>
          <a:xfrm>
            <a:off x="868680" y="2468880"/>
            <a:ext cx="4754880" cy="3108960"/>
          </a:xfrm>
          <a:prstGeom prst="rect">
            <a:avLst/>
          </a:prstGeom>
          <a:noFill/>
          <a:ln/>
        </p:spPr>
        <p:txBody>
          <a:bodyPr wrap="square" lIns="0" tIns="0" rIns="0" bIns="0" rtlCol="0" anchor="ctr"/>
          <a:lstStyle/>
          <a:p>
            <a:pPr marL="0" indent="0">
              <a:lnSpc>
                <a:spcPct val="132000"/>
              </a:lnSpc>
              <a:buNone/>
            </a:pPr>
            <a:r>
              <a:rPr lang="en-US" sz="1250" dirty="0">
                <a:solidFill>
                  <a:srgbClr val="0B2B22"/>
                </a:solidFill>
                <a:latin typeface="Calibri" pitchFamily="34" charset="0"/>
                <a:ea typeface="Calibri" pitchFamily="34" charset="-122"/>
                <a:cs typeface="Calibri" pitchFamily="34" charset="-120"/>
              </a:rPr>
              <a:t>Data that is naturally table-shaped and rarely changes shape — for example, financial ledgers with strict, row-by-row relationships — is often better served by a normal relational database's strict, enforced structure and mature support for joins.</a:t>
            </a:r>
            <a:endParaRPr lang="en-US" sz="1250" dirty="0"/>
          </a:p>
          <a:p>
            <a:pPr marL="0" indent="0">
              <a:lnSpc>
                <a:spcPct val="132000"/>
              </a:lnSpc>
              <a:buNone/>
            </a:pPr>
            <a:endParaRPr lang="en-US" sz="1250" dirty="0"/>
          </a:p>
          <a:p>
            <a:pPr marL="0" indent="0">
              <a:lnSpc>
                <a:spcPct val="132000"/>
              </a:lnSpc>
              <a:buNone/>
            </a:pPr>
            <a:r>
              <a:rPr lang="en-US" sz="1250" dirty="0">
                <a:solidFill>
                  <a:srgbClr val="0B2B22"/>
                </a:solidFill>
                <a:latin typeface="Calibri" pitchFamily="34" charset="0"/>
                <a:ea typeface="Calibri" pitchFamily="34" charset="-122"/>
                <a:cs typeface="Calibri" pitchFamily="34" charset="-120"/>
              </a:rPr>
              <a:t>Applications that lean heavily on complex, many-table joins with strict rules between tables have traditionally used relational databases for this exact reason.</a:t>
            </a:r>
            <a:endParaRPr lang="en-US" sz="1250" dirty="0"/>
          </a:p>
        </p:txBody>
      </p:sp>
      <p:sp>
        <p:nvSpPr>
          <p:cNvPr id="8" name="Shape 5"/>
          <p:cNvSpPr/>
          <p:nvPr/>
        </p:nvSpPr>
        <p:spPr>
          <a:xfrm>
            <a:off x="6172200" y="1371600"/>
            <a:ext cx="5440680" cy="4389120"/>
          </a:xfrm>
          <a:prstGeom prst="roundRect">
            <a:avLst>
              <a:gd name="adj" fmla="val 2500"/>
            </a:avLst>
          </a:prstGeom>
          <a:solidFill>
            <a:srgbClr val="FFFFFF"/>
          </a:solidFill>
          <a:ln/>
          <a:effectLst>
            <a:outerShdw blurRad="101600" dist="38100" dir="5400000" algn="bl" rotWithShape="0">
              <a:srgbClr val="0B2B22">
                <a:alpha val="18000"/>
              </a:srgbClr>
            </a:outerShdw>
          </a:effectLst>
        </p:spPr>
      </p:sp>
      <p:sp>
        <p:nvSpPr>
          <p:cNvPr id="9" name="Shape 6"/>
          <p:cNvSpPr/>
          <p:nvPr/>
        </p:nvSpPr>
        <p:spPr>
          <a:xfrm>
            <a:off x="6492240" y="1691640"/>
            <a:ext cx="548640" cy="548640"/>
          </a:xfrm>
          <a:prstGeom prst="ellipse">
            <a:avLst/>
          </a:prstGeom>
          <a:solidFill>
            <a:srgbClr val="00ED64"/>
          </a:solidFill>
          <a:ln/>
        </p:spPr>
      </p:sp>
      <p:pic>
        <p:nvPicPr>
          <p:cNvPr id="10" name="Image 1" descr="/home/claude/mongo_ppt/icon_thumbsup.png"/>
          <p:cNvPicPr>
            <a:picLocks noChangeAspect="1"/>
          </p:cNvPicPr>
          <p:nvPr/>
        </p:nvPicPr>
        <p:blipFill>
          <a:blip r:embed="rId4"/>
          <a:stretch>
            <a:fillRect/>
          </a:stretch>
        </p:blipFill>
        <p:spPr>
          <a:xfrm>
            <a:off x="6629400" y="1828800"/>
            <a:ext cx="274320" cy="274320"/>
          </a:xfrm>
          <a:prstGeom prst="rect">
            <a:avLst/>
          </a:prstGeom>
        </p:spPr>
      </p:pic>
      <p:sp>
        <p:nvSpPr>
          <p:cNvPr id="11" name="Text 7"/>
          <p:cNvSpPr/>
          <p:nvPr/>
        </p:nvSpPr>
        <p:spPr>
          <a:xfrm>
            <a:off x="7223760" y="1691640"/>
            <a:ext cx="4114800" cy="548640"/>
          </a:xfrm>
          <a:prstGeom prst="rect">
            <a:avLst/>
          </a:prstGeom>
          <a:noFill/>
          <a:ln/>
        </p:spPr>
        <p:txBody>
          <a:bodyPr wrap="square" lIns="0" tIns="0" rIns="0" bIns="0" rtlCol="0" anchor="ctr"/>
          <a:lstStyle/>
          <a:p>
            <a:pPr marL="0" indent="0">
              <a:buNone/>
            </a:pPr>
            <a:r>
              <a:rPr lang="en-US" sz="1700" b="1" dirty="0">
                <a:solidFill>
                  <a:srgbClr val="023430"/>
                </a:solidFill>
                <a:latin typeface="Calibri" pitchFamily="34" charset="0"/>
                <a:ea typeface="Calibri" pitchFamily="34" charset="-122"/>
                <a:cs typeface="Calibri" pitchFamily="34" charset="-120"/>
              </a:rPr>
              <a:t>The Honest Nuance</a:t>
            </a:r>
            <a:endParaRPr lang="en-US" sz="1700" dirty="0"/>
          </a:p>
        </p:txBody>
      </p:sp>
      <p:sp>
        <p:nvSpPr>
          <p:cNvPr id="12" name="Text 8"/>
          <p:cNvSpPr/>
          <p:nvPr/>
        </p:nvSpPr>
        <p:spPr>
          <a:xfrm>
            <a:off x="6492240" y="2468880"/>
            <a:ext cx="4846320" cy="3108960"/>
          </a:xfrm>
          <a:prstGeom prst="rect">
            <a:avLst/>
          </a:prstGeom>
          <a:noFill/>
          <a:ln/>
        </p:spPr>
        <p:txBody>
          <a:bodyPr wrap="square" lIns="0" tIns="0" rIns="0" bIns="0" rtlCol="0" anchor="ctr"/>
          <a:lstStyle/>
          <a:p>
            <a:pPr marL="0" indent="0">
              <a:lnSpc>
                <a:spcPct val="132000"/>
              </a:lnSpc>
              <a:buNone/>
            </a:pPr>
            <a:r>
              <a:rPr lang="en-US" sz="1250" dirty="0">
                <a:solidFill>
                  <a:srgbClr val="0B2B22"/>
                </a:solidFill>
                <a:latin typeface="Calibri" pitchFamily="34" charset="0"/>
                <a:ea typeface="Calibri" pitchFamily="34" charset="-122"/>
                <a:cs typeface="Calibri" pitchFamily="34" charset="-120"/>
              </a:rPr>
              <a:t>MongoDB has narrowed this gap a lot over time. A feature called $lookup (used in Lab 4) can join collections together, and transactions (Lab 5) allow safe, all-or-nothing multi-step saves.</a:t>
            </a:r>
            <a:endParaRPr lang="en-US" sz="1250" dirty="0"/>
          </a:p>
          <a:p>
            <a:pPr marL="0" indent="0">
              <a:lnSpc>
                <a:spcPct val="132000"/>
              </a:lnSpc>
              <a:buNone/>
            </a:pPr>
            <a:endParaRPr lang="en-US" sz="1250" dirty="0"/>
          </a:p>
          <a:p>
            <a:pPr marL="0" indent="0">
              <a:lnSpc>
                <a:spcPct val="132000"/>
              </a:lnSpc>
              <a:buNone/>
            </a:pPr>
            <a:r>
              <a:rPr lang="en-US" sz="1250" dirty="0">
                <a:solidFill>
                  <a:srgbClr val="0B2B22"/>
                </a:solidFill>
                <a:latin typeface="Calibri" pitchFamily="34" charset="0"/>
                <a:ea typeface="Calibri" pitchFamily="34" charset="-122"/>
                <a:cs typeface="Calibri" pitchFamily="34" charset="-120"/>
              </a:rPr>
              <a:t>The honest, practical guidance: MongoDB is a strong default choice for flexible, evolving, high-volume data. It is not meant to be a universal replacement for every single database out there.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Words to Know — Part 1 of 2</a:t>
            </a:r>
            <a:endParaRPr lang="en-US" sz="2800" dirty="0"/>
          </a:p>
        </p:txBody>
      </p:sp>
      <p:sp>
        <p:nvSpPr>
          <p:cNvPr id="3" name="Shape 1"/>
          <p:cNvSpPr/>
          <p:nvPr/>
        </p:nvSpPr>
        <p:spPr>
          <a:xfrm>
            <a:off x="10332720" y="457200"/>
            <a:ext cx="548640" cy="548640"/>
          </a:xfrm>
          <a:prstGeom prst="ellipse">
            <a:avLst/>
          </a:prstGeom>
          <a:solidFill>
            <a:srgbClr val="023430"/>
          </a:solidFill>
          <a:ln/>
        </p:spPr>
      </p:sp>
      <p:pic>
        <p:nvPicPr>
          <p:cNvPr id="4" name="Image 0" descr="/home/claude/mongo_ppt/icon_book_w.png"/>
          <p:cNvPicPr>
            <a:picLocks noChangeAspect="1"/>
          </p:cNvPicPr>
          <p:nvPr/>
        </p:nvPicPr>
        <p:blipFill>
          <a:blip r:embed="rId3"/>
          <a:stretch>
            <a:fillRect/>
          </a:stretch>
        </p:blipFill>
        <p:spPr>
          <a:xfrm>
            <a:off x="10469880" y="594360"/>
            <a:ext cx="274320" cy="274320"/>
          </a:xfrm>
          <a:prstGeom prst="rect">
            <a:avLst/>
          </a:prstGeom>
        </p:spPr>
      </p:pic>
      <p:sp>
        <p:nvSpPr>
          <p:cNvPr id="5" name="Shape 2"/>
          <p:cNvSpPr/>
          <p:nvPr/>
        </p:nvSpPr>
        <p:spPr>
          <a:xfrm>
            <a:off x="548640" y="1463040"/>
            <a:ext cx="2743200" cy="502920"/>
          </a:xfrm>
          <a:prstGeom prst="roundRect">
            <a:avLst>
              <a:gd name="adj" fmla="val 14545"/>
            </a:avLst>
          </a:prstGeom>
          <a:solidFill>
            <a:srgbClr val="023430"/>
          </a:solidFill>
          <a:ln/>
        </p:spPr>
      </p:sp>
      <p:sp>
        <p:nvSpPr>
          <p:cNvPr id="6" name="Text 3"/>
          <p:cNvSpPr/>
          <p:nvPr/>
        </p:nvSpPr>
        <p:spPr>
          <a:xfrm>
            <a:off x="548640" y="1463040"/>
            <a:ext cx="27432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Term</a:t>
            </a:r>
            <a:endParaRPr lang="en-US" sz="1400" dirty="0"/>
          </a:p>
        </p:txBody>
      </p:sp>
      <p:sp>
        <p:nvSpPr>
          <p:cNvPr id="7" name="Shape 4"/>
          <p:cNvSpPr/>
          <p:nvPr/>
        </p:nvSpPr>
        <p:spPr>
          <a:xfrm>
            <a:off x="3291840" y="1463040"/>
            <a:ext cx="8321040" cy="502920"/>
          </a:xfrm>
          <a:prstGeom prst="roundRect">
            <a:avLst>
              <a:gd name="adj" fmla="val 14545"/>
            </a:avLst>
          </a:prstGeom>
          <a:solidFill>
            <a:srgbClr val="00ED64"/>
          </a:solidFill>
          <a:ln/>
        </p:spPr>
      </p:sp>
      <p:sp>
        <p:nvSpPr>
          <p:cNvPr id="8" name="Text 5"/>
          <p:cNvSpPr/>
          <p:nvPr/>
        </p:nvSpPr>
        <p:spPr>
          <a:xfrm>
            <a:off x="3291840" y="1463040"/>
            <a:ext cx="8321040" cy="502920"/>
          </a:xfrm>
          <a:prstGeom prst="rect">
            <a:avLst/>
          </a:prstGeom>
          <a:noFill/>
          <a:ln/>
        </p:spPr>
        <p:txBody>
          <a:bodyPr wrap="square" lIns="0" tIns="0" rIns="0" bIns="0" rtlCol="0" anchor="ctr"/>
          <a:lstStyle/>
          <a:p>
            <a:pPr marL="0" indent="0" algn="ctr">
              <a:buNone/>
            </a:pPr>
            <a:r>
              <a:rPr lang="en-US" sz="1400" b="1" dirty="0">
                <a:solidFill>
                  <a:srgbClr val="023430"/>
                </a:solidFill>
                <a:latin typeface="Calibri" pitchFamily="34" charset="0"/>
                <a:ea typeface="Calibri" pitchFamily="34" charset="-122"/>
                <a:cs typeface="Calibri" pitchFamily="34" charset="-120"/>
              </a:rPr>
              <a:t>Meaning</a:t>
            </a:r>
            <a:endParaRPr lang="en-US" sz="1400" dirty="0"/>
          </a:p>
        </p:txBody>
      </p:sp>
      <p:sp>
        <p:nvSpPr>
          <p:cNvPr id="9" name="Shape 6"/>
          <p:cNvSpPr/>
          <p:nvPr/>
        </p:nvSpPr>
        <p:spPr>
          <a:xfrm>
            <a:off x="548640" y="2011680"/>
            <a:ext cx="2743200" cy="749808"/>
          </a:xfrm>
          <a:prstGeom prst="rect">
            <a:avLst/>
          </a:prstGeom>
          <a:solidFill>
            <a:srgbClr val="FFFFFF"/>
          </a:solidFill>
          <a:ln/>
        </p:spPr>
      </p:sp>
      <p:sp>
        <p:nvSpPr>
          <p:cNvPr id="10" name="Text 7"/>
          <p:cNvSpPr/>
          <p:nvPr/>
        </p:nvSpPr>
        <p:spPr>
          <a:xfrm>
            <a:off x="713232" y="2011680"/>
            <a:ext cx="2414016" cy="749808"/>
          </a:xfrm>
          <a:prstGeom prst="rect">
            <a:avLst/>
          </a:prstGeom>
          <a:noFill/>
          <a:ln/>
        </p:spPr>
        <p:txBody>
          <a:bodyPr wrap="square" lIns="0" tIns="0" rIns="0" bIns="0" rtlCol="0" anchor="ctr"/>
          <a:lstStyle/>
          <a:p>
            <a:pPr marL="0" indent="0">
              <a:lnSpc>
                <a:spcPct val="115000"/>
              </a:lnSpc>
              <a:buNone/>
            </a:pPr>
            <a:r>
              <a:rPr lang="en-US" sz="1300" b="1" dirty="0">
                <a:solidFill>
                  <a:srgbClr val="023430"/>
                </a:solidFill>
                <a:latin typeface="Calibri" pitchFamily="34" charset="0"/>
                <a:ea typeface="Calibri" pitchFamily="34" charset="-122"/>
                <a:cs typeface="Calibri" pitchFamily="34" charset="-120"/>
              </a:rPr>
              <a:t>Document</a:t>
            </a:r>
            <a:endParaRPr lang="en-US" sz="1300" dirty="0"/>
          </a:p>
        </p:txBody>
      </p:sp>
      <p:sp>
        <p:nvSpPr>
          <p:cNvPr id="11" name="Shape 8"/>
          <p:cNvSpPr/>
          <p:nvPr/>
        </p:nvSpPr>
        <p:spPr>
          <a:xfrm>
            <a:off x="3291840" y="2011680"/>
            <a:ext cx="8321040" cy="749808"/>
          </a:xfrm>
          <a:prstGeom prst="rect">
            <a:avLst/>
          </a:prstGeom>
          <a:solidFill>
            <a:srgbClr val="FFFFFF"/>
          </a:solidFill>
          <a:ln/>
        </p:spPr>
      </p:sp>
      <p:sp>
        <p:nvSpPr>
          <p:cNvPr id="12" name="Text 9"/>
          <p:cNvSpPr/>
          <p:nvPr/>
        </p:nvSpPr>
        <p:spPr>
          <a:xfrm>
            <a:off x="3456432" y="2011680"/>
            <a:ext cx="7991856" cy="749808"/>
          </a:xfrm>
          <a:prstGeom prst="rect">
            <a:avLst/>
          </a:prstGeom>
          <a:noFill/>
          <a:ln/>
        </p:spPr>
        <p:txBody>
          <a:bodyPr wrap="square" lIns="0" tIns="0" rIns="0" bIns="0" rtlCol="0" anchor="ctr"/>
          <a:lstStyle/>
          <a:p>
            <a:pPr marL="0" indent="0">
              <a:lnSpc>
                <a:spcPct val="115000"/>
              </a:lnSpc>
              <a:buNone/>
            </a:pPr>
            <a:r>
              <a:rPr lang="en-US" sz="1300" dirty="0">
                <a:solidFill>
                  <a:srgbClr val="0B2B22"/>
                </a:solidFill>
                <a:latin typeface="Calibri" pitchFamily="34" charset="0"/>
                <a:ea typeface="Calibri" pitchFamily="34" charset="-122"/>
                <a:cs typeface="Calibri" pitchFamily="34" charset="-120"/>
              </a:rPr>
              <a:t>One record, stored as a set of key-value fields.</a:t>
            </a:r>
            <a:endParaRPr lang="en-US" sz="1300" dirty="0"/>
          </a:p>
        </p:txBody>
      </p:sp>
      <p:sp>
        <p:nvSpPr>
          <p:cNvPr id="13" name="Shape 10"/>
          <p:cNvSpPr/>
          <p:nvPr/>
        </p:nvSpPr>
        <p:spPr>
          <a:xfrm>
            <a:off x="548640" y="2761488"/>
            <a:ext cx="2743200" cy="749808"/>
          </a:xfrm>
          <a:prstGeom prst="rect">
            <a:avLst/>
          </a:prstGeom>
          <a:solidFill>
            <a:srgbClr val="EAF3EE"/>
          </a:solidFill>
          <a:ln/>
        </p:spPr>
      </p:sp>
      <p:sp>
        <p:nvSpPr>
          <p:cNvPr id="14" name="Text 11"/>
          <p:cNvSpPr/>
          <p:nvPr/>
        </p:nvSpPr>
        <p:spPr>
          <a:xfrm>
            <a:off x="713232" y="2761488"/>
            <a:ext cx="2414016" cy="749808"/>
          </a:xfrm>
          <a:prstGeom prst="rect">
            <a:avLst/>
          </a:prstGeom>
          <a:noFill/>
          <a:ln/>
        </p:spPr>
        <p:txBody>
          <a:bodyPr wrap="square" lIns="0" tIns="0" rIns="0" bIns="0" rtlCol="0" anchor="ctr"/>
          <a:lstStyle/>
          <a:p>
            <a:pPr marL="0" indent="0">
              <a:lnSpc>
                <a:spcPct val="115000"/>
              </a:lnSpc>
              <a:buNone/>
            </a:pPr>
            <a:r>
              <a:rPr lang="en-US" sz="1300" b="1" dirty="0">
                <a:solidFill>
                  <a:srgbClr val="023430"/>
                </a:solidFill>
                <a:latin typeface="Calibri" pitchFamily="34" charset="0"/>
                <a:ea typeface="Calibri" pitchFamily="34" charset="-122"/>
                <a:cs typeface="Calibri" pitchFamily="34" charset="-120"/>
              </a:rPr>
              <a:t>Collection</a:t>
            </a:r>
            <a:endParaRPr lang="en-US" sz="1300" dirty="0"/>
          </a:p>
        </p:txBody>
      </p:sp>
      <p:sp>
        <p:nvSpPr>
          <p:cNvPr id="15" name="Shape 12"/>
          <p:cNvSpPr/>
          <p:nvPr/>
        </p:nvSpPr>
        <p:spPr>
          <a:xfrm>
            <a:off x="3291840" y="2761488"/>
            <a:ext cx="8321040" cy="749808"/>
          </a:xfrm>
          <a:prstGeom prst="rect">
            <a:avLst/>
          </a:prstGeom>
          <a:solidFill>
            <a:srgbClr val="EAF3EE"/>
          </a:solidFill>
          <a:ln/>
        </p:spPr>
      </p:sp>
      <p:sp>
        <p:nvSpPr>
          <p:cNvPr id="16" name="Text 13"/>
          <p:cNvSpPr/>
          <p:nvPr/>
        </p:nvSpPr>
        <p:spPr>
          <a:xfrm>
            <a:off x="3456432" y="2761488"/>
            <a:ext cx="7991856" cy="749808"/>
          </a:xfrm>
          <a:prstGeom prst="rect">
            <a:avLst/>
          </a:prstGeom>
          <a:noFill/>
          <a:ln/>
        </p:spPr>
        <p:txBody>
          <a:bodyPr wrap="square" lIns="0" tIns="0" rIns="0" bIns="0" rtlCol="0" anchor="ctr"/>
          <a:lstStyle/>
          <a:p>
            <a:pPr marL="0" indent="0">
              <a:lnSpc>
                <a:spcPct val="115000"/>
              </a:lnSpc>
              <a:buNone/>
            </a:pPr>
            <a:r>
              <a:rPr lang="en-US" sz="1300" dirty="0">
                <a:solidFill>
                  <a:srgbClr val="0B2B22"/>
                </a:solidFill>
                <a:latin typeface="Calibri" pitchFamily="34" charset="0"/>
                <a:ea typeface="Calibri" pitchFamily="34" charset="-122"/>
                <a:cs typeface="Calibri" pitchFamily="34" charset="-120"/>
              </a:rPr>
              <a:t>A group of related documents (like a SQL table, but with no fixed columns).</a:t>
            </a:r>
            <a:endParaRPr lang="en-US" sz="1300" dirty="0"/>
          </a:p>
        </p:txBody>
      </p:sp>
      <p:sp>
        <p:nvSpPr>
          <p:cNvPr id="17" name="Shape 14"/>
          <p:cNvSpPr/>
          <p:nvPr/>
        </p:nvSpPr>
        <p:spPr>
          <a:xfrm>
            <a:off x="548640" y="3511296"/>
            <a:ext cx="2743200" cy="749808"/>
          </a:xfrm>
          <a:prstGeom prst="rect">
            <a:avLst/>
          </a:prstGeom>
          <a:solidFill>
            <a:srgbClr val="FFFFFF"/>
          </a:solidFill>
          <a:ln/>
        </p:spPr>
      </p:sp>
      <p:sp>
        <p:nvSpPr>
          <p:cNvPr id="18" name="Text 15"/>
          <p:cNvSpPr/>
          <p:nvPr/>
        </p:nvSpPr>
        <p:spPr>
          <a:xfrm>
            <a:off x="713232" y="3511296"/>
            <a:ext cx="2414016" cy="749808"/>
          </a:xfrm>
          <a:prstGeom prst="rect">
            <a:avLst/>
          </a:prstGeom>
          <a:noFill/>
          <a:ln/>
        </p:spPr>
        <p:txBody>
          <a:bodyPr wrap="square" lIns="0" tIns="0" rIns="0" bIns="0" rtlCol="0" anchor="ctr"/>
          <a:lstStyle/>
          <a:p>
            <a:pPr marL="0" indent="0">
              <a:lnSpc>
                <a:spcPct val="115000"/>
              </a:lnSpc>
              <a:buNone/>
            </a:pPr>
            <a:r>
              <a:rPr lang="en-US" sz="1300" b="1" dirty="0">
                <a:solidFill>
                  <a:srgbClr val="023430"/>
                </a:solidFill>
                <a:latin typeface="Calibri" pitchFamily="34" charset="0"/>
                <a:ea typeface="Calibri" pitchFamily="34" charset="-122"/>
                <a:cs typeface="Calibri" pitchFamily="34" charset="-120"/>
              </a:rPr>
              <a:t>Database</a:t>
            </a:r>
            <a:endParaRPr lang="en-US" sz="1300" dirty="0"/>
          </a:p>
        </p:txBody>
      </p:sp>
      <p:sp>
        <p:nvSpPr>
          <p:cNvPr id="19" name="Shape 16"/>
          <p:cNvSpPr/>
          <p:nvPr/>
        </p:nvSpPr>
        <p:spPr>
          <a:xfrm>
            <a:off x="3291840" y="3511296"/>
            <a:ext cx="8321040" cy="749808"/>
          </a:xfrm>
          <a:prstGeom prst="rect">
            <a:avLst/>
          </a:prstGeom>
          <a:solidFill>
            <a:srgbClr val="FFFFFF"/>
          </a:solidFill>
          <a:ln/>
        </p:spPr>
      </p:sp>
      <p:sp>
        <p:nvSpPr>
          <p:cNvPr id="20" name="Text 17"/>
          <p:cNvSpPr/>
          <p:nvPr/>
        </p:nvSpPr>
        <p:spPr>
          <a:xfrm>
            <a:off x="3456432" y="3511296"/>
            <a:ext cx="7991856" cy="749808"/>
          </a:xfrm>
          <a:prstGeom prst="rect">
            <a:avLst/>
          </a:prstGeom>
          <a:noFill/>
          <a:ln/>
        </p:spPr>
        <p:txBody>
          <a:bodyPr wrap="square" lIns="0" tIns="0" rIns="0" bIns="0" rtlCol="0" anchor="ctr"/>
          <a:lstStyle/>
          <a:p>
            <a:pPr marL="0" indent="0">
              <a:lnSpc>
                <a:spcPct val="115000"/>
              </a:lnSpc>
              <a:buNone/>
            </a:pPr>
            <a:r>
              <a:rPr lang="en-US" sz="1300" dirty="0">
                <a:solidFill>
                  <a:srgbClr val="0B2B22"/>
                </a:solidFill>
                <a:latin typeface="Calibri" pitchFamily="34" charset="0"/>
                <a:ea typeface="Calibri" pitchFamily="34" charset="-122"/>
                <a:cs typeface="Calibri" pitchFamily="34" charset="-120"/>
              </a:rPr>
              <a:t>A named container that holds one or more collections.</a:t>
            </a:r>
            <a:endParaRPr lang="en-US" sz="1300" dirty="0"/>
          </a:p>
        </p:txBody>
      </p:sp>
      <p:sp>
        <p:nvSpPr>
          <p:cNvPr id="21" name="Shape 18"/>
          <p:cNvSpPr/>
          <p:nvPr/>
        </p:nvSpPr>
        <p:spPr>
          <a:xfrm>
            <a:off x="548640" y="4261104"/>
            <a:ext cx="2743200" cy="749808"/>
          </a:xfrm>
          <a:prstGeom prst="rect">
            <a:avLst/>
          </a:prstGeom>
          <a:solidFill>
            <a:srgbClr val="EAF3EE"/>
          </a:solidFill>
          <a:ln/>
        </p:spPr>
      </p:sp>
      <p:sp>
        <p:nvSpPr>
          <p:cNvPr id="22" name="Text 19"/>
          <p:cNvSpPr/>
          <p:nvPr/>
        </p:nvSpPr>
        <p:spPr>
          <a:xfrm>
            <a:off x="713232" y="4261104"/>
            <a:ext cx="2414016" cy="749808"/>
          </a:xfrm>
          <a:prstGeom prst="rect">
            <a:avLst/>
          </a:prstGeom>
          <a:noFill/>
          <a:ln/>
        </p:spPr>
        <p:txBody>
          <a:bodyPr wrap="square" lIns="0" tIns="0" rIns="0" bIns="0" rtlCol="0" anchor="ctr"/>
          <a:lstStyle/>
          <a:p>
            <a:pPr marL="0" indent="0">
              <a:lnSpc>
                <a:spcPct val="115000"/>
              </a:lnSpc>
              <a:buNone/>
            </a:pPr>
            <a:r>
              <a:rPr lang="en-US" sz="1300" b="1" dirty="0">
                <a:solidFill>
                  <a:srgbClr val="023430"/>
                </a:solidFill>
                <a:latin typeface="Calibri" pitchFamily="34" charset="0"/>
                <a:ea typeface="Calibri" pitchFamily="34" charset="-122"/>
                <a:cs typeface="Calibri" pitchFamily="34" charset="-120"/>
              </a:rPr>
              <a:t>BSON</a:t>
            </a:r>
            <a:endParaRPr lang="en-US" sz="1300" dirty="0"/>
          </a:p>
        </p:txBody>
      </p:sp>
      <p:sp>
        <p:nvSpPr>
          <p:cNvPr id="23" name="Shape 20"/>
          <p:cNvSpPr/>
          <p:nvPr/>
        </p:nvSpPr>
        <p:spPr>
          <a:xfrm>
            <a:off x="3291840" y="4261104"/>
            <a:ext cx="8321040" cy="749808"/>
          </a:xfrm>
          <a:prstGeom prst="rect">
            <a:avLst/>
          </a:prstGeom>
          <a:solidFill>
            <a:srgbClr val="EAF3EE"/>
          </a:solidFill>
          <a:ln/>
        </p:spPr>
      </p:sp>
      <p:sp>
        <p:nvSpPr>
          <p:cNvPr id="24" name="Text 21"/>
          <p:cNvSpPr/>
          <p:nvPr/>
        </p:nvSpPr>
        <p:spPr>
          <a:xfrm>
            <a:off x="3456432" y="4261104"/>
            <a:ext cx="7991856" cy="749808"/>
          </a:xfrm>
          <a:prstGeom prst="rect">
            <a:avLst/>
          </a:prstGeom>
          <a:noFill/>
          <a:ln/>
        </p:spPr>
        <p:txBody>
          <a:bodyPr wrap="square" lIns="0" tIns="0" rIns="0" bIns="0" rtlCol="0" anchor="ctr"/>
          <a:lstStyle/>
          <a:p>
            <a:pPr marL="0" indent="0">
              <a:lnSpc>
                <a:spcPct val="115000"/>
              </a:lnSpc>
              <a:buNone/>
            </a:pPr>
            <a:r>
              <a:rPr lang="en-US" sz="1300" dirty="0">
                <a:solidFill>
                  <a:srgbClr val="0B2B22"/>
                </a:solidFill>
                <a:latin typeface="Calibri" pitchFamily="34" charset="0"/>
                <a:ea typeface="Calibri" pitchFamily="34" charset="-122"/>
                <a:cs typeface="Calibri" pitchFamily="34" charset="-120"/>
              </a:rPr>
              <a:t>The binary format documents are actually stored in on disk.</a:t>
            </a:r>
            <a:endParaRPr lang="en-US" sz="1300" dirty="0"/>
          </a:p>
        </p:txBody>
      </p:sp>
      <p:sp>
        <p:nvSpPr>
          <p:cNvPr id="25" name="Shape 22"/>
          <p:cNvSpPr/>
          <p:nvPr/>
        </p:nvSpPr>
        <p:spPr>
          <a:xfrm>
            <a:off x="548640" y="5010912"/>
            <a:ext cx="2743200" cy="749808"/>
          </a:xfrm>
          <a:prstGeom prst="rect">
            <a:avLst/>
          </a:prstGeom>
          <a:solidFill>
            <a:srgbClr val="FFFFFF"/>
          </a:solidFill>
          <a:ln/>
        </p:spPr>
      </p:sp>
      <p:sp>
        <p:nvSpPr>
          <p:cNvPr id="26" name="Text 23"/>
          <p:cNvSpPr/>
          <p:nvPr/>
        </p:nvSpPr>
        <p:spPr>
          <a:xfrm>
            <a:off x="713232" y="5010912"/>
            <a:ext cx="2414016" cy="749808"/>
          </a:xfrm>
          <a:prstGeom prst="rect">
            <a:avLst/>
          </a:prstGeom>
          <a:noFill/>
          <a:ln/>
        </p:spPr>
        <p:txBody>
          <a:bodyPr wrap="square" lIns="0" tIns="0" rIns="0" bIns="0" rtlCol="0" anchor="ctr"/>
          <a:lstStyle/>
          <a:p>
            <a:pPr marL="0" indent="0">
              <a:lnSpc>
                <a:spcPct val="115000"/>
              </a:lnSpc>
              <a:buNone/>
            </a:pPr>
            <a:r>
              <a:rPr lang="en-US" sz="1300" b="1" dirty="0">
                <a:solidFill>
                  <a:srgbClr val="023430"/>
                </a:solidFill>
                <a:latin typeface="Calibri" pitchFamily="34" charset="0"/>
                <a:ea typeface="Calibri" pitchFamily="34" charset="-122"/>
                <a:cs typeface="Calibri" pitchFamily="34" charset="-120"/>
              </a:rPr>
              <a:t>_id</a:t>
            </a:r>
            <a:endParaRPr lang="en-US" sz="1300" dirty="0"/>
          </a:p>
        </p:txBody>
      </p:sp>
      <p:sp>
        <p:nvSpPr>
          <p:cNvPr id="27" name="Shape 24"/>
          <p:cNvSpPr/>
          <p:nvPr/>
        </p:nvSpPr>
        <p:spPr>
          <a:xfrm>
            <a:off x="3291840" y="5010912"/>
            <a:ext cx="8321040" cy="749808"/>
          </a:xfrm>
          <a:prstGeom prst="rect">
            <a:avLst/>
          </a:prstGeom>
          <a:solidFill>
            <a:srgbClr val="FFFFFF"/>
          </a:solidFill>
          <a:ln/>
        </p:spPr>
      </p:sp>
      <p:sp>
        <p:nvSpPr>
          <p:cNvPr id="28" name="Text 25"/>
          <p:cNvSpPr/>
          <p:nvPr/>
        </p:nvSpPr>
        <p:spPr>
          <a:xfrm>
            <a:off x="3456432" y="5010912"/>
            <a:ext cx="7991856" cy="749808"/>
          </a:xfrm>
          <a:prstGeom prst="rect">
            <a:avLst/>
          </a:prstGeom>
          <a:noFill/>
          <a:ln/>
        </p:spPr>
        <p:txBody>
          <a:bodyPr wrap="square" lIns="0" tIns="0" rIns="0" bIns="0" rtlCol="0" anchor="ctr"/>
          <a:lstStyle/>
          <a:p>
            <a:pPr marL="0" indent="0">
              <a:lnSpc>
                <a:spcPct val="115000"/>
              </a:lnSpc>
              <a:buNone/>
            </a:pPr>
            <a:r>
              <a:rPr lang="en-US" sz="1300" dirty="0">
                <a:solidFill>
                  <a:srgbClr val="0B2B22"/>
                </a:solidFill>
                <a:latin typeface="Calibri" pitchFamily="34" charset="0"/>
                <a:ea typeface="Calibri" pitchFamily="34" charset="-122"/>
                <a:cs typeface="Calibri" pitchFamily="34" charset="-120"/>
              </a:rPr>
              <a:t>The unique, automatically-created identifier every document receives.</a:t>
            </a:r>
            <a:endParaRPr lang="en-US" sz="1300" dirty="0"/>
          </a:p>
        </p:txBody>
      </p:sp>
      <p:sp>
        <p:nvSpPr>
          <p:cNvPr id="29" name="Shape 26"/>
          <p:cNvSpPr/>
          <p:nvPr/>
        </p:nvSpPr>
        <p:spPr>
          <a:xfrm>
            <a:off x="548640" y="5760720"/>
            <a:ext cx="2743200" cy="749808"/>
          </a:xfrm>
          <a:prstGeom prst="rect">
            <a:avLst/>
          </a:prstGeom>
          <a:solidFill>
            <a:srgbClr val="EAF3EE"/>
          </a:solidFill>
          <a:ln/>
        </p:spPr>
      </p:sp>
      <p:sp>
        <p:nvSpPr>
          <p:cNvPr id="30" name="Text 27"/>
          <p:cNvSpPr/>
          <p:nvPr/>
        </p:nvSpPr>
        <p:spPr>
          <a:xfrm>
            <a:off x="713232" y="5760720"/>
            <a:ext cx="2414016" cy="749808"/>
          </a:xfrm>
          <a:prstGeom prst="rect">
            <a:avLst/>
          </a:prstGeom>
          <a:noFill/>
          <a:ln/>
        </p:spPr>
        <p:txBody>
          <a:bodyPr wrap="square" lIns="0" tIns="0" rIns="0" bIns="0" rtlCol="0" anchor="ctr"/>
          <a:lstStyle/>
          <a:p>
            <a:pPr marL="0" indent="0">
              <a:lnSpc>
                <a:spcPct val="115000"/>
              </a:lnSpc>
              <a:buNone/>
            </a:pPr>
            <a:r>
              <a:rPr lang="en-US" sz="1300" b="1" dirty="0">
                <a:solidFill>
                  <a:srgbClr val="023430"/>
                </a:solidFill>
                <a:latin typeface="Calibri" pitchFamily="34" charset="0"/>
                <a:ea typeface="Calibri" pitchFamily="34" charset="-122"/>
                <a:cs typeface="Calibri" pitchFamily="34" charset="-120"/>
              </a:rPr>
              <a:t>Embedding</a:t>
            </a:r>
            <a:endParaRPr lang="en-US" sz="1300" dirty="0"/>
          </a:p>
        </p:txBody>
      </p:sp>
      <p:sp>
        <p:nvSpPr>
          <p:cNvPr id="31" name="Shape 28"/>
          <p:cNvSpPr/>
          <p:nvPr/>
        </p:nvSpPr>
        <p:spPr>
          <a:xfrm>
            <a:off x="3291840" y="5760720"/>
            <a:ext cx="8321040" cy="749808"/>
          </a:xfrm>
          <a:prstGeom prst="rect">
            <a:avLst/>
          </a:prstGeom>
          <a:solidFill>
            <a:srgbClr val="EAF3EE"/>
          </a:solidFill>
          <a:ln/>
        </p:spPr>
      </p:sp>
      <p:sp>
        <p:nvSpPr>
          <p:cNvPr id="32" name="Text 29"/>
          <p:cNvSpPr/>
          <p:nvPr/>
        </p:nvSpPr>
        <p:spPr>
          <a:xfrm>
            <a:off x="3456432" y="5760720"/>
            <a:ext cx="7991856" cy="749808"/>
          </a:xfrm>
          <a:prstGeom prst="rect">
            <a:avLst/>
          </a:prstGeom>
          <a:noFill/>
          <a:ln/>
        </p:spPr>
        <p:txBody>
          <a:bodyPr wrap="square" lIns="0" tIns="0" rIns="0" bIns="0" rtlCol="0" anchor="ctr"/>
          <a:lstStyle/>
          <a:p>
            <a:pPr marL="0" indent="0">
              <a:lnSpc>
                <a:spcPct val="115000"/>
              </a:lnSpc>
              <a:buNone/>
            </a:pPr>
            <a:r>
              <a:rPr lang="en-US" sz="1300" dirty="0">
                <a:solidFill>
                  <a:srgbClr val="0B2B22"/>
                </a:solidFill>
                <a:latin typeface="Calibri" pitchFamily="34" charset="0"/>
                <a:ea typeface="Calibri" pitchFamily="34" charset="-122"/>
                <a:cs typeface="Calibri" pitchFamily="34" charset="-120"/>
              </a:rPr>
              <a:t>Nesting related data inside one single document.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Words to Know — Part 2 of 2</a:t>
            </a:r>
            <a:endParaRPr lang="en-US" sz="2800" dirty="0"/>
          </a:p>
        </p:txBody>
      </p:sp>
      <p:sp>
        <p:nvSpPr>
          <p:cNvPr id="3" name="Shape 1"/>
          <p:cNvSpPr/>
          <p:nvPr/>
        </p:nvSpPr>
        <p:spPr>
          <a:xfrm>
            <a:off x="10332720" y="457200"/>
            <a:ext cx="548640" cy="548640"/>
          </a:xfrm>
          <a:prstGeom prst="ellipse">
            <a:avLst/>
          </a:prstGeom>
          <a:solidFill>
            <a:srgbClr val="023430"/>
          </a:solidFill>
          <a:ln/>
        </p:spPr>
      </p:sp>
      <p:pic>
        <p:nvPicPr>
          <p:cNvPr id="4" name="Image 0" descr="/home/claude/mongo_ppt/icon_book_w.png"/>
          <p:cNvPicPr>
            <a:picLocks noChangeAspect="1"/>
          </p:cNvPicPr>
          <p:nvPr/>
        </p:nvPicPr>
        <p:blipFill>
          <a:blip r:embed="rId3"/>
          <a:stretch>
            <a:fillRect/>
          </a:stretch>
        </p:blipFill>
        <p:spPr>
          <a:xfrm>
            <a:off x="10469880" y="594360"/>
            <a:ext cx="274320" cy="274320"/>
          </a:xfrm>
          <a:prstGeom prst="rect">
            <a:avLst/>
          </a:prstGeom>
        </p:spPr>
      </p:pic>
      <p:sp>
        <p:nvSpPr>
          <p:cNvPr id="5" name="Shape 2"/>
          <p:cNvSpPr/>
          <p:nvPr/>
        </p:nvSpPr>
        <p:spPr>
          <a:xfrm>
            <a:off x="548640" y="1463040"/>
            <a:ext cx="2743200" cy="502920"/>
          </a:xfrm>
          <a:prstGeom prst="roundRect">
            <a:avLst>
              <a:gd name="adj" fmla="val 14545"/>
            </a:avLst>
          </a:prstGeom>
          <a:solidFill>
            <a:srgbClr val="023430"/>
          </a:solidFill>
          <a:ln/>
        </p:spPr>
      </p:sp>
      <p:sp>
        <p:nvSpPr>
          <p:cNvPr id="6" name="Text 3"/>
          <p:cNvSpPr/>
          <p:nvPr/>
        </p:nvSpPr>
        <p:spPr>
          <a:xfrm>
            <a:off x="548640" y="1463040"/>
            <a:ext cx="27432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Term</a:t>
            </a:r>
            <a:endParaRPr lang="en-US" sz="1400" dirty="0"/>
          </a:p>
        </p:txBody>
      </p:sp>
      <p:sp>
        <p:nvSpPr>
          <p:cNvPr id="7" name="Shape 4"/>
          <p:cNvSpPr/>
          <p:nvPr/>
        </p:nvSpPr>
        <p:spPr>
          <a:xfrm>
            <a:off x="3291840" y="1463040"/>
            <a:ext cx="8321040" cy="502920"/>
          </a:xfrm>
          <a:prstGeom prst="roundRect">
            <a:avLst>
              <a:gd name="adj" fmla="val 14545"/>
            </a:avLst>
          </a:prstGeom>
          <a:solidFill>
            <a:srgbClr val="00ED64"/>
          </a:solidFill>
          <a:ln/>
        </p:spPr>
      </p:sp>
      <p:sp>
        <p:nvSpPr>
          <p:cNvPr id="8" name="Text 5"/>
          <p:cNvSpPr/>
          <p:nvPr/>
        </p:nvSpPr>
        <p:spPr>
          <a:xfrm>
            <a:off x="3291840" y="1463040"/>
            <a:ext cx="8321040" cy="502920"/>
          </a:xfrm>
          <a:prstGeom prst="rect">
            <a:avLst/>
          </a:prstGeom>
          <a:noFill/>
          <a:ln/>
        </p:spPr>
        <p:txBody>
          <a:bodyPr wrap="square" lIns="0" tIns="0" rIns="0" bIns="0" rtlCol="0" anchor="ctr"/>
          <a:lstStyle/>
          <a:p>
            <a:pPr marL="0" indent="0" algn="ctr">
              <a:buNone/>
            </a:pPr>
            <a:r>
              <a:rPr lang="en-US" sz="1400" b="1" dirty="0">
                <a:solidFill>
                  <a:srgbClr val="023430"/>
                </a:solidFill>
                <a:latin typeface="Calibri" pitchFamily="34" charset="0"/>
                <a:ea typeface="Calibri" pitchFamily="34" charset="-122"/>
                <a:cs typeface="Calibri" pitchFamily="34" charset="-120"/>
              </a:rPr>
              <a:t>Meaning</a:t>
            </a:r>
            <a:endParaRPr lang="en-US" sz="1400" dirty="0"/>
          </a:p>
        </p:txBody>
      </p:sp>
      <p:sp>
        <p:nvSpPr>
          <p:cNvPr id="9" name="Shape 6"/>
          <p:cNvSpPr/>
          <p:nvPr/>
        </p:nvSpPr>
        <p:spPr>
          <a:xfrm>
            <a:off x="548640" y="2011680"/>
            <a:ext cx="2743200" cy="749808"/>
          </a:xfrm>
          <a:prstGeom prst="rect">
            <a:avLst/>
          </a:prstGeom>
          <a:solidFill>
            <a:srgbClr val="FFFFFF"/>
          </a:solidFill>
          <a:ln/>
        </p:spPr>
      </p:sp>
      <p:sp>
        <p:nvSpPr>
          <p:cNvPr id="10" name="Text 7"/>
          <p:cNvSpPr/>
          <p:nvPr/>
        </p:nvSpPr>
        <p:spPr>
          <a:xfrm>
            <a:off x="713232" y="2011680"/>
            <a:ext cx="2414016" cy="749808"/>
          </a:xfrm>
          <a:prstGeom prst="rect">
            <a:avLst/>
          </a:prstGeom>
          <a:noFill/>
          <a:ln/>
        </p:spPr>
        <p:txBody>
          <a:bodyPr wrap="square" lIns="0" tIns="0" rIns="0" bIns="0" rtlCol="0" anchor="ctr"/>
          <a:lstStyle/>
          <a:p>
            <a:pPr marL="0" indent="0">
              <a:lnSpc>
                <a:spcPct val="115000"/>
              </a:lnSpc>
              <a:buNone/>
            </a:pPr>
            <a:r>
              <a:rPr lang="en-US" sz="1300" b="1" dirty="0">
                <a:solidFill>
                  <a:srgbClr val="023430"/>
                </a:solidFill>
                <a:latin typeface="Calibri" pitchFamily="34" charset="0"/>
                <a:ea typeface="Calibri" pitchFamily="34" charset="-122"/>
                <a:cs typeface="Calibri" pitchFamily="34" charset="-120"/>
              </a:rPr>
              <a:t>Referencing</a:t>
            </a:r>
            <a:endParaRPr lang="en-US" sz="1300" dirty="0"/>
          </a:p>
        </p:txBody>
      </p:sp>
      <p:sp>
        <p:nvSpPr>
          <p:cNvPr id="11" name="Shape 8"/>
          <p:cNvSpPr/>
          <p:nvPr/>
        </p:nvSpPr>
        <p:spPr>
          <a:xfrm>
            <a:off x="3291840" y="2011680"/>
            <a:ext cx="8321040" cy="749808"/>
          </a:xfrm>
          <a:prstGeom prst="rect">
            <a:avLst/>
          </a:prstGeom>
          <a:solidFill>
            <a:srgbClr val="FFFFFF"/>
          </a:solidFill>
          <a:ln/>
        </p:spPr>
      </p:sp>
      <p:sp>
        <p:nvSpPr>
          <p:cNvPr id="12" name="Text 9"/>
          <p:cNvSpPr/>
          <p:nvPr/>
        </p:nvSpPr>
        <p:spPr>
          <a:xfrm>
            <a:off x="3456432" y="2011680"/>
            <a:ext cx="7991856" cy="749808"/>
          </a:xfrm>
          <a:prstGeom prst="rect">
            <a:avLst/>
          </a:prstGeom>
          <a:noFill/>
          <a:ln/>
        </p:spPr>
        <p:txBody>
          <a:bodyPr wrap="square" lIns="0" tIns="0" rIns="0" bIns="0" rtlCol="0" anchor="ctr"/>
          <a:lstStyle/>
          <a:p>
            <a:pPr marL="0" indent="0">
              <a:lnSpc>
                <a:spcPct val="115000"/>
              </a:lnSpc>
              <a:buNone/>
            </a:pPr>
            <a:r>
              <a:rPr lang="en-US" sz="1300" dirty="0">
                <a:solidFill>
                  <a:srgbClr val="0B2B22"/>
                </a:solidFill>
                <a:latin typeface="Calibri" pitchFamily="34" charset="0"/>
                <a:ea typeface="Calibri" pitchFamily="34" charset="-122"/>
                <a:cs typeface="Calibri" pitchFamily="34" charset="-120"/>
              </a:rPr>
              <a:t>Linking to related data by storing its _id, instead of nesting it.</a:t>
            </a:r>
            <a:endParaRPr lang="en-US" sz="1300" dirty="0"/>
          </a:p>
        </p:txBody>
      </p:sp>
      <p:sp>
        <p:nvSpPr>
          <p:cNvPr id="13" name="Shape 10"/>
          <p:cNvSpPr/>
          <p:nvPr/>
        </p:nvSpPr>
        <p:spPr>
          <a:xfrm>
            <a:off x="548640" y="2761488"/>
            <a:ext cx="2743200" cy="749808"/>
          </a:xfrm>
          <a:prstGeom prst="rect">
            <a:avLst/>
          </a:prstGeom>
          <a:solidFill>
            <a:srgbClr val="EAF3EE"/>
          </a:solidFill>
          <a:ln/>
        </p:spPr>
      </p:sp>
      <p:sp>
        <p:nvSpPr>
          <p:cNvPr id="14" name="Text 11"/>
          <p:cNvSpPr/>
          <p:nvPr/>
        </p:nvSpPr>
        <p:spPr>
          <a:xfrm>
            <a:off x="713232" y="2761488"/>
            <a:ext cx="2414016" cy="749808"/>
          </a:xfrm>
          <a:prstGeom prst="rect">
            <a:avLst/>
          </a:prstGeom>
          <a:noFill/>
          <a:ln/>
        </p:spPr>
        <p:txBody>
          <a:bodyPr wrap="square" lIns="0" tIns="0" rIns="0" bIns="0" rtlCol="0" anchor="ctr"/>
          <a:lstStyle/>
          <a:p>
            <a:pPr marL="0" indent="0">
              <a:lnSpc>
                <a:spcPct val="115000"/>
              </a:lnSpc>
              <a:buNone/>
            </a:pPr>
            <a:r>
              <a:rPr lang="en-US" sz="1300" b="1" dirty="0">
                <a:solidFill>
                  <a:srgbClr val="023430"/>
                </a:solidFill>
                <a:latin typeface="Calibri" pitchFamily="34" charset="0"/>
                <a:ea typeface="Calibri" pitchFamily="34" charset="-122"/>
                <a:cs typeface="Calibri" pitchFamily="34" charset="-120"/>
              </a:rPr>
              <a:t>Sharding</a:t>
            </a:r>
            <a:endParaRPr lang="en-US" sz="1300" dirty="0"/>
          </a:p>
        </p:txBody>
      </p:sp>
      <p:sp>
        <p:nvSpPr>
          <p:cNvPr id="15" name="Shape 12"/>
          <p:cNvSpPr/>
          <p:nvPr/>
        </p:nvSpPr>
        <p:spPr>
          <a:xfrm>
            <a:off x="3291840" y="2761488"/>
            <a:ext cx="8321040" cy="749808"/>
          </a:xfrm>
          <a:prstGeom prst="rect">
            <a:avLst/>
          </a:prstGeom>
          <a:solidFill>
            <a:srgbClr val="EAF3EE"/>
          </a:solidFill>
          <a:ln/>
        </p:spPr>
      </p:sp>
      <p:sp>
        <p:nvSpPr>
          <p:cNvPr id="16" name="Text 13"/>
          <p:cNvSpPr/>
          <p:nvPr/>
        </p:nvSpPr>
        <p:spPr>
          <a:xfrm>
            <a:off x="3456432" y="2761488"/>
            <a:ext cx="7991856" cy="749808"/>
          </a:xfrm>
          <a:prstGeom prst="rect">
            <a:avLst/>
          </a:prstGeom>
          <a:noFill/>
          <a:ln/>
        </p:spPr>
        <p:txBody>
          <a:bodyPr wrap="square" lIns="0" tIns="0" rIns="0" bIns="0" rtlCol="0" anchor="ctr"/>
          <a:lstStyle/>
          <a:p>
            <a:pPr marL="0" indent="0">
              <a:lnSpc>
                <a:spcPct val="115000"/>
              </a:lnSpc>
              <a:buNone/>
            </a:pPr>
            <a:r>
              <a:rPr lang="en-US" sz="1300" dirty="0">
                <a:solidFill>
                  <a:srgbClr val="0B2B22"/>
                </a:solidFill>
                <a:latin typeface="Calibri" pitchFamily="34" charset="0"/>
                <a:ea typeface="Calibri" pitchFamily="34" charset="-122"/>
                <a:cs typeface="Calibri" pitchFamily="34" charset="-120"/>
              </a:rPr>
              <a:t>Splitting one collection across multiple servers.</a:t>
            </a:r>
            <a:endParaRPr lang="en-US" sz="1300" dirty="0"/>
          </a:p>
        </p:txBody>
      </p:sp>
      <p:sp>
        <p:nvSpPr>
          <p:cNvPr id="17" name="Shape 14"/>
          <p:cNvSpPr/>
          <p:nvPr/>
        </p:nvSpPr>
        <p:spPr>
          <a:xfrm>
            <a:off x="548640" y="3511296"/>
            <a:ext cx="2743200" cy="749808"/>
          </a:xfrm>
          <a:prstGeom prst="rect">
            <a:avLst/>
          </a:prstGeom>
          <a:solidFill>
            <a:srgbClr val="FFFFFF"/>
          </a:solidFill>
          <a:ln/>
        </p:spPr>
      </p:sp>
      <p:sp>
        <p:nvSpPr>
          <p:cNvPr id="18" name="Text 15"/>
          <p:cNvSpPr/>
          <p:nvPr/>
        </p:nvSpPr>
        <p:spPr>
          <a:xfrm>
            <a:off x="713232" y="3511296"/>
            <a:ext cx="2414016" cy="749808"/>
          </a:xfrm>
          <a:prstGeom prst="rect">
            <a:avLst/>
          </a:prstGeom>
          <a:noFill/>
          <a:ln/>
        </p:spPr>
        <p:txBody>
          <a:bodyPr wrap="square" lIns="0" tIns="0" rIns="0" bIns="0" rtlCol="0" anchor="ctr"/>
          <a:lstStyle/>
          <a:p>
            <a:pPr marL="0" indent="0">
              <a:lnSpc>
                <a:spcPct val="115000"/>
              </a:lnSpc>
              <a:buNone/>
            </a:pPr>
            <a:r>
              <a:rPr lang="en-US" sz="1300" b="1" dirty="0">
                <a:solidFill>
                  <a:srgbClr val="023430"/>
                </a:solidFill>
                <a:latin typeface="Calibri" pitchFamily="34" charset="0"/>
                <a:ea typeface="Calibri" pitchFamily="34" charset="-122"/>
                <a:cs typeface="Calibri" pitchFamily="34" charset="-120"/>
              </a:rPr>
              <a:t>Replica Set</a:t>
            </a:r>
            <a:endParaRPr lang="en-US" sz="1300" dirty="0"/>
          </a:p>
        </p:txBody>
      </p:sp>
      <p:sp>
        <p:nvSpPr>
          <p:cNvPr id="19" name="Shape 16"/>
          <p:cNvSpPr/>
          <p:nvPr/>
        </p:nvSpPr>
        <p:spPr>
          <a:xfrm>
            <a:off x="3291840" y="3511296"/>
            <a:ext cx="8321040" cy="749808"/>
          </a:xfrm>
          <a:prstGeom prst="rect">
            <a:avLst/>
          </a:prstGeom>
          <a:solidFill>
            <a:srgbClr val="FFFFFF"/>
          </a:solidFill>
          <a:ln/>
        </p:spPr>
      </p:sp>
      <p:sp>
        <p:nvSpPr>
          <p:cNvPr id="20" name="Text 17"/>
          <p:cNvSpPr/>
          <p:nvPr/>
        </p:nvSpPr>
        <p:spPr>
          <a:xfrm>
            <a:off x="3456432" y="3511296"/>
            <a:ext cx="7991856" cy="749808"/>
          </a:xfrm>
          <a:prstGeom prst="rect">
            <a:avLst/>
          </a:prstGeom>
          <a:noFill/>
          <a:ln/>
        </p:spPr>
        <p:txBody>
          <a:bodyPr wrap="square" lIns="0" tIns="0" rIns="0" bIns="0" rtlCol="0" anchor="ctr"/>
          <a:lstStyle/>
          <a:p>
            <a:pPr marL="0" indent="0">
              <a:lnSpc>
                <a:spcPct val="115000"/>
              </a:lnSpc>
              <a:buNone/>
            </a:pPr>
            <a:r>
              <a:rPr lang="en-US" sz="1300" dirty="0">
                <a:solidFill>
                  <a:srgbClr val="0B2B22"/>
                </a:solidFill>
                <a:latin typeface="Calibri" pitchFamily="34" charset="0"/>
                <a:ea typeface="Calibri" pitchFamily="34" charset="-122"/>
                <a:cs typeface="Calibri" pitchFamily="34" charset="-120"/>
              </a:rPr>
              <a:t>A group of servers holding synced copies of the same data.</a:t>
            </a:r>
            <a:endParaRPr lang="en-US" sz="1300" dirty="0"/>
          </a:p>
        </p:txBody>
      </p:sp>
      <p:sp>
        <p:nvSpPr>
          <p:cNvPr id="21" name="Shape 18"/>
          <p:cNvSpPr/>
          <p:nvPr/>
        </p:nvSpPr>
        <p:spPr>
          <a:xfrm>
            <a:off x="548640" y="4261104"/>
            <a:ext cx="2743200" cy="749808"/>
          </a:xfrm>
          <a:prstGeom prst="rect">
            <a:avLst/>
          </a:prstGeom>
          <a:solidFill>
            <a:srgbClr val="EAF3EE"/>
          </a:solidFill>
          <a:ln/>
        </p:spPr>
      </p:sp>
      <p:sp>
        <p:nvSpPr>
          <p:cNvPr id="22" name="Text 19"/>
          <p:cNvSpPr/>
          <p:nvPr/>
        </p:nvSpPr>
        <p:spPr>
          <a:xfrm>
            <a:off x="713232" y="4261104"/>
            <a:ext cx="2414016" cy="749808"/>
          </a:xfrm>
          <a:prstGeom prst="rect">
            <a:avLst/>
          </a:prstGeom>
          <a:noFill/>
          <a:ln/>
        </p:spPr>
        <p:txBody>
          <a:bodyPr wrap="square" lIns="0" tIns="0" rIns="0" bIns="0" rtlCol="0" anchor="ctr"/>
          <a:lstStyle/>
          <a:p>
            <a:pPr marL="0" indent="0">
              <a:lnSpc>
                <a:spcPct val="115000"/>
              </a:lnSpc>
              <a:buNone/>
            </a:pPr>
            <a:r>
              <a:rPr lang="en-US" sz="1300" b="1" dirty="0">
                <a:solidFill>
                  <a:srgbClr val="023430"/>
                </a:solidFill>
                <a:latin typeface="Calibri" pitchFamily="34" charset="0"/>
                <a:ea typeface="Calibri" pitchFamily="34" charset="-122"/>
                <a:cs typeface="Calibri" pitchFamily="34" charset="-120"/>
              </a:rPr>
              <a:t>Aggregation Pipeline</a:t>
            </a:r>
            <a:endParaRPr lang="en-US" sz="1300" dirty="0"/>
          </a:p>
        </p:txBody>
      </p:sp>
      <p:sp>
        <p:nvSpPr>
          <p:cNvPr id="23" name="Shape 20"/>
          <p:cNvSpPr/>
          <p:nvPr/>
        </p:nvSpPr>
        <p:spPr>
          <a:xfrm>
            <a:off x="3291840" y="4261104"/>
            <a:ext cx="8321040" cy="749808"/>
          </a:xfrm>
          <a:prstGeom prst="rect">
            <a:avLst/>
          </a:prstGeom>
          <a:solidFill>
            <a:srgbClr val="EAF3EE"/>
          </a:solidFill>
          <a:ln/>
        </p:spPr>
      </p:sp>
      <p:sp>
        <p:nvSpPr>
          <p:cNvPr id="24" name="Text 21"/>
          <p:cNvSpPr/>
          <p:nvPr/>
        </p:nvSpPr>
        <p:spPr>
          <a:xfrm>
            <a:off x="3456432" y="4261104"/>
            <a:ext cx="7991856" cy="749808"/>
          </a:xfrm>
          <a:prstGeom prst="rect">
            <a:avLst/>
          </a:prstGeom>
          <a:noFill/>
          <a:ln/>
        </p:spPr>
        <p:txBody>
          <a:bodyPr wrap="square" lIns="0" tIns="0" rIns="0" bIns="0" rtlCol="0" anchor="ctr"/>
          <a:lstStyle/>
          <a:p>
            <a:pPr marL="0" indent="0">
              <a:lnSpc>
                <a:spcPct val="115000"/>
              </a:lnSpc>
              <a:buNone/>
            </a:pPr>
            <a:r>
              <a:rPr lang="en-US" sz="1300" dirty="0">
                <a:solidFill>
                  <a:srgbClr val="0B2B22"/>
                </a:solidFill>
                <a:latin typeface="Calibri" pitchFamily="34" charset="0"/>
                <a:ea typeface="Calibri" pitchFamily="34" charset="-122"/>
                <a:cs typeface="Calibri" pitchFamily="34" charset="-120"/>
              </a:rPr>
              <a:t>A sequence of stages that transform data inside the database.</a:t>
            </a:r>
            <a:endParaRPr lang="en-US" sz="1300" dirty="0"/>
          </a:p>
        </p:txBody>
      </p:sp>
      <p:sp>
        <p:nvSpPr>
          <p:cNvPr id="25" name="Shape 22"/>
          <p:cNvSpPr/>
          <p:nvPr/>
        </p:nvSpPr>
        <p:spPr>
          <a:xfrm>
            <a:off x="548640" y="5010912"/>
            <a:ext cx="2743200" cy="749808"/>
          </a:xfrm>
          <a:prstGeom prst="rect">
            <a:avLst/>
          </a:prstGeom>
          <a:solidFill>
            <a:srgbClr val="FFFFFF"/>
          </a:solidFill>
          <a:ln/>
        </p:spPr>
      </p:sp>
      <p:sp>
        <p:nvSpPr>
          <p:cNvPr id="26" name="Text 23"/>
          <p:cNvSpPr/>
          <p:nvPr/>
        </p:nvSpPr>
        <p:spPr>
          <a:xfrm>
            <a:off x="713232" y="5010912"/>
            <a:ext cx="2414016" cy="749808"/>
          </a:xfrm>
          <a:prstGeom prst="rect">
            <a:avLst/>
          </a:prstGeom>
          <a:noFill/>
          <a:ln/>
        </p:spPr>
        <p:txBody>
          <a:bodyPr wrap="square" lIns="0" tIns="0" rIns="0" bIns="0" rtlCol="0" anchor="ctr"/>
          <a:lstStyle/>
          <a:p>
            <a:pPr marL="0" indent="0">
              <a:lnSpc>
                <a:spcPct val="115000"/>
              </a:lnSpc>
              <a:buNone/>
            </a:pPr>
            <a:r>
              <a:rPr lang="en-US" sz="1300" b="1" dirty="0">
                <a:solidFill>
                  <a:srgbClr val="023430"/>
                </a:solidFill>
                <a:latin typeface="Calibri" pitchFamily="34" charset="0"/>
                <a:ea typeface="Calibri" pitchFamily="34" charset="-122"/>
                <a:cs typeface="Calibri" pitchFamily="34" charset="-120"/>
              </a:rPr>
              <a:t>Index</a:t>
            </a:r>
            <a:endParaRPr lang="en-US" sz="1300" dirty="0"/>
          </a:p>
        </p:txBody>
      </p:sp>
      <p:sp>
        <p:nvSpPr>
          <p:cNvPr id="27" name="Shape 24"/>
          <p:cNvSpPr/>
          <p:nvPr/>
        </p:nvSpPr>
        <p:spPr>
          <a:xfrm>
            <a:off x="3291840" y="5010912"/>
            <a:ext cx="8321040" cy="749808"/>
          </a:xfrm>
          <a:prstGeom prst="rect">
            <a:avLst/>
          </a:prstGeom>
          <a:solidFill>
            <a:srgbClr val="FFFFFF"/>
          </a:solidFill>
          <a:ln/>
        </p:spPr>
      </p:sp>
      <p:sp>
        <p:nvSpPr>
          <p:cNvPr id="28" name="Text 25"/>
          <p:cNvSpPr/>
          <p:nvPr/>
        </p:nvSpPr>
        <p:spPr>
          <a:xfrm>
            <a:off x="3456432" y="5010912"/>
            <a:ext cx="7991856" cy="749808"/>
          </a:xfrm>
          <a:prstGeom prst="rect">
            <a:avLst/>
          </a:prstGeom>
          <a:noFill/>
          <a:ln/>
        </p:spPr>
        <p:txBody>
          <a:bodyPr wrap="square" lIns="0" tIns="0" rIns="0" bIns="0" rtlCol="0" anchor="ctr"/>
          <a:lstStyle/>
          <a:p>
            <a:pPr marL="0" indent="0">
              <a:lnSpc>
                <a:spcPct val="115000"/>
              </a:lnSpc>
              <a:buNone/>
            </a:pPr>
            <a:r>
              <a:rPr lang="en-US" sz="1300" dirty="0">
                <a:solidFill>
                  <a:srgbClr val="0B2B22"/>
                </a:solidFill>
                <a:latin typeface="Calibri" pitchFamily="34" charset="0"/>
                <a:ea typeface="Calibri" pitchFamily="34" charset="-122"/>
                <a:cs typeface="Calibri" pitchFamily="34" charset="-120"/>
              </a:rPr>
              <a:t>A lookup structure that speeds up searches, like a book's index.</a:t>
            </a:r>
            <a:endParaRPr lang="en-US" sz="1300" dirty="0"/>
          </a:p>
        </p:txBody>
      </p:sp>
      <p:sp>
        <p:nvSpPr>
          <p:cNvPr id="29" name="Shape 26"/>
          <p:cNvSpPr/>
          <p:nvPr/>
        </p:nvSpPr>
        <p:spPr>
          <a:xfrm>
            <a:off x="548640" y="5760720"/>
            <a:ext cx="2743200" cy="749808"/>
          </a:xfrm>
          <a:prstGeom prst="rect">
            <a:avLst/>
          </a:prstGeom>
          <a:solidFill>
            <a:srgbClr val="EAF3EE"/>
          </a:solidFill>
          <a:ln/>
        </p:spPr>
      </p:sp>
      <p:sp>
        <p:nvSpPr>
          <p:cNvPr id="30" name="Text 27"/>
          <p:cNvSpPr/>
          <p:nvPr/>
        </p:nvSpPr>
        <p:spPr>
          <a:xfrm>
            <a:off x="713232" y="5760720"/>
            <a:ext cx="2414016" cy="749808"/>
          </a:xfrm>
          <a:prstGeom prst="rect">
            <a:avLst/>
          </a:prstGeom>
          <a:noFill/>
          <a:ln/>
        </p:spPr>
        <p:txBody>
          <a:bodyPr wrap="square" lIns="0" tIns="0" rIns="0" bIns="0" rtlCol="0" anchor="ctr"/>
          <a:lstStyle/>
          <a:p>
            <a:pPr marL="0" indent="0">
              <a:lnSpc>
                <a:spcPct val="115000"/>
              </a:lnSpc>
              <a:buNone/>
            </a:pPr>
            <a:r>
              <a:rPr lang="en-US" sz="1300" b="1" dirty="0">
                <a:solidFill>
                  <a:srgbClr val="023430"/>
                </a:solidFill>
                <a:latin typeface="Calibri" pitchFamily="34" charset="0"/>
                <a:ea typeface="Calibri" pitchFamily="34" charset="-122"/>
                <a:cs typeface="Calibri" pitchFamily="34" charset="-120"/>
              </a:rPr>
              <a:t>ACID Transaction</a:t>
            </a:r>
            <a:endParaRPr lang="en-US" sz="1300" dirty="0"/>
          </a:p>
        </p:txBody>
      </p:sp>
      <p:sp>
        <p:nvSpPr>
          <p:cNvPr id="31" name="Shape 28"/>
          <p:cNvSpPr/>
          <p:nvPr/>
        </p:nvSpPr>
        <p:spPr>
          <a:xfrm>
            <a:off x="3291840" y="5760720"/>
            <a:ext cx="8321040" cy="749808"/>
          </a:xfrm>
          <a:prstGeom prst="rect">
            <a:avLst/>
          </a:prstGeom>
          <a:solidFill>
            <a:srgbClr val="EAF3EE"/>
          </a:solidFill>
          <a:ln/>
        </p:spPr>
      </p:sp>
      <p:sp>
        <p:nvSpPr>
          <p:cNvPr id="32" name="Text 29"/>
          <p:cNvSpPr/>
          <p:nvPr/>
        </p:nvSpPr>
        <p:spPr>
          <a:xfrm>
            <a:off x="3456432" y="5760720"/>
            <a:ext cx="7991856" cy="749808"/>
          </a:xfrm>
          <a:prstGeom prst="rect">
            <a:avLst/>
          </a:prstGeom>
          <a:noFill/>
          <a:ln/>
        </p:spPr>
        <p:txBody>
          <a:bodyPr wrap="square" lIns="0" tIns="0" rIns="0" bIns="0" rtlCol="0" anchor="ctr"/>
          <a:lstStyle/>
          <a:p>
            <a:pPr marL="0" indent="0">
              <a:lnSpc>
                <a:spcPct val="115000"/>
              </a:lnSpc>
              <a:buNone/>
            </a:pPr>
            <a:r>
              <a:rPr lang="en-US" sz="1300" dirty="0">
                <a:solidFill>
                  <a:srgbClr val="0B2B22"/>
                </a:solidFill>
                <a:latin typeface="Calibri" pitchFamily="34" charset="0"/>
                <a:ea typeface="Calibri" pitchFamily="34" charset="-122"/>
                <a:cs typeface="Calibri" pitchFamily="34" charset="-120"/>
              </a:rPr>
              <a:t>A group of writes that succeed or fail together, as one single unit.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23430"/>
        </a:solidFill>
        <a:effectLst/>
      </p:bgPr>
    </p:bg>
    <p:spTree>
      <p:nvGrpSpPr>
        <p:cNvPr id="1" name=""/>
        <p:cNvGrpSpPr/>
        <p:nvPr/>
      </p:nvGrpSpPr>
      <p:grpSpPr>
        <a:xfrm>
          <a:off x="0" y="0"/>
          <a:ext cx="0" cy="0"/>
          <a:chOff x="0" y="0"/>
          <a:chExt cx="0" cy="0"/>
        </a:xfrm>
      </p:grpSpPr>
      <p:pic>
        <p:nvPicPr>
          <p:cNvPr id="2" name="Image 0" descr="/home/claude/mongo_ppt/icon_leaf.png"/>
          <p:cNvPicPr>
            <a:picLocks noChangeAspect="1"/>
          </p:cNvPicPr>
          <p:nvPr/>
        </p:nvPicPr>
        <p:blipFill>
          <a:blip r:embed="rId3"/>
          <a:stretch>
            <a:fillRect/>
          </a:stretch>
        </p:blipFill>
        <p:spPr>
          <a:xfrm>
            <a:off x="822960" y="2468880"/>
            <a:ext cx="731520" cy="731520"/>
          </a:xfrm>
          <a:prstGeom prst="rect">
            <a:avLst/>
          </a:prstGeom>
        </p:spPr>
      </p:pic>
      <p:sp>
        <p:nvSpPr>
          <p:cNvPr id="3" name="Text 0"/>
          <p:cNvSpPr/>
          <p:nvPr/>
        </p:nvSpPr>
        <p:spPr>
          <a:xfrm>
            <a:off x="822960" y="3383280"/>
            <a:ext cx="10515600"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Part 4</a:t>
            </a:r>
            <a:endParaRPr lang="en-US" sz="3800" dirty="0"/>
          </a:p>
        </p:txBody>
      </p:sp>
      <p:sp>
        <p:nvSpPr>
          <p:cNvPr id="4" name="Text 1"/>
          <p:cNvSpPr/>
          <p:nvPr/>
        </p:nvSpPr>
        <p:spPr>
          <a:xfrm>
            <a:off x="822960" y="4251960"/>
            <a:ext cx="10332720" cy="548640"/>
          </a:xfrm>
          <a:prstGeom prst="rect">
            <a:avLst/>
          </a:prstGeom>
          <a:noFill/>
          <a:ln/>
        </p:spPr>
        <p:txBody>
          <a:bodyPr wrap="square" lIns="0" tIns="0" rIns="0" bIns="0" rtlCol="0" anchor="ctr"/>
          <a:lstStyle/>
          <a:p>
            <a:pPr marL="0" indent="0">
              <a:buNone/>
            </a:pPr>
            <a:r>
              <a:rPr lang="en-US" sz="1500" dirty="0">
                <a:solidFill>
                  <a:srgbClr val="00ED64"/>
                </a:solidFill>
                <a:latin typeface="Calibri" pitchFamily="34" charset="0"/>
                <a:ea typeface="Calibri" pitchFamily="34" charset="-122"/>
                <a:cs typeface="Calibri" pitchFamily="34" charset="-120"/>
              </a:rPr>
              <a:t>Setup, the Lab Roadmap, and Getting Started</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Getting Set Up — Steps 1 to 4</a:t>
            </a:r>
            <a:endParaRPr lang="en-US" sz="2800" dirty="0"/>
          </a:p>
        </p:txBody>
      </p:sp>
      <p:sp>
        <p:nvSpPr>
          <p:cNvPr id="3" name="Text 1"/>
          <p:cNvSpPr/>
          <p:nvPr/>
        </p:nvSpPr>
        <p:spPr>
          <a:xfrm>
            <a:off x="548640" y="1069848"/>
            <a:ext cx="10881360" cy="411480"/>
          </a:xfrm>
          <a:prstGeom prst="rect">
            <a:avLst/>
          </a:prstGeom>
          <a:noFill/>
          <a:ln/>
        </p:spPr>
        <p:txBody>
          <a:bodyPr wrap="square" lIns="0" tIns="0" rIns="0" bIns="0" rtlCol="0" anchor="ctr"/>
          <a:lstStyle/>
          <a:p>
            <a:pPr marL="0" indent="0">
              <a:buNone/>
            </a:pPr>
            <a:r>
              <a:rPr lang="en-US" sz="1350" dirty="0">
                <a:solidFill>
                  <a:srgbClr val="4C6D62"/>
                </a:solidFill>
                <a:latin typeface="Calibri" pitchFamily="34" charset="0"/>
                <a:ea typeface="Calibri" pitchFamily="34" charset="-122"/>
                <a:cs typeface="Calibri" pitchFamily="34" charset="-120"/>
              </a:rPr>
              <a:t>Do these once, in this exact order, before you open Lab 1. Each step needs the one before it.</a:t>
            </a:r>
            <a:endParaRPr lang="en-US" sz="1350" dirty="0"/>
          </a:p>
        </p:txBody>
      </p:sp>
      <p:sp>
        <p:nvSpPr>
          <p:cNvPr id="4" name="Shape 2"/>
          <p:cNvSpPr/>
          <p:nvPr/>
        </p:nvSpPr>
        <p:spPr>
          <a:xfrm>
            <a:off x="548640" y="1737360"/>
            <a:ext cx="5394960" cy="1965960"/>
          </a:xfrm>
          <a:prstGeom prst="roundRect">
            <a:avLst>
              <a:gd name="adj" fmla="val 4651"/>
            </a:avLst>
          </a:prstGeom>
          <a:solidFill>
            <a:srgbClr val="FFFFFF"/>
          </a:solidFill>
          <a:ln/>
          <a:effectLst>
            <a:outerShdw blurRad="101600" dist="38100" dir="5400000" algn="bl" rotWithShape="0">
              <a:srgbClr val="0B2B22">
                <a:alpha val="18000"/>
              </a:srgbClr>
            </a:outerShdw>
          </a:effectLst>
        </p:spPr>
      </p:sp>
      <p:pic>
        <p:nvPicPr>
          <p:cNvPr id="5" name="Image 0" descr="/home/claude/mongo_ppt/icon_cloud.png"/>
          <p:cNvPicPr>
            <a:picLocks noChangeAspect="1"/>
          </p:cNvPicPr>
          <p:nvPr/>
        </p:nvPicPr>
        <p:blipFill>
          <a:blip r:embed="rId3"/>
          <a:stretch>
            <a:fillRect/>
          </a:stretch>
        </p:blipFill>
        <p:spPr>
          <a:xfrm>
            <a:off x="5349240" y="1993392"/>
            <a:ext cx="365760" cy="365760"/>
          </a:xfrm>
          <a:prstGeom prst="rect">
            <a:avLst/>
          </a:prstGeom>
        </p:spPr>
      </p:pic>
      <p:sp>
        <p:nvSpPr>
          <p:cNvPr id="6" name="Text 3"/>
          <p:cNvSpPr/>
          <p:nvPr/>
        </p:nvSpPr>
        <p:spPr>
          <a:xfrm>
            <a:off x="804672" y="1993392"/>
            <a:ext cx="4389120" cy="457200"/>
          </a:xfrm>
          <a:prstGeom prst="rect">
            <a:avLst/>
          </a:prstGeom>
          <a:noFill/>
          <a:ln/>
        </p:spPr>
        <p:txBody>
          <a:bodyPr wrap="square" lIns="0" tIns="0" rIns="0" bIns="0" rtlCol="0" anchor="ctr"/>
          <a:lstStyle/>
          <a:p>
            <a:pPr marL="0" indent="0">
              <a:buNone/>
            </a:pPr>
            <a:r>
              <a:rPr lang="en-US" sz="1500" b="1" dirty="0">
                <a:solidFill>
                  <a:srgbClr val="023430"/>
                </a:solidFill>
                <a:latin typeface="Calibri" pitchFamily="34" charset="0"/>
                <a:ea typeface="Calibri" pitchFamily="34" charset="-122"/>
                <a:cs typeface="Calibri" pitchFamily="34" charset="-120"/>
              </a:rPr>
              <a:t>1. Create a free Atlas account</a:t>
            </a:r>
            <a:endParaRPr lang="en-US" sz="1500" dirty="0"/>
          </a:p>
        </p:txBody>
      </p:sp>
      <p:sp>
        <p:nvSpPr>
          <p:cNvPr id="7" name="Text 4"/>
          <p:cNvSpPr/>
          <p:nvPr/>
        </p:nvSpPr>
        <p:spPr>
          <a:xfrm>
            <a:off x="804672" y="2514600"/>
            <a:ext cx="4882896" cy="1051560"/>
          </a:xfrm>
          <a:prstGeom prst="rect">
            <a:avLst/>
          </a:prstGeom>
          <a:noFill/>
          <a:ln/>
        </p:spPr>
        <p:txBody>
          <a:bodyPr wrap="square" lIns="0" tIns="0" rIns="0" bIns="0" rtlCol="0" anchor="ctr"/>
          <a:lstStyle/>
          <a:p>
            <a:pPr marL="0" indent="0">
              <a:lnSpc>
                <a:spcPct val="125000"/>
              </a:lnSpc>
              <a:buNone/>
            </a:pPr>
            <a:r>
              <a:rPr lang="en-US" sz="1250" dirty="0">
                <a:solidFill>
                  <a:srgbClr val="4C6D62"/>
                </a:solidFill>
                <a:latin typeface="Calibri" pitchFamily="34" charset="0"/>
                <a:ea typeface="Calibri" pitchFamily="34" charset="-122"/>
                <a:cs typeface="Calibri" pitchFamily="34" charset="-120"/>
              </a:rPr>
              <a:t>Go to mongodb.com/cloud/atlas/register. No credit card is needed.</a:t>
            </a:r>
            <a:endParaRPr lang="en-US" sz="1250" dirty="0"/>
          </a:p>
        </p:txBody>
      </p:sp>
      <p:sp>
        <p:nvSpPr>
          <p:cNvPr id="8" name="Shape 5"/>
          <p:cNvSpPr/>
          <p:nvPr/>
        </p:nvSpPr>
        <p:spPr>
          <a:xfrm>
            <a:off x="6199632" y="1737360"/>
            <a:ext cx="5394960" cy="1965960"/>
          </a:xfrm>
          <a:prstGeom prst="roundRect">
            <a:avLst>
              <a:gd name="adj" fmla="val 4651"/>
            </a:avLst>
          </a:prstGeom>
          <a:solidFill>
            <a:srgbClr val="FFFFFF"/>
          </a:solidFill>
          <a:ln/>
          <a:effectLst>
            <a:outerShdw blurRad="101600" dist="38100" dir="5400000" algn="bl" rotWithShape="0">
              <a:srgbClr val="0B2B22">
                <a:alpha val="18000"/>
              </a:srgbClr>
            </a:outerShdw>
          </a:effectLst>
        </p:spPr>
      </p:sp>
      <p:pic>
        <p:nvPicPr>
          <p:cNvPr id="9" name="Image 1" descr="/home/claude/mongo_ppt/icon_server.png"/>
          <p:cNvPicPr>
            <a:picLocks noChangeAspect="1"/>
          </p:cNvPicPr>
          <p:nvPr/>
        </p:nvPicPr>
        <p:blipFill>
          <a:blip r:embed="rId4"/>
          <a:stretch>
            <a:fillRect/>
          </a:stretch>
        </p:blipFill>
        <p:spPr>
          <a:xfrm>
            <a:off x="11000232" y="1993392"/>
            <a:ext cx="365760" cy="365760"/>
          </a:xfrm>
          <a:prstGeom prst="rect">
            <a:avLst/>
          </a:prstGeom>
        </p:spPr>
      </p:pic>
      <p:sp>
        <p:nvSpPr>
          <p:cNvPr id="10" name="Text 6"/>
          <p:cNvSpPr/>
          <p:nvPr/>
        </p:nvSpPr>
        <p:spPr>
          <a:xfrm>
            <a:off x="6455664" y="1993392"/>
            <a:ext cx="4389120" cy="457200"/>
          </a:xfrm>
          <a:prstGeom prst="rect">
            <a:avLst/>
          </a:prstGeom>
          <a:noFill/>
          <a:ln/>
        </p:spPr>
        <p:txBody>
          <a:bodyPr wrap="square" lIns="0" tIns="0" rIns="0" bIns="0" rtlCol="0" anchor="ctr"/>
          <a:lstStyle/>
          <a:p>
            <a:pPr marL="0" indent="0">
              <a:buNone/>
            </a:pPr>
            <a:r>
              <a:rPr lang="en-US" sz="1500" b="1" dirty="0">
                <a:solidFill>
                  <a:srgbClr val="023430"/>
                </a:solidFill>
                <a:latin typeface="Calibri" pitchFamily="34" charset="0"/>
                <a:ea typeface="Calibri" pitchFamily="34" charset="-122"/>
                <a:cs typeface="Calibri" pitchFamily="34" charset="-120"/>
              </a:rPr>
              <a:t>2. Create a cluster</a:t>
            </a:r>
            <a:endParaRPr lang="en-US" sz="1500" dirty="0"/>
          </a:p>
        </p:txBody>
      </p:sp>
      <p:sp>
        <p:nvSpPr>
          <p:cNvPr id="11" name="Text 7"/>
          <p:cNvSpPr/>
          <p:nvPr/>
        </p:nvSpPr>
        <p:spPr>
          <a:xfrm>
            <a:off x="6455664" y="2514600"/>
            <a:ext cx="4882896" cy="1051560"/>
          </a:xfrm>
          <a:prstGeom prst="rect">
            <a:avLst/>
          </a:prstGeom>
          <a:noFill/>
          <a:ln/>
        </p:spPr>
        <p:txBody>
          <a:bodyPr wrap="square" lIns="0" tIns="0" rIns="0" bIns="0" rtlCol="0" anchor="ctr"/>
          <a:lstStyle/>
          <a:p>
            <a:pPr marL="0" indent="0">
              <a:lnSpc>
                <a:spcPct val="125000"/>
              </a:lnSpc>
              <a:buNone/>
            </a:pPr>
            <a:r>
              <a:rPr lang="en-US" sz="1250" dirty="0">
                <a:solidFill>
                  <a:srgbClr val="4C6D62"/>
                </a:solidFill>
                <a:latin typeface="Calibri" pitchFamily="34" charset="0"/>
                <a:ea typeface="Calibri" pitchFamily="34" charset="-122"/>
                <a:cs typeface="Calibri" pitchFamily="34" charset="-120"/>
              </a:rPr>
              <a:t>Pick the free “M0” option, choose any region close to you, and give it a name.</a:t>
            </a:r>
            <a:endParaRPr lang="en-US" sz="1250" dirty="0"/>
          </a:p>
        </p:txBody>
      </p:sp>
      <p:sp>
        <p:nvSpPr>
          <p:cNvPr id="12" name="Shape 8"/>
          <p:cNvSpPr/>
          <p:nvPr/>
        </p:nvSpPr>
        <p:spPr>
          <a:xfrm>
            <a:off x="548640" y="3959352"/>
            <a:ext cx="5394960" cy="1965960"/>
          </a:xfrm>
          <a:prstGeom prst="roundRect">
            <a:avLst>
              <a:gd name="adj" fmla="val 4651"/>
            </a:avLst>
          </a:prstGeom>
          <a:solidFill>
            <a:srgbClr val="FFFFFF"/>
          </a:solidFill>
          <a:ln/>
          <a:effectLst>
            <a:outerShdw blurRad="101600" dist="38100" dir="5400000" algn="bl" rotWithShape="0">
              <a:srgbClr val="0B2B22">
                <a:alpha val="18000"/>
              </a:srgbClr>
            </a:outerShdw>
          </a:effectLst>
        </p:spPr>
      </p:sp>
      <p:pic>
        <p:nvPicPr>
          <p:cNvPr id="13" name="Image 2" descr="/home/claude/mongo_ppt/icon_keyicon.png"/>
          <p:cNvPicPr>
            <a:picLocks noChangeAspect="1"/>
          </p:cNvPicPr>
          <p:nvPr/>
        </p:nvPicPr>
        <p:blipFill>
          <a:blip r:embed="rId5"/>
          <a:stretch>
            <a:fillRect/>
          </a:stretch>
        </p:blipFill>
        <p:spPr>
          <a:xfrm>
            <a:off x="5349240" y="4215384"/>
            <a:ext cx="365760" cy="365760"/>
          </a:xfrm>
          <a:prstGeom prst="rect">
            <a:avLst/>
          </a:prstGeom>
        </p:spPr>
      </p:pic>
      <p:sp>
        <p:nvSpPr>
          <p:cNvPr id="14" name="Text 9"/>
          <p:cNvSpPr/>
          <p:nvPr/>
        </p:nvSpPr>
        <p:spPr>
          <a:xfrm>
            <a:off x="804672" y="4215384"/>
            <a:ext cx="4389120" cy="457200"/>
          </a:xfrm>
          <a:prstGeom prst="rect">
            <a:avLst/>
          </a:prstGeom>
          <a:noFill/>
          <a:ln/>
        </p:spPr>
        <p:txBody>
          <a:bodyPr wrap="square" lIns="0" tIns="0" rIns="0" bIns="0" rtlCol="0" anchor="ctr"/>
          <a:lstStyle/>
          <a:p>
            <a:pPr marL="0" indent="0">
              <a:buNone/>
            </a:pPr>
            <a:r>
              <a:rPr lang="en-US" sz="1500" b="1" dirty="0">
                <a:solidFill>
                  <a:srgbClr val="023430"/>
                </a:solidFill>
                <a:latin typeface="Calibri" pitchFamily="34" charset="0"/>
                <a:ea typeface="Calibri" pitchFamily="34" charset="-122"/>
                <a:cs typeface="Calibri" pitchFamily="34" charset="-120"/>
              </a:rPr>
              <a:t>3. Create a database user</a:t>
            </a:r>
            <a:endParaRPr lang="en-US" sz="1500" dirty="0"/>
          </a:p>
        </p:txBody>
      </p:sp>
      <p:sp>
        <p:nvSpPr>
          <p:cNvPr id="15" name="Text 10"/>
          <p:cNvSpPr/>
          <p:nvPr/>
        </p:nvSpPr>
        <p:spPr>
          <a:xfrm>
            <a:off x="804672" y="4736592"/>
            <a:ext cx="4882896" cy="1051560"/>
          </a:xfrm>
          <a:prstGeom prst="rect">
            <a:avLst/>
          </a:prstGeom>
          <a:noFill/>
          <a:ln/>
        </p:spPr>
        <p:txBody>
          <a:bodyPr wrap="square" lIns="0" tIns="0" rIns="0" bIns="0" rtlCol="0" anchor="ctr"/>
          <a:lstStyle/>
          <a:p>
            <a:pPr marL="0" indent="0">
              <a:lnSpc>
                <a:spcPct val="125000"/>
              </a:lnSpc>
              <a:buNone/>
            </a:pPr>
            <a:r>
              <a:rPr lang="en-US" sz="1250" dirty="0">
                <a:solidFill>
                  <a:srgbClr val="4C6D62"/>
                </a:solidFill>
                <a:latin typeface="Calibri" pitchFamily="34" charset="0"/>
                <a:ea typeface="Calibri" pitchFamily="34" charset="-122"/>
                <a:cs typeface="Calibri" pitchFamily="34" charset="-120"/>
              </a:rPr>
              <a:t>Set a username and password. Save the password right away — Atlas will not show it to you again.</a:t>
            </a:r>
            <a:endParaRPr lang="en-US" sz="1250" dirty="0"/>
          </a:p>
        </p:txBody>
      </p:sp>
      <p:sp>
        <p:nvSpPr>
          <p:cNvPr id="16" name="Shape 11"/>
          <p:cNvSpPr/>
          <p:nvPr/>
        </p:nvSpPr>
        <p:spPr>
          <a:xfrm>
            <a:off x="6199632" y="3959352"/>
            <a:ext cx="5394960" cy="1965960"/>
          </a:xfrm>
          <a:prstGeom prst="roundRect">
            <a:avLst>
              <a:gd name="adj" fmla="val 4651"/>
            </a:avLst>
          </a:prstGeom>
          <a:solidFill>
            <a:srgbClr val="FFFFFF"/>
          </a:solidFill>
          <a:ln/>
          <a:effectLst>
            <a:outerShdw blurRad="101600" dist="38100" dir="5400000" algn="bl" rotWithShape="0">
              <a:srgbClr val="0B2B22">
                <a:alpha val="18000"/>
              </a:srgbClr>
            </a:outerShdw>
          </a:effectLst>
        </p:spPr>
      </p:sp>
      <p:pic>
        <p:nvPicPr>
          <p:cNvPr id="17" name="Image 3" descr="/home/claude/mongo_ppt/icon_shield_d.png"/>
          <p:cNvPicPr>
            <a:picLocks noChangeAspect="1"/>
          </p:cNvPicPr>
          <p:nvPr/>
        </p:nvPicPr>
        <p:blipFill>
          <a:blip r:embed="rId6"/>
          <a:stretch>
            <a:fillRect/>
          </a:stretch>
        </p:blipFill>
        <p:spPr>
          <a:xfrm>
            <a:off x="11000232" y="4215384"/>
            <a:ext cx="365760" cy="365760"/>
          </a:xfrm>
          <a:prstGeom prst="rect">
            <a:avLst/>
          </a:prstGeom>
        </p:spPr>
      </p:pic>
      <p:sp>
        <p:nvSpPr>
          <p:cNvPr id="18" name="Text 12"/>
          <p:cNvSpPr/>
          <p:nvPr/>
        </p:nvSpPr>
        <p:spPr>
          <a:xfrm>
            <a:off x="6455664" y="4215384"/>
            <a:ext cx="4389120" cy="457200"/>
          </a:xfrm>
          <a:prstGeom prst="rect">
            <a:avLst/>
          </a:prstGeom>
          <a:noFill/>
          <a:ln/>
        </p:spPr>
        <p:txBody>
          <a:bodyPr wrap="square" lIns="0" tIns="0" rIns="0" bIns="0" rtlCol="0" anchor="ctr"/>
          <a:lstStyle/>
          <a:p>
            <a:pPr marL="0" indent="0">
              <a:buNone/>
            </a:pPr>
            <a:r>
              <a:rPr lang="en-US" sz="1500" b="1" dirty="0">
                <a:solidFill>
                  <a:srgbClr val="023430"/>
                </a:solidFill>
                <a:latin typeface="Calibri" pitchFamily="34" charset="0"/>
                <a:ea typeface="Calibri" pitchFamily="34" charset="-122"/>
                <a:cs typeface="Calibri" pitchFamily="34" charset="-120"/>
              </a:rPr>
              <a:t>4. Allow your network</a:t>
            </a:r>
            <a:endParaRPr lang="en-US" sz="1500" dirty="0"/>
          </a:p>
        </p:txBody>
      </p:sp>
      <p:sp>
        <p:nvSpPr>
          <p:cNvPr id="19" name="Text 13"/>
          <p:cNvSpPr/>
          <p:nvPr/>
        </p:nvSpPr>
        <p:spPr>
          <a:xfrm>
            <a:off x="6455664" y="4736592"/>
            <a:ext cx="4882896" cy="1051560"/>
          </a:xfrm>
          <a:prstGeom prst="rect">
            <a:avLst/>
          </a:prstGeom>
          <a:noFill/>
          <a:ln/>
        </p:spPr>
        <p:txBody>
          <a:bodyPr wrap="square" lIns="0" tIns="0" rIns="0" bIns="0" rtlCol="0" anchor="ctr"/>
          <a:lstStyle/>
          <a:p>
            <a:pPr marL="0" indent="0">
              <a:lnSpc>
                <a:spcPct val="125000"/>
              </a:lnSpc>
              <a:buNone/>
            </a:pPr>
            <a:r>
              <a:rPr lang="en-US" sz="1250" dirty="0">
                <a:solidFill>
                  <a:srgbClr val="4C6D62"/>
                </a:solidFill>
                <a:latin typeface="Calibri" pitchFamily="34" charset="0"/>
                <a:ea typeface="Calibri" pitchFamily="34" charset="-122"/>
                <a:cs typeface="Calibri" pitchFamily="34" charset="-120"/>
              </a:rPr>
              <a:t>Add your current IP address in Network Access, or nothing will be able to connect at all.</a:t>
            </a:r>
            <a:endParaRPr lang="en-US" sz="1250" dirty="0"/>
          </a:p>
        </p:txBody>
      </p:sp>
      <p:sp>
        <p:nvSpPr>
          <p:cNvPr id="20" name="Text 14"/>
          <p:cNvSpPr/>
          <p:nvPr/>
        </p:nvSpPr>
        <p:spPr>
          <a:xfrm>
            <a:off x="548640" y="6172200"/>
            <a:ext cx="11064240" cy="365760"/>
          </a:xfrm>
          <a:prstGeom prst="rect">
            <a:avLst/>
          </a:prstGeom>
          <a:noFill/>
          <a:ln/>
        </p:spPr>
        <p:txBody>
          <a:bodyPr wrap="square" lIns="0" tIns="0" rIns="0" bIns="0" rtlCol="0" anchor="ctr"/>
          <a:lstStyle/>
          <a:p>
            <a:pPr marL="0" indent="0">
              <a:buNone/>
            </a:pPr>
            <a:r>
              <a:rPr lang="en-US" sz="1150" i="1" dirty="0">
                <a:solidFill>
                  <a:srgbClr val="4C6D62"/>
                </a:solidFill>
                <a:latin typeface="Calibri" pitchFamily="34" charset="0"/>
                <a:ea typeface="Calibri" pitchFamily="34" charset="-122"/>
                <a:cs typeface="Calibri" pitchFamily="34" charset="-120"/>
              </a:rPr>
              <a:t>If you ever switch networks (home Wi-Fi to mobile hotspot, for example), come back to step 4 and add the new IP address.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Getting Set Up — Steps 5 to 7</a:t>
            </a:r>
            <a:endParaRPr lang="en-US" sz="2800" dirty="0"/>
          </a:p>
        </p:txBody>
      </p:sp>
      <p:sp>
        <p:nvSpPr>
          <p:cNvPr id="3" name="Text 1"/>
          <p:cNvSpPr/>
          <p:nvPr/>
        </p:nvSpPr>
        <p:spPr>
          <a:xfrm>
            <a:off x="548640" y="1069848"/>
            <a:ext cx="10881360" cy="411480"/>
          </a:xfrm>
          <a:prstGeom prst="rect">
            <a:avLst/>
          </a:prstGeom>
          <a:noFill/>
          <a:ln/>
        </p:spPr>
        <p:txBody>
          <a:bodyPr wrap="square" lIns="0" tIns="0" rIns="0" bIns="0" rtlCol="0" anchor="ctr"/>
          <a:lstStyle/>
          <a:p>
            <a:pPr marL="0" indent="0">
              <a:buNone/>
            </a:pPr>
            <a:r>
              <a:rPr lang="en-US" sz="1350" dirty="0">
                <a:solidFill>
                  <a:srgbClr val="4C6D62"/>
                </a:solidFill>
                <a:latin typeface="Calibri" pitchFamily="34" charset="0"/>
                <a:ea typeface="Calibri" pitchFamily="34" charset="-122"/>
                <a:cs typeface="Calibri" pitchFamily="34" charset="-120"/>
              </a:rPr>
              <a:t>The last three steps connect your labs to the cluster you just made.</a:t>
            </a:r>
            <a:endParaRPr lang="en-US" sz="1350" dirty="0"/>
          </a:p>
        </p:txBody>
      </p:sp>
      <p:sp>
        <p:nvSpPr>
          <p:cNvPr id="4" name="Shape 2"/>
          <p:cNvSpPr/>
          <p:nvPr/>
        </p:nvSpPr>
        <p:spPr>
          <a:xfrm>
            <a:off x="548640" y="1737360"/>
            <a:ext cx="3520440" cy="2743200"/>
          </a:xfrm>
          <a:prstGeom prst="roundRect">
            <a:avLst>
              <a:gd name="adj" fmla="val 3333"/>
            </a:avLst>
          </a:prstGeom>
          <a:solidFill>
            <a:srgbClr val="FFFFFF"/>
          </a:solidFill>
          <a:ln/>
          <a:effectLst>
            <a:outerShdw blurRad="101600" dist="38100" dir="5400000" algn="bl" rotWithShape="0">
              <a:srgbClr val="0B2B22">
                <a:alpha val="18000"/>
              </a:srgbClr>
            </a:outerShdw>
          </a:effectLst>
        </p:spPr>
      </p:sp>
      <p:pic>
        <p:nvPicPr>
          <p:cNvPr id="5" name="Image 0" descr="/home/claude/mongo_ppt/icon_file.png"/>
          <p:cNvPicPr>
            <a:picLocks noChangeAspect="1"/>
          </p:cNvPicPr>
          <p:nvPr/>
        </p:nvPicPr>
        <p:blipFill>
          <a:blip r:embed="rId3"/>
          <a:stretch>
            <a:fillRect/>
          </a:stretch>
        </p:blipFill>
        <p:spPr>
          <a:xfrm>
            <a:off x="3520440" y="1975104"/>
            <a:ext cx="329184" cy="329184"/>
          </a:xfrm>
          <a:prstGeom prst="rect">
            <a:avLst/>
          </a:prstGeom>
        </p:spPr>
      </p:pic>
      <p:sp>
        <p:nvSpPr>
          <p:cNvPr id="6" name="Text 3"/>
          <p:cNvSpPr/>
          <p:nvPr/>
        </p:nvSpPr>
        <p:spPr>
          <a:xfrm>
            <a:off x="777240" y="1975104"/>
            <a:ext cx="2697480" cy="640080"/>
          </a:xfrm>
          <a:prstGeom prst="rect">
            <a:avLst/>
          </a:prstGeom>
          <a:noFill/>
          <a:ln/>
        </p:spPr>
        <p:txBody>
          <a:bodyPr wrap="square" lIns="0" tIns="0" rIns="0" bIns="0" rtlCol="0" anchor="ctr"/>
          <a:lstStyle/>
          <a:p>
            <a:pPr marL="0" indent="0">
              <a:lnSpc>
                <a:spcPct val="110000"/>
              </a:lnSpc>
              <a:buNone/>
            </a:pPr>
            <a:r>
              <a:rPr lang="en-US" sz="1400" b="1" dirty="0">
                <a:solidFill>
                  <a:srgbClr val="023430"/>
                </a:solidFill>
                <a:latin typeface="Calibri" pitchFamily="34" charset="0"/>
                <a:ea typeface="Calibri" pitchFamily="34" charset="-122"/>
                <a:cs typeface="Calibri" pitchFamily="34" charset="-120"/>
              </a:rPr>
              <a:t>5. Get your connection string</a:t>
            </a:r>
            <a:endParaRPr lang="en-US" sz="1400" dirty="0"/>
          </a:p>
        </p:txBody>
      </p:sp>
      <p:sp>
        <p:nvSpPr>
          <p:cNvPr id="7" name="Text 4"/>
          <p:cNvSpPr/>
          <p:nvPr/>
        </p:nvSpPr>
        <p:spPr>
          <a:xfrm>
            <a:off x="777240" y="2697480"/>
            <a:ext cx="3063240" cy="1691640"/>
          </a:xfrm>
          <a:prstGeom prst="rect">
            <a:avLst/>
          </a:prstGeom>
          <a:noFill/>
          <a:ln/>
        </p:spPr>
        <p:txBody>
          <a:bodyPr wrap="square" lIns="0" tIns="0" rIns="0" bIns="0" rtlCol="0" anchor="ctr"/>
          <a:lstStyle/>
          <a:p>
            <a:pPr marL="0" indent="0">
              <a:lnSpc>
                <a:spcPct val="130000"/>
              </a:lnSpc>
              <a:buNone/>
            </a:pPr>
            <a:r>
              <a:rPr lang="en-US" sz="1200" dirty="0">
                <a:solidFill>
                  <a:srgbClr val="4C6D62"/>
                </a:solidFill>
                <a:latin typeface="Calibri" pitchFamily="34" charset="0"/>
                <a:ea typeface="Calibri" pitchFamily="34" charset="-122"/>
                <a:cs typeface="Calibri" pitchFamily="34" charset="-120"/>
              </a:rPr>
              <a:t>Cluster → Connect → Drivers → Python → copy the string. Replace &lt;password&gt; with the real password from Step 3.</a:t>
            </a:r>
            <a:endParaRPr lang="en-US" sz="1200" dirty="0"/>
          </a:p>
        </p:txBody>
      </p:sp>
      <p:sp>
        <p:nvSpPr>
          <p:cNvPr id="8" name="Shape 5"/>
          <p:cNvSpPr/>
          <p:nvPr/>
        </p:nvSpPr>
        <p:spPr>
          <a:xfrm>
            <a:off x="4325112" y="1737360"/>
            <a:ext cx="3520440" cy="2743200"/>
          </a:xfrm>
          <a:prstGeom prst="roundRect">
            <a:avLst>
              <a:gd name="adj" fmla="val 3333"/>
            </a:avLst>
          </a:prstGeom>
          <a:solidFill>
            <a:srgbClr val="FFFFFF"/>
          </a:solidFill>
          <a:ln/>
          <a:effectLst>
            <a:outerShdw blurRad="101600" dist="38100" dir="5400000" algn="bl" rotWithShape="0">
              <a:srgbClr val="0B2B22">
                <a:alpha val="18000"/>
              </a:srgbClr>
            </a:outerShdw>
          </a:effectLst>
        </p:spPr>
      </p:sp>
      <p:pic>
        <p:nvPicPr>
          <p:cNvPr id="9" name="Image 1" descr="/home/claude/mongo_ppt/icon_cloud.png"/>
          <p:cNvPicPr>
            <a:picLocks noChangeAspect="1"/>
          </p:cNvPicPr>
          <p:nvPr/>
        </p:nvPicPr>
        <p:blipFill>
          <a:blip r:embed="rId4"/>
          <a:stretch>
            <a:fillRect/>
          </a:stretch>
        </p:blipFill>
        <p:spPr>
          <a:xfrm>
            <a:off x="7296912" y="1975104"/>
            <a:ext cx="329184" cy="329184"/>
          </a:xfrm>
          <a:prstGeom prst="rect">
            <a:avLst/>
          </a:prstGeom>
        </p:spPr>
      </p:pic>
      <p:sp>
        <p:nvSpPr>
          <p:cNvPr id="10" name="Text 6"/>
          <p:cNvSpPr/>
          <p:nvPr/>
        </p:nvSpPr>
        <p:spPr>
          <a:xfrm>
            <a:off x="4553712" y="1975104"/>
            <a:ext cx="2697480" cy="640080"/>
          </a:xfrm>
          <a:prstGeom prst="rect">
            <a:avLst/>
          </a:prstGeom>
          <a:noFill/>
          <a:ln/>
        </p:spPr>
        <p:txBody>
          <a:bodyPr wrap="square" lIns="0" tIns="0" rIns="0" bIns="0" rtlCol="0" anchor="ctr"/>
          <a:lstStyle/>
          <a:p>
            <a:pPr marL="0" indent="0">
              <a:lnSpc>
                <a:spcPct val="110000"/>
              </a:lnSpc>
              <a:buNone/>
            </a:pPr>
            <a:r>
              <a:rPr lang="en-US" sz="1400" b="1" dirty="0">
                <a:solidFill>
                  <a:srgbClr val="023430"/>
                </a:solidFill>
                <a:latin typeface="Calibri" pitchFamily="34" charset="0"/>
                <a:ea typeface="Calibri" pitchFamily="34" charset="-122"/>
                <a:cs typeface="Calibri" pitchFamily="34" charset="-120"/>
              </a:rPr>
              <a:t>6. Create a .env file</a:t>
            </a:r>
            <a:endParaRPr lang="en-US" sz="1400" dirty="0"/>
          </a:p>
        </p:txBody>
      </p:sp>
      <p:sp>
        <p:nvSpPr>
          <p:cNvPr id="11" name="Text 7"/>
          <p:cNvSpPr/>
          <p:nvPr/>
        </p:nvSpPr>
        <p:spPr>
          <a:xfrm>
            <a:off x="4553712" y="2697480"/>
            <a:ext cx="3063240" cy="1691640"/>
          </a:xfrm>
          <a:prstGeom prst="rect">
            <a:avLst/>
          </a:prstGeom>
          <a:noFill/>
          <a:ln/>
        </p:spPr>
        <p:txBody>
          <a:bodyPr wrap="square" lIns="0" tIns="0" rIns="0" bIns="0" rtlCol="0" anchor="ctr"/>
          <a:lstStyle/>
          <a:p>
            <a:pPr marL="0" indent="0">
              <a:lnSpc>
                <a:spcPct val="130000"/>
              </a:lnSpc>
              <a:buNone/>
            </a:pPr>
            <a:r>
              <a:rPr lang="en-US" sz="1200" dirty="0">
                <a:solidFill>
                  <a:srgbClr val="4C6D62"/>
                </a:solidFill>
                <a:latin typeface="Calibri" pitchFamily="34" charset="0"/>
                <a:ea typeface="Calibri" pitchFamily="34" charset="-122"/>
                <a:cs typeface="Calibri" pitchFamily="34" charset="-120"/>
              </a:rPr>
              <a:t>In the same folder as the lab notebooks, make a file named .env with one line: MONGODB_URI=&lt;your connection string&gt;</a:t>
            </a:r>
            <a:endParaRPr lang="en-US" sz="1200" dirty="0"/>
          </a:p>
        </p:txBody>
      </p:sp>
      <p:sp>
        <p:nvSpPr>
          <p:cNvPr id="12" name="Shape 8"/>
          <p:cNvSpPr/>
          <p:nvPr/>
        </p:nvSpPr>
        <p:spPr>
          <a:xfrm>
            <a:off x="8101584" y="1737360"/>
            <a:ext cx="3520440" cy="2743200"/>
          </a:xfrm>
          <a:prstGeom prst="roundRect">
            <a:avLst>
              <a:gd name="adj" fmla="val 3333"/>
            </a:avLst>
          </a:prstGeom>
          <a:solidFill>
            <a:srgbClr val="FFFFFF"/>
          </a:solidFill>
          <a:ln/>
          <a:effectLst>
            <a:outerShdw blurRad="101600" dist="38100" dir="5400000" algn="bl" rotWithShape="0">
              <a:srgbClr val="0B2B22">
                <a:alpha val="18000"/>
              </a:srgbClr>
            </a:outerShdw>
          </a:effectLst>
        </p:spPr>
      </p:sp>
      <p:pic>
        <p:nvPicPr>
          <p:cNvPr id="13" name="Image 2" descr="/home/claude/mongo_ppt/icon_lock_d.png"/>
          <p:cNvPicPr>
            <a:picLocks noChangeAspect="1"/>
          </p:cNvPicPr>
          <p:nvPr/>
        </p:nvPicPr>
        <p:blipFill>
          <a:blip r:embed="rId5"/>
          <a:stretch>
            <a:fillRect/>
          </a:stretch>
        </p:blipFill>
        <p:spPr>
          <a:xfrm>
            <a:off x="11073384" y="1975104"/>
            <a:ext cx="329184" cy="329184"/>
          </a:xfrm>
          <a:prstGeom prst="rect">
            <a:avLst/>
          </a:prstGeom>
        </p:spPr>
      </p:pic>
      <p:sp>
        <p:nvSpPr>
          <p:cNvPr id="14" name="Text 9"/>
          <p:cNvSpPr/>
          <p:nvPr/>
        </p:nvSpPr>
        <p:spPr>
          <a:xfrm>
            <a:off x="8330184" y="1975104"/>
            <a:ext cx="2697480" cy="640080"/>
          </a:xfrm>
          <a:prstGeom prst="rect">
            <a:avLst/>
          </a:prstGeom>
          <a:noFill/>
          <a:ln/>
        </p:spPr>
        <p:txBody>
          <a:bodyPr wrap="square" lIns="0" tIns="0" rIns="0" bIns="0" rtlCol="0" anchor="ctr"/>
          <a:lstStyle/>
          <a:p>
            <a:pPr marL="0" indent="0">
              <a:lnSpc>
                <a:spcPct val="110000"/>
              </a:lnSpc>
              <a:buNone/>
            </a:pPr>
            <a:r>
              <a:rPr lang="en-US" sz="1400" b="1" dirty="0">
                <a:solidFill>
                  <a:srgbClr val="023430"/>
                </a:solidFill>
                <a:latin typeface="Calibri" pitchFamily="34" charset="0"/>
                <a:ea typeface="Calibri" pitchFamily="34" charset="-122"/>
                <a:cs typeface="Calibri" pitchFamily="34" charset="-120"/>
              </a:rPr>
              <a:t>7. Keep that file private</a:t>
            </a:r>
            <a:endParaRPr lang="en-US" sz="1400" dirty="0"/>
          </a:p>
        </p:txBody>
      </p:sp>
      <p:sp>
        <p:nvSpPr>
          <p:cNvPr id="15" name="Text 10"/>
          <p:cNvSpPr/>
          <p:nvPr/>
        </p:nvSpPr>
        <p:spPr>
          <a:xfrm>
            <a:off x="8330184" y="2697480"/>
            <a:ext cx="3063240" cy="1691640"/>
          </a:xfrm>
          <a:prstGeom prst="rect">
            <a:avLst/>
          </a:prstGeom>
          <a:noFill/>
          <a:ln/>
        </p:spPr>
        <p:txBody>
          <a:bodyPr wrap="square" lIns="0" tIns="0" rIns="0" bIns="0" rtlCol="0" anchor="ctr"/>
          <a:lstStyle/>
          <a:p>
            <a:pPr marL="0" indent="0">
              <a:lnSpc>
                <a:spcPct val="130000"/>
              </a:lnSpc>
              <a:buNone/>
            </a:pPr>
            <a:r>
              <a:rPr lang="en-US" sz="1200" dirty="0">
                <a:solidFill>
                  <a:srgbClr val="4C6D62"/>
                </a:solidFill>
                <a:latin typeface="Calibri" pitchFamily="34" charset="0"/>
                <a:ea typeface="Calibri" pitchFamily="34" charset="-122"/>
                <a:cs typeface="Calibri" pitchFamily="34" charset="-120"/>
              </a:rPr>
              <a:t>Never share it, and never commit it to git. If using git, add .env to .gitignore first, so the real password is never saved there.</a:t>
            </a:r>
            <a:endParaRPr lang="en-US" sz="1200" dirty="0"/>
          </a:p>
        </p:txBody>
      </p:sp>
      <p:sp>
        <p:nvSpPr>
          <p:cNvPr id="16" name="Shape 11"/>
          <p:cNvSpPr/>
          <p:nvPr/>
        </p:nvSpPr>
        <p:spPr>
          <a:xfrm>
            <a:off x="548640" y="4754880"/>
            <a:ext cx="11064240" cy="1371600"/>
          </a:xfrm>
          <a:prstGeom prst="roundRect">
            <a:avLst>
              <a:gd name="adj" fmla="val 6667"/>
            </a:avLst>
          </a:prstGeom>
          <a:solidFill>
            <a:srgbClr val="023430"/>
          </a:solidFill>
          <a:ln/>
        </p:spPr>
      </p:sp>
      <p:sp>
        <p:nvSpPr>
          <p:cNvPr id="17" name="Shape 12"/>
          <p:cNvSpPr/>
          <p:nvPr/>
        </p:nvSpPr>
        <p:spPr>
          <a:xfrm>
            <a:off x="868680" y="5029200"/>
            <a:ext cx="502920" cy="502920"/>
          </a:xfrm>
          <a:prstGeom prst="ellipse">
            <a:avLst/>
          </a:prstGeom>
          <a:solidFill>
            <a:srgbClr val="0A4A3B"/>
          </a:solidFill>
          <a:ln/>
        </p:spPr>
      </p:sp>
      <p:pic>
        <p:nvPicPr>
          <p:cNvPr id="18" name="Image 3" descr="/home/claude/mongo_ppt/icon_check_w.png"/>
          <p:cNvPicPr>
            <a:picLocks noChangeAspect="1"/>
          </p:cNvPicPr>
          <p:nvPr/>
        </p:nvPicPr>
        <p:blipFill>
          <a:blip r:embed="rId6"/>
          <a:stretch>
            <a:fillRect/>
          </a:stretch>
        </p:blipFill>
        <p:spPr>
          <a:xfrm>
            <a:off x="994410" y="5154930"/>
            <a:ext cx="251460" cy="251460"/>
          </a:xfrm>
          <a:prstGeom prst="rect">
            <a:avLst/>
          </a:prstGeom>
        </p:spPr>
      </p:pic>
      <p:sp>
        <p:nvSpPr>
          <p:cNvPr id="19" name="Text 13"/>
          <p:cNvSpPr/>
          <p:nvPr/>
        </p:nvSpPr>
        <p:spPr>
          <a:xfrm>
            <a:off x="1600200" y="4892040"/>
            <a:ext cx="9692640" cy="1005840"/>
          </a:xfrm>
          <a:prstGeom prst="rect">
            <a:avLst/>
          </a:prstGeom>
          <a:noFill/>
          <a:ln/>
        </p:spPr>
        <p:txBody>
          <a:bodyPr wrap="square" lIns="0" tIns="0" rIns="0" bIns="0" rtlCol="0" anchor="ctr"/>
          <a:lstStyle/>
          <a:p>
            <a:pPr marL="0" indent="0">
              <a:lnSpc>
                <a:spcPct val="125000"/>
              </a:lnSpc>
              <a:buNone/>
            </a:pPr>
            <a:r>
              <a:rPr lang="en-US" sz="1300" dirty="0">
                <a:solidFill>
                  <a:srgbClr val="FFFFFF"/>
                </a:solidFill>
                <a:latin typeface="Calibri" pitchFamily="34" charset="0"/>
                <a:ea typeface="Calibri" pitchFamily="34" charset="-122"/>
                <a:cs typeface="Calibri" pitchFamily="34" charset="-120"/>
              </a:rPr>
              <a:t>That's the whole flow. Every notebook already contains the code that reads MONGODB_URI from your .env file automatically — you never write or paste any password into a notebook yourself.</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The 7-Lab Roadmap</a:t>
            </a:r>
            <a:endParaRPr lang="en-US" sz="2800" dirty="0"/>
          </a:p>
        </p:txBody>
      </p:sp>
      <p:sp>
        <p:nvSpPr>
          <p:cNvPr id="3" name="Text 1"/>
          <p:cNvSpPr/>
          <p:nvPr/>
        </p:nvSpPr>
        <p:spPr>
          <a:xfrm>
            <a:off x="548640" y="1069848"/>
            <a:ext cx="10881360" cy="411480"/>
          </a:xfrm>
          <a:prstGeom prst="rect">
            <a:avLst/>
          </a:prstGeom>
          <a:noFill/>
          <a:ln/>
        </p:spPr>
        <p:txBody>
          <a:bodyPr wrap="square" lIns="0" tIns="0" rIns="0" bIns="0" rtlCol="0" anchor="ctr"/>
          <a:lstStyle/>
          <a:p>
            <a:pPr marL="0" indent="0">
              <a:buNone/>
            </a:pPr>
            <a:r>
              <a:rPr lang="en-US" sz="1350" dirty="0">
                <a:solidFill>
                  <a:srgbClr val="4C6D62"/>
                </a:solidFill>
                <a:latin typeface="Calibri" pitchFamily="34" charset="0"/>
                <a:ea typeface="Calibri" pitchFamily="34" charset="-122"/>
                <a:cs typeface="Calibri" pitchFamily="34" charset="-120"/>
              </a:rPr>
              <a:t>One single domain — a school with students and courses — runs through every lab below.</a:t>
            </a:r>
            <a:endParaRPr lang="en-US" sz="1350" dirty="0"/>
          </a:p>
        </p:txBody>
      </p:sp>
      <p:sp>
        <p:nvSpPr>
          <p:cNvPr id="4" name="Shape 2"/>
          <p:cNvSpPr/>
          <p:nvPr/>
        </p:nvSpPr>
        <p:spPr>
          <a:xfrm>
            <a:off x="548640" y="1645920"/>
            <a:ext cx="2651760" cy="1554480"/>
          </a:xfrm>
          <a:prstGeom prst="roundRect">
            <a:avLst>
              <a:gd name="adj" fmla="val 5882"/>
            </a:avLst>
          </a:prstGeom>
          <a:solidFill>
            <a:srgbClr val="023430"/>
          </a:solidFill>
          <a:ln/>
        </p:spPr>
      </p:sp>
      <p:sp>
        <p:nvSpPr>
          <p:cNvPr id="5" name="Text 3"/>
          <p:cNvSpPr/>
          <p:nvPr/>
        </p:nvSpPr>
        <p:spPr>
          <a:xfrm>
            <a:off x="731520" y="1810512"/>
            <a:ext cx="22860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Beginner</a:t>
            </a:r>
            <a:endParaRPr lang="en-US" sz="1300" dirty="0"/>
          </a:p>
        </p:txBody>
      </p:sp>
      <p:sp>
        <p:nvSpPr>
          <p:cNvPr id="6" name="Text 4"/>
          <p:cNvSpPr/>
          <p:nvPr/>
        </p:nvSpPr>
        <p:spPr>
          <a:xfrm>
            <a:off x="731520" y="2148840"/>
            <a:ext cx="228600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Labs 1–2</a:t>
            </a:r>
            <a:endParaRPr lang="en-US" sz="1900" dirty="0"/>
          </a:p>
        </p:txBody>
      </p:sp>
      <p:sp>
        <p:nvSpPr>
          <p:cNvPr id="7" name="Text 5"/>
          <p:cNvSpPr/>
          <p:nvPr/>
        </p:nvSpPr>
        <p:spPr>
          <a:xfrm>
            <a:off x="731520" y="2606040"/>
            <a:ext cx="2286000" cy="502920"/>
          </a:xfrm>
          <a:prstGeom prst="rect">
            <a:avLst/>
          </a:prstGeom>
          <a:noFill/>
          <a:ln/>
        </p:spPr>
        <p:txBody>
          <a:bodyPr wrap="square" lIns="0" tIns="0" rIns="0" bIns="0" rtlCol="0" anchor="ctr"/>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Read and write data</a:t>
            </a:r>
            <a:endParaRPr lang="en-US" sz="1050" dirty="0"/>
          </a:p>
        </p:txBody>
      </p:sp>
      <p:sp>
        <p:nvSpPr>
          <p:cNvPr id="8" name="Shape 6"/>
          <p:cNvSpPr/>
          <p:nvPr/>
        </p:nvSpPr>
        <p:spPr>
          <a:xfrm>
            <a:off x="3346704" y="1645920"/>
            <a:ext cx="2651760" cy="1554480"/>
          </a:xfrm>
          <a:prstGeom prst="roundRect">
            <a:avLst>
              <a:gd name="adj" fmla="val 5882"/>
            </a:avLst>
          </a:prstGeom>
          <a:solidFill>
            <a:srgbClr val="0A4A3B"/>
          </a:solidFill>
          <a:ln/>
        </p:spPr>
      </p:sp>
      <p:sp>
        <p:nvSpPr>
          <p:cNvPr id="9" name="Text 7"/>
          <p:cNvSpPr/>
          <p:nvPr/>
        </p:nvSpPr>
        <p:spPr>
          <a:xfrm>
            <a:off x="3529584" y="1810512"/>
            <a:ext cx="22860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Intermediate</a:t>
            </a:r>
            <a:endParaRPr lang="en-US" sz="1300" dirty="0"/>
          </a:p>
        </p:txBody>
      </p:sp>
      <p:sp>
        <p:nvSpPr>
          <p:cNvPr id="10" name="Text 8"/>
          <p:cNvSpPr/>
          <p:nvPr/>
        </p:nvSpPr>
        <p:spPr>
          <a:xfrm>
            <a:off x="3529584" y="2148840"/>
            <a:ext cx="228600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Labs 3–4</a:t>
            </a:r>
            <a:endParaRPr lang="en-US" sz="1900" dirty="0"/>
          </a:p>
        </p:txBody>
      </p:sp>
      <p:sp>
        <p:nvSpPr>
          <p:cNvPr id="11" name="Text 9"/>
          <p:cNvSpPr/>
          <p:nvPr/>
        </p:nvSpPr>
        <p:spPr>
          <a:xfrm>
            <a:off x="3529584" y="2606040"/>
            <a:ext cx="2286000" cy="502920"/>
          </a:xfrm>
          <a:prstGeom prst="rect">
            <a:avLst/>
          </a:prstGeom>
          <a:noFill/>
          <a:ln/>
        </p:spPr>
        <p:txBody>
          <a:bodyPr wrap="square" lIns="0" tIns="0" rIns="0" bIns="0" rtlCol="0" anchor="ctr"/>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Group data, design it well</a:t>
            </a:r>
            <a:endParaRPr lang="en-US" sz="1050" dirty="0"/>
          </a:p>
        </p:txBody>
      </p:sp>
      <p:sp>
        <p:nvSpPr>
          <p:cNvPr id="12" name="Shape 10"/>
          <p:cNvSpPr/>
          <p:nvPr/>
        </p:nvSpPr>
        <p:spPr>
          <a:xfrm>
            <a:off x="6144768" y="1645920"/>
            <a:ext cx="2651760" cy="1554480"/>
          </a:xfrm>
          <a:prstGeom prst="roundRect">
            <a:avLst>
              <a:gd name="adj" fmla="val 5882"/>
            </a:avLst>
          </a:prstGeom>
          <a:solidFill>
            <a:srgbClr val="115A48"/>
          </a:solidFill>
          <a:ln/>
        </p:spPr>
      </p:sp>
      <p:sp>
        <p:nvSpPr>
          <p:cNvPr id="13" name="Text 11"/>
          <p:cNvSpPr/>
          <p:nvPr/>
        </p:nvSpPr>
        <p:spPr>
          <a:xfrm>
            <a:off x="6327648" y="1810512"/>
            <a:ext cx="22860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Advanced</a:t>
            </a:r>
            <a:endParaRPr lang="en-US" sz="1300" dirty="0"/>
          </a:p>
        </p:txBody>
      </p:sp>
      <p:sp>
        <p:nvSpPr>
          <p:cNvPr id="14" name="Text 12"/>
          <p:cNvSpPr/>
          <p:nvPr/>
        </p:nvSpPr>
        <p:spPr>
          <a:xfrm>
            <a:off x="6327648" y="2148840"/>
            <a:ext cx="228600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Labs 5–6</a:t>
            </a:r>
            <a:endParaRPr lang="en-US" sz="1900" dirty="0"/>
          </a:p>
        </p:txBody>
      </p:sp>
      <p:sp>
        <p:nvSpPr>
          <p:cNvPr id="15" name="Text 13"/>
          <p:cNvSpPr/>
          <p:nvPr/>
        </p:nvSpPr>
        <p:spPr>
          <a:xfrm>
            <a:off x="6327648" y="2606040"/>
            <a:ext cx="2286000" cy="502920"/>
          </a:xfrm>
          <a:prstGeom prst="rect">
            <a:avLst/>
          </a:prstGeom>
          <a:noFill/>
          <a:ln/>
        </p:spPr>
        <p:txBody>
          <a:bodyPr wrap="square" lIns="0" tIns="0" rIns="0" bIns="0" rtlCol="0" anchor="ctr"/>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Safe saves, many servers</a:t>
            </a:r>
            <a:endParaRPr lang="en-US" sz="1050" dirty="0"/>
          </a:p>
        </p:txBody>
      </p:sp>
      <p:sp>
        <p:nvSpPr>
          <p:cNvPr id="16" name="Shape 14"/>
          <p:cNvSpPr/>
          <p:nvPr/>
        </p:nvSpPr>
        <p:spPr>
          <a:xfrm>
            <a:off x="8942832" y="1645920"/>
            <a:ext cx="2651760" cy="1554480"/>
          </a:xfrm>
          <a:prstGeom prst="roundRect">
            <a:avLst>
              <a:gd name="adj" fmla="val 5882"/>
            </a:avLst>
          </a:prstGeom>
          <a:solidFill>
            <a:srgbClr val="00ED64"/>
          </a:solidFill>
          <a:ln/>
        </p:spPr>
      </p:sp>
      <p:sp>
        <p:nvSpPr>
          <p:cNvPr id="17" name="Text 15"/>
          <p:cNvSpPr/>
          <p:nvPr/>
        </p:nvSpPr>
        <p:spPr>
          <a:xfrm>
            <a:off x="9125712" y="1810512"/>
            <a:ext cx="2286000" cy="320040"/>
          </a:xfrm>
          <a:prstGeom prst="rect">
            <a:avLst/>
          </a:prstGeom>
          <a:noFill/>
          <a:ln/>
        </p:spPr>
        <p:txBody>
          <a:bodyPr wrap="square" lIns="0" tIns="0" rIns="0" bIns="0" rtlCol="0" anchor="ctr"/>
          <a:lstStyle/>
          <a:p>
            <a:pPr marL="0" indent="0">
              <a:buNone/>
            </a:pPr>
            <a:r>
              <a:rPr lang="en-US" sz="1300" b="1" dirty="0">
                <a:solidFill>
                  <a:srgbClr val="023430"/>
                </a:solidFill>
                <a:latin typeface="Calibri" pitchFamily="34" charset="0"/>
                <a:ea typeface="Calibri" pitchFamily="34" charset="-122"/>
                <a:cs typeface="Calibri" pitchFamily="34" charset="-120"/>
              </a:rPr>
              <a:t>Capstone</a:t>
            </a:r>
            <a:endParaRPr lang="en-US" sz="1300" dirty="0"/>
          </a:p>
        </p:txBody>
      </p:sp>
      <p:sp>
        <p:nvSpPr>
          <p:cNvPr id="18" name="Text 16"/>
          <p:cNvSpPr/>
          <p:nvPr/>
        </p:nvSpPr>
        <p:spPr>
          <a:xfrm>
            <a:off x="9125712" y="2148840"/>
            <a:ext cx="2286000" cy="365760"/>
          </a:xfrm>
          <a:prstGeom prst="rect">
            <a:avLst/>
          </a:prstGeom>
          <a:noFill/>
          <a:ln/>
        </p:spPr>
        <p:txBody>
          <a:bodyPr wrap="square" lIns="0" tIns="0" rIns="0" bIns="0" rtlCol="0" anchor="ctr"/>
          <a:lstStyle/>
          <a:p>
            <a:pPr marL="0" indent="0">
              <a:buNone/>
            </a:pPr>
            <a:r>
              <a:rPr lang="en-US" sz="1900" b="1" dirty="0">
                <a:solidFill>
                  <a:srgbClr val="023430"/>
                </a:solidFill>
                <a:latin typeface="Cambria" pitchFamily="34" charset="0"/>
                <a:ea typeface="Cambria" pitchFamily="34" charset="-122"/>
                <a:cs typeface="Cambria" pitchFamily="34" charset="-120"/>
              </a:rPr>
              <a:t>Lab 7</a:t>
            </a:r>
            <a:endParaRPr lang="en-US" sz="1900" dirty="0"/>
          </a:p>
        </p:txBody>
      </p:sp>
      <p:sp>
        <p:nvSpPr>
          <p:cNvPr id="19" name="Text 17"/>
          <p:cNvSpPr/>
          <p:nvPr/>
        </p:nvSpPr>
        <p:spPr>
          <a:xfrm>
            <a:off x="9125712" y="2606040"/>
            <a:ext cx="2286000" cy="502920"/>
          </a:xfrm>
          <a:prstGeom prst="rect">
            <a:avLst/>
          </a:prstGeom>
          <a:noFill/>
          <a:ln/>
        </p:spPr>
        <p:txBody>
          <a:bodyPr wrap="square" lIns="0" tIns="0" rIns="0" bIns="0" rtlCol="0" anchor="ctr"/>
          <a:lstStyle/>
          <a:p>
            <a:pPr marL="0" indent="0">
              <a:lnSpc>
                <a:spcPct val="115000"/>
              </a:lnSpc>
              <a:buNone/>
            </a:pPr>
            <a:r>
              <a:rPr lang="en-US" sz="1050" dirty="0">
                <a:solidFill>
                  <a:srgbClr val="023430"/>
                </a:solidFill>
                <a:latin typeface="Calibri" pitchFamily="34" charset="0"/>
                <a:ea typeface="Calibri" pitchFamily="34" charset="-122"/>
                <a:cs typeface="Calibri" pitchFamily="34" charset="-120"/>
              </a:rPr>
              <a:t>One big project (planned)</a:t>
            </a:r>
            <a:endParaRPr lang="en-US" sz="1050" dirty="0"/>
          </a:p>
        </p:txBody>
      </p:sp>
      <p:sp>
        <p:nvSpPr>
          <p:cNvPr id="20" name="Text 18"/>
          <p:cNvSpPr/>
          <p:nvPr/>
        </p:nvSpPr>
        <p:spPr>
          <a:xfrm>
            <a:off x="548640" y="3520440"/>
            <a:ext cx="11064240" cy="1280160"/>
          </a:xfrm>
          <a:prstGeom prst="rect">
            <a:avLst/>
          </a:prstGeom>
          <a:noFill/>
          <a:ln/>
        </p:spPr>
        <p:txBody>
          <a:bodyPr wrap="square" lIns="0" tIns="0" rIns="0" bIns="0" rtlCol="0" anchor="ctr"/>
          <a:lstStyle/>
          <a:p>
            <a:pPr marL="0" indent="0">
              <a:lnSpc>
                <a:spcPct val="135000"/>
              </a:lnSpc>
              <a:buNone/>
            </a:pPr>
            <a:r>
              <a:rPr lang="en-US" sz="1350" dirty="0">
                <a:solidFill>
                  <a:srgbClr val="0B2B22"/>
                </a:solidFill>
                <a:latin typeface="Calibri" pitchFamily="34" charset="0"/>
                <a:ea typeface="Calibri" pitchFamily="34" charset="-122"/>
                <a:cs typeface="Calibri" pitchFamily="34" charset="-120"/>
              </a:rPr>
              <a:t>The full path: Beginner labs teach you to connect and read/write data → Intermediate labs teach grouping data and designing your schema → Advanced labs teach safe, all-or-nothing saves and running on many servers → the Capstone (Lab 7) is documented as the final goal, but is not built yet — it is where these skills would be used to build memory for a real AI agent.</a:t>
            </a:r>
            <a:endParaRPr lang="en-US" sz="1350" dirty="0"/>
          </a:p>
        </p:txBody>
      </p:sp>
      <p:sp>
        <p:nvSpPr>
          <p:cNvPr id="21" name="Text 19"/>
          <p:cNvSpPr/>
          <p:nvPr/>
        </p:nvSpPr>
        <p:spPr>
          <a:xfrm>
            <a:off x="548640" y="5029200"/>
            <a:ext cx="11064240" cy="457200"/>
          </a:xfrm>
          <a:prstGeom prst="rect">
            <a:avLst/>
          </a:prstGeom>
          <a:noFill/>
          <a:ln/>
        </p:spPr>
        <p:txBody>
          <a:bodyPr wrap="square" lIns="0" tIns="0" rIns="0" bIns="0" rtlCol="0" anchor="ctr"/>
          <a:lstStyle/>
          <a:p>
            <a:pPr marL="0" indent="0">
              <a:buNone/>
            </a:pPr>
            <a:r>
              <a:rPr lang="en-US" sz="1250" i="1" dirty="0">
                <a:solidFill>
                  <a:srgbClr val="4C6D62"/>
                </a:solidFill>
                <a:latin typeface="Calibri" pitchFamily="34" charset="0"/>
                <a:ea typeface="Calibri" pitchFamily="34" charset="-122"/>
                <a:cs typeface="Calibri" pitchFamily="34" charset="-120"/>
              </a:rPr>
              <a:t>All labs run against a real, cloud-hosted MongoDB Atlas cluster — never a local install, never a mock database.</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Lab-by-Lab — Labs 1 to 4</a:t>
            </a:r>
            <a:endParaRPr lang="en-US" sz="2800" dirty="0"/>
          </a:p>
        </p:txBody>
      </p:sp>
      <p:sp>
        <p:nvSpPr>
          <p:cNvPr id="3" name="Shape 1"/>
          <p:cNvSpPr/>
          <p:nvPr/>
        </p:nvSpPr>
        <p:spPr>
          <a:xfrm>
            <a:off x="548640" y="1417320"/>
            <a:ext cx="548640" cy="502920"/>
          </a:xfrm>
          <a:prstGeom prst="roundRect">
            <a:avLst>
              <a:gd name="adj" fmla="val 14545"/>
            </a:avLst>
          </a:prstGeom>
          <a:solidFill>
            <a:srgbClr val="023430"/>
          </a:solidFill>
          <a:ln/>
        </p:spPr>
      </p:sp>
      <p:sp>
        <p:nvSpPr>
          <p:cNvPr id="4" name="Text 2"/>
          <p:cNvSpPr/>
          <p:nvPr/>
        </p:nvSpPr>
        <p:spPr>
          <a:xfrm>
            <a:off x="548640" y="1417320"/>
            <a:ext cx="5486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5" name="Shape 3"/>
          <p:cNvSpPr/>
          <p:nvPr/>
        </p:nvSpPr>
        <p:spPr>
          <a:xfrm>
            <a:off x="1097280" y="1417320"/>
            <a:ext cx="2651760" cy="502920"/>
          </a:xfrm>
          <a:prstGeom prst="roundRect">
            <a:avLst>
              <a:gd name="adj" fmla="val 14545"/>
            </a:avLst>
          </a:prstGeom>
          <a:solidFill>
            <a:srgbClr val="023430"/>
          </a:solidFill>
          <a:ln/>
        </p:spPr>
      </p:sp>
      <p:sp>
        <p:nvSpPr>
          <p:cNvPr id="6" name="Text 4"/>
          <p:cNvSpPr/>
          <p:nvPr/>
        </p:nvSpPr>
        <p:spPr>
          <a:xfrm>
            <a:off x="1097280" y="1417320"/>
            <a:ext cx="26517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Lab</a:t>
            </a:r>
            <a:endParaRPr lang="en-US" sz="1400" dirty="0"/>
          </a:p>
        </p:txBody>
      </p:sp>
      <p:sp>
        <p:nvSpPr>
          <p:cNvPr id="7" name="Shape 5"/>
          <p:cNvSpPr/>
          <p:nvPr/>
        </p:nvSpPr>
        <p:spPr>
          <a:xfrm>
            <a:off x="3749040" y="1417320"/>
            <a:ext cx="3291840" cy="502920"/>
          </a:xfrm>
          <a:prstGeom prst="roundRect">
            <a:avLst>
              <a:gd name="adj" fmla="val 14545"/>
            </a:avLst>
          </a:prstGeom>
          <a:solidFill>
            <a:srgbClr val="0A4A3B"/>
          </a:solidFill>
          <a:ln/>
        </p:spPr>
      </p:sp>
      <p:sp>
        <p:nvSpPr>
          <p:cNvPr id="8" name="Text 6"/>
          <p:cNvSpPr/>
          <p:nvPr/>
        </p:nvSpPr>
        <p:spPr>
          <a:xfrm>
            <a:off x="3749040" y="1417320"/>
            <a:ext cx="32918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Concept Title</a:t>
            </a:r>
            <a:endParaRPr lang="en-US" sz="1400" dirty="0"/>
          </a:p>
        </p:txBody>
      </p:sp>
      <p:sp>
        <p:nvSpPr>
          <p:cNvPr id="9" name="Shape 7"/>
          <p:cNvSpPr/>
          <p:nvPr/>
        </p:nvSpPr>
        <p:spPr>
          <a:xfrm>
            <a:off x="7040880" y="1417320"/>
            <a:ext cx="4572000" cy="502920"/>
          </a:xfrm>
          <a:prstGeom prst="roundRect">
            <a:avLst>
              <a:gd name="adj" fmla="val 14545"/>
            </a:avLst>
          </a:prstGeom>
          <a:solidFill>
            <a:srgbClr val="00ED64"/>
          </a:solidFill>
          <a:ln/>
        </p:spPr>
      </p:sp>
      <p:sp>
        <p:nvSpPr>
          <p:cNvPr id="10" name="Text 8"/>
          <p:cNvSpPr/>
          <p:nvPr/>
        </p:nvSpPr>
        <p:spPr>
          <a:xfrm>
            <a:off x="7040880" y="1417320"/>
            <a:ext cx="4572000" cy="502920"/>
          </a:xfrm>
          <a:prstGeom prst="rect">
            <a:avLst/>
          </a:prstGeom>
          <a:noFill/>
          <a:ln/>
        </p:spPr>
        <p:txBody>
          <a:bodyPr wrap="square" lIns="0" tIns="0" rIns="0" bIns="0" rtlCol="0" anchor="ctr"/>
          <a:lstStyle/>
          <a:p>
            <a:pPr marL="0" indent="0" algn="ctr">
              <a:buNone/>
            </a:pPr>
            <a:r>
              <a:rPr lang="en-US" sz="1400" b="1" dirty="0">
                <a:solidFill>
                  <a:srgbClr val="023430"/>
                </a:solidFill>
                <a:latin typeface="Calibri" pitchFamily="34" charset="0"/>
                <a:ea typeface="Calibri" pitchFamily="34" charset="-122"/>
                <a:cs typeface="Calibri" pitchFamily="34" charset="-120"/>
              </a:rPr>
              <a:t>What You Learn</a:t>
            </a:r>
            <a:endParaRPr lang="en-US" sz="1400" dirty="0"/>
          </a:p>
        </p:txBody>
      </p:sp>
      <p:sp>
        <p:nvSpPr>
          <p:cNvPr id="11" name="Shape 9"/>
          <p:cNvSpPr/>
          <p:nvPr/>
        </p:nvSpPr>
        <p:spPr>
          <a:xfrm>
            <a:off x="548640" y="1965960"/>
            <a:ext cx="548640" cy="1115568"/>
          </a:xfrm>
          <a:prstGeom prst="rect">
            <a:avLst/>
          </a:prstGeom>
          <a:solidFill>
            <a:srgbClr val="FFFFFF"/>
          </a:solidFill>
          <a:ln/>
        </p:spPr>
      </p:sp>
      <p:sp>
        <p:nvSpPr>
          <p:cNvPr id="12" name="Text 10"/>
          <p:cNvSpPr/>
          <p:nvPr/>
        </p:nvSpPr>
        <p:spPr>
          <a:xfrm>
            <a:off x="713232" y="1965960"/>
            <a:ext cx="219456" cy="1115568"/>
          </a:xfrm>
          <a:prstGeom prst="rect">
            <a:avLst/>
          </a:prstGeom>
          <a:noFill/>
          <a:ln/>
        </p:spPr>
        <p:txBody>
          <a:bodyPr wrap="square" lIns="0" tIns="0" rIns="0" bIns="0" rtlCol="0" anchor="ctr"/>
          <a:lstStyle/>
          <a:p>
            <a:pPr marL="0" indent="0">
              <a:lnSpc>
                <a:spcPct val="115000"/>
              </a:lnSpc>
              <a:buNone/>
            </a:pPr>
            <a:r>
              <a:rPr lang="en-US" sz="1100" b="1" dirty="0">
                <a:solidFill>
                  <a:srgbClr val="023430"/>
                </a:solidFill>
                <a:latin typeface="Calibri" pitchFamily="34" charset="0"/>
                <a:ea typeface="Calibri" pitchFamily="34" charset="-122"/>
                <a:cs typeface="Calibri" pitchFamily="34" charset="-120"/>
              </a:rPr>
              <a:t>1</a:t>
            </a:r>
            <a:endParaRPr lang="en-US" sz="1100" dirty="0"/>
          </a:p>
        </p:txBody>
      </p:sp>
      <p:sp>
        <p:nvSpPr>
          <p:cNvPr id="13" name="Shape 11"/>
          <p:cNvSpPr/>
          <p:nvPr/>
        </p:nvSpPr>
        <p:spPr>
          <a:xfrm>
            <a:off x="1097280" y="1965960"/>
            <a:ext cx="2651760" cy="1115568"/>
          </a:xfrm>
          <a:prstGeom prst="rect">
            <a:avLst/>
          </a:prstGeom>
          <a:solidFill>
            <a:srgbClr val="FFFFFF"/>
          </a:solidFill>
          <a:ln/>
        </p:spPr>
      </p:sp>
      <p:sp>
        <p:nvSpPr>
          <p:cNvPr id="14" name="Text 12"/>
          <p:cNvSpPr/>
          <p:nvPr/>
        </p:nvSpPr>
        <p:spPr>
          <a:xfrm>
            <a:off x="1261872" y="1965960"/>
            <a:ext cx="2322576" cy="1115568"/>
          </a:xfrm>
          <a:prstGeom prst="rect">
            <a:avLst/>
          </a:prstGeom>
          <a:noFill/>
          <a:ln/>
        </p:spPr>
        <p:txBody>
          <a:bodyPr wrap="square" lIns="0" tIns="0" rIns="0" bIns="0" rtlCol="0" anchor="ctr"/>
          <a:lstStyle/>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Student Records</a:t>
            </a:r>
            <a:endParaRPr lang="en-US" sz="1100" dirty="0"/>
          </a:p>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Lookup (Beginner)</a:t>
            </a:r>
            <a:endParaRPr lang="en-US" sz="1100" dirty="0"/>
          </a:p>
        </p:txBody>
      </p:sp>
      <p:sp>
        <p:nvSpPr>
          <p:cNvPr id="15" name="Shape 13"/>
          <p:cNvSpPr/>
          <p:nvPr/>
        </p:nvSpPr>
        <p:spPr>
          <a:xfrm>
            <a:off x="3749040" y="1965960"/>
            <a:ext cx="3291840" cy="1115568"/>
          </a:xfrm>
          <a:prstGeom prst="rect">
            <a:avLst/>
          </a:prstGeom>
          <a:solidFill>
            <a:srgbClr val="FFFFFF"/>
          </a:solidFill>
          <a:ln/>
        </p:spPr>
      </p:sp>
      <p:sp>
        <p:nvSpPr>
          <p:cNvPr id="16" name="Text 14"/>
          <p:cNvSpPr/>
          <p:nvPr/>
        </p:nvSpPr>
        <p:spPr>
          <a:xfrm>
            <a:off x="3913632" y="1965960"/>
            <a:ext cx="2962656" cy="1115568"/>
          </a:xfrm>
          <a:prstGeom prst="rect">
            <a:avLst/>
          </a:prstGeom>
          <a:noFill/>
          <a:ln/>
        </p:spPr>
        <p:txBody>
          <a:bodyPr wrap="square" lIns="0" tIns="0" rIns="0" bIns="0" rtlCol="0" anchor="ctr"/>
          <a:lstStyle/>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MongoDB Basics:</a:t>
            </a:r>
            <a:endParaRPr lang="en-US" sz="1100" dirty="0"/>
          </a:p>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How To Look Up Data</a:t>
            </a:r>
            <a:endParaRPr lang="en-US" sz="1100" dirty="0"/>
          </a:p>
        </p:txBody>
      </p:sp>
      <p:sp>
        <p:nvSpPr>
          <p:cNvPr id="17" name="Shape 15"/>
          <p:cNvSpPr/>
          <p:nvPr/>
        </p:nvSpPr>
        <p:spPr>
          <a:xfrm>
            <a:off x="7040880" y="1965960"/>
            <a:ext cx="4572000" cy="1115568"/>
          </a:xfrm>
          <a:prstGeom prst="rect">
            <a:avLst/>
          </a:prstGeom>
          <a:solidFill>
            <a:srgbClr val="FFFFFF"/>
          </a:solidFill>
          <a:ln/>
        </p:spPr>
      </p:sp>
      <p:sp>
        <p:nvSpPr>
          <p:cNvPr id="18" name="Text 16"/>
          <p:cNvSpPr/>
          <p:nvPr/>
        </p:nvSpPr>
        <p:spPr>
          <a:xfrm>
            <a:off x="7205472" y="1965960"/>
            <a:ext cx="4242816" cy="1115568"/>
          </a:xfrm>
          <a:prstGeom prst="rect">
            <a:avLst/>
          </a:prstGeom>
          <a:noFill/>
          <a:ln/>
        </p:spPr>
        <p:txBody>
          <a:bodyPr wrap="square" lIns="0" tIns="0" rIns="0" bIns="0" rtlCol="0" anchor="ctr"/>
          <a:lstStyle/>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Connect to the database, add data, search, sort, and do simple totals.</a:t>
            </a:r>
            <a:endParaRPr lang="en-US" sz="1100" dirty="0"/>
          </a:p>
        </p:txBody>
      </p:sp>
      <p:sp>
        <p:nvSpPr>
          <p:cNvPr id="19" name="Shape 17"/>
          <p:cNvSpPr/>
          <p:nvPr/>
        </p:nvSpPr>
        <p:spPr>
          <a:xfrm>
            <a:off x="548640" y="3081528"/>
            <a:ext cx="548640" cy="1115568"/>
          </a:xfrm>
          <a:prstGeom prst="rect">
            <a:avLst/>
          </a:prstGeom>
          <a:solidFill>
            <a:srgbClr val="EAF3EE"/>
          </a:solidFill>
          <a:ln/>
        </p:spPr>
      </p:sp>
      <p:sp>
        <p:nvSpPr>
          <p:cNvPr id="20" name="Text 18"/>
          <p:cNvSpPr/>
          <p:nvPr/>
        </p:nvSpPr>
        <p:spPr>
          <a:xfrm>
            <a:off x="713232" y="3081528"/>
            <a:ext cx="219456" cy="1115568"/>
          </a:xfrm>
          <a:prstGeom prst="rect">
            <a:avLst/>
          </a:prstGeom>
          <a:noFill/>
          <a:ln/>
        </p:spPr>
        <p:txBody>
          <a:bodyPr wrap="square" lIns="0" tIns="0" rIns="0" bIns="0" rtlCol="0" anchor="ctr"/>
          <a:lstStyle/>
          <a:p>
            <a:pPr marL="0" indent="0">
              <a:lnSpc>
                <a:spcPct val="115000"/>
              </a:lnSpc>
              <a:buNone/>
            </a:pPr>
            <a:r>
              <a:rPr lang="en-US" sz="1100" b="1" dirty="0">
                <a:solidFill>
                  <a:srgbClr val="023430"/>
                </a:solidFill>
                <a:latin typeface="Calibri" pitchFamily="34" charset="0"/>
                <a:ea typeface="Calibri" pitchFamily="34" charset="-122"/>
                <a:cs typeface="Calibri" pitchFamily="34" charset="-120"/>
              </a:rPr>
              <a:t>2</a:t>
            </a:r>
            <a:endParaRPr lang="en-US" sz="1100" dirty="0"/>
          </a:p>
        </p:txBody>
      </p:sp>
      <p:sp>
        <p:nvSpPr>
          <p:cNvPr id="21" name="Shape 19"/>
          <p:cNvSpPr/>
          <p:nvPr/>
        </p:nvSpPr>
        <p:spPr>
          <a:xfrm>
            <a:off x="1097280" y="3081528"/>
            <a:ext cx="2651760" cy="1115568"/>
          </a:xfrm>
          <a:prstGeom prst="rect">
            <a:avLst/>
          </a:prstGeom>
          <a:solidFill>
            <a:srgbClr val="EAF3EE"/>
          </a:solidFill>
          <a:ln/>
        </p:spPr>
      </p:sp>
      <p:sp>
        <p:nvSpPr>
          <p:cNvPr id="22" name="Text 20"/>
          <p:cNvSpPr/>
          <p:nvPr/>
        </p:nvSpPr>
        <p:spPr>
          <a:xfrm>
            <a:off x="1261872" y="3081528"/>
            <a:ext cx="2322576" cy="1115568"/>
          </a:xfrm>
          <a:prstGeom prst="rect">
            <a:avLst/>
          </a:prstGeom>
          <a:noFill/>
          <a:ln/>
        </p:spPr>
        <p:txBody>
          <a:bodyPr wrap="square" lIns="0" tIns="0" rIns="0" bIns="0" rtlCol="0" anchor="ctr"/>
          <a:lstStyle/>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Student Enrollment</a:t>
            </a:r>
            <a:endParaRPr lang="en-US" sz="1100" dirty="0"/>
          </a:p>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Tracker (Beginner)</a:t>
            </a:r>
            <a:endParaRPr lang="en-US" sz="1100" dirty="0"/>
          </a:p>
        </p:txBody>
      </p:sp>
      <p:sp>
        <p:nvSpPr>
          <p:cNvPr id="23" name="Shape 21"/>
          <p:cNvSpPr/>
          <p:nvPr/>
        </p:nvSpPr>
        <p:spPr>
          <a:xfrm>
            <a:off x="3749040" y="3081528"/>
            <a:ext cx="3291840" cy="1115568"/>
          </a:xfrm>
          <a:prstGeom prst="rect">
            <a:avLst/>
          </a:prstGeom>
          <a:solidFill>
            <a:srgbClr val="EAF3EE"/>
          </a:solidFill>
          <a:ln/>
        </p:spPr>
      </p:sp>
      <p:sp>
        <p:nvSpPr>
          <p:cNvPr id="24" name="Text 22"/>
          <p:cNvSpPr/>
          <p:nvPr/>
        </p:nvSpPr>
        <p:spPr>
          <a:xfrm>
            <a:off x="3913632" y="3081528"/>
            <a:ext cx="2962656" cy="1115568"/>
          </a:xfrm>
          <a:prstGeom prst="rect">
            <a:avLst/>
          </a:prstGeom>
          <a:noFill/>
          <a:ln/>
        </p:spPr>
        <p:txBody>
          <a:bodyPr wrap="square" lIns="0" tIns="0" rIns="0" bIns="0" rtlCol="0" anchor="ctr"/>
          <a:lstStyle/>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MongoDB Basics: How To</a:t>
            </a:r>
            <a:endParaRPr lang="en-US" sz="1100" dirty="0"/>
          </a:p>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Add, Change, Remove Data</a:t>
            </a:r>
            <a:endParaRPr lang="en-US" sz="1100" dirty="0"/>
          </a:p>
        </p:txBody>
      </p:sp>
      <p:sp>
        <p:nvSpPr>
          <p:cNvPr id="25" name="Shape 23"/>
          <p:cNvSpPr/>
          <p:nvPr/>
        </p:nvSpPr>
        <p:spPr>
          <a:xfrm>
            <a:off x="7040880" y="3081528"/>
            <a:ext cx="4572000" cy="1115568"/>
          </a:xfrm>
          <a:prstGeom prst="rect">
            <a:avLst/>
          </a:prstGeom>
          <a:solidFill>
            <a:srgbClr val="EAF3EE"/>
          </a:solidFill>
          <a:ln/>
        </p:spPr>
      </p:sp>
      <p:sp>
        <p:nvSpPr>
          <p:cNvPr id="26" name="Text 24"/>
          <p:cNvSpPr/>
          <p:nvPr/>
        </p:nvSpPr>
        <p:spPr>
          <a:xfrm>
            <a:off x="7205472" y="3081528"/>
            <a:ext cx="4242816" cy="1115568"/>
          </a:xfrm>
          <a:prstGeom prst="rect">
            <a:avLst/>
          </a:prstGeom>
          <a:noFill/>
          <a:ln/>
        </p:spPr>
        <p:txBody>
          <a:bodyPr wrap="square" lIns="0" tIns="0" rIns="0" bIns="0" rtlCol="0" anchor="ctr"/>
          <a:lstStyle/>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The full cycle of adding, changing, deleting data, plus “upserts” (update if it exists, add it if not).</a:t>
            </a:r>
            <a:endParaRPr lang="en-US" sz="1100" dirty="0"/>
          </a:p>
        </p:txBody>
      </p:sp>
      <p:sp>
        <p:nvSpPr>
          <p:cNvPr id="27" name="Shape 25"/>
          <p:cNvSpPr/>
          <p:nvPr/>
        </p:nvSpPr>
        <p:spPr>
          <a:xfrm>
            <a:off x="548640" y="4197096"/>
            <a:ext cx="548640" cy="1115568"/>
          </a:xfrm>
          <a:prstGeom prst="rect">
            <a:avLst/>
          </a:prstGeom>
          <a:solidFill>
            <a:srgbClr val="FFFFFF"/>
          </a:solidFill>
          <a:ln/>
        </p:spPr>
      </p:sp>
      <p:sp>
        <p:nvSpPr>
          <p:cNvPr id="28" name="Text 26"/>
          <p:cNvSpPr/>
          <p:nvPr/>
        </p:nvSpPr>
        <p:spPr>
          <a:xfrm>
            <a:off x="713232" y="4197096"/>
            <a:ext cx="219456" cy="1115568"/>
          </a:xfrm>
          <a:prstGeom prst="rect">
            <a:avLst/>
          </a:prstGeom>
          <a:noFill/>
          <a:ln/>
        </p:spPr>
        <p:txBody>
          <a:bodyPr wrap="square" lIns="0" tIns="0" rIns="0" bIns="0" rtlCol="0" anchor="ctr"/>
          <a:lstStyle/>
          <a:p>
            <a:pPr marL="0" indent="0">
              <a:lnSpc>
                <a:spcPct val="115000"/>
              </a:lnSpc>
              <a:buNone/>
            </a:pPr>
            <a:r>
              <a:rPr lang="en-US" sz="1100" b="1" dirty="0">
                <a:solidFill>
                  <a:srgbClr val="023430"/>
                </a:solidFill>
                <a:latin typeface="Calibri" pitchFamily="34" charset="0"/>
                <a:ea typeface="Calibri" pitchFamily="34" charset="-122"/>
                <a:cs typeface="Calibri" pitchFamily="34" charset="-120"/>
              </a:rPr>
              <a:t>3</a:t>
            </a:r>
            <a:endParaRPr lang="en-US" sz="1100" dirty="0"/>
          </a:p>
        </p:txBody>
      </p:sp>
      <p:sp>
        <p:nvSpPr>
          <p:cNvPr id="29" name="Shape 27"/>
          <p:cNvSpPr/>
          <p:nvPr/>
        </p:nvSpPr>
        <p:spPr>
          <a:xfrm>
            <a:off x="1097280" y="4197096"/>
            <a:ext cx="2651760" cy="1115568"/>
          </a:xfrm>
          <a:prstGeom prst="rect">
            <a:avLst/>
          </a:prstGeom>
          <a:solidFill>
            <a:srgbClr val="FFFFFF"/>
          </a:solidFill>
          <a:ln/>
        </p:spPr>
      </p:sp>
      <p:sp>
        <p:nvSpPr>
          <p:cNvPr id="30" name="Text 28"/>
          <p:cNvSpPr/>
          <p:nvPr/>
        </p:nvSpPr>
        <p:spPr>
          <a:xfrm>
            <a:off x="1261872" y="4197096"/>
            <a:ext cx="2322576" cy="1115568"/>
          </a:xfrm>
          <a:prstGeom prst="rect">
            <a:avLst/>
          </a:prstGeom>
          <a:noFill/>
          <a:ln/>
        </p:spPr>
        <p:txBody>
          <a:bodyPr wrap="square" lIns="0" tIns="0" rIns="0" bIns="0" rtlCol="0" anchor="ctr"/>
          <a:lstStyle/>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Academic Performance</a:t>
            </a:r>
            <a:endParaRPr lang="en-US" sz="1100" dirty="0"/>
          </a:p>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Analytics (Intermediate)</a:t>
            </a:r>
            <a:endParaRPr lang="en-US" sz="1100" dirty="0"/>
          </a:p>
        </p:txBody>
      </p:sp>
      <p:sp>
        <p:nvSpPr>
          <p:cNvPr id="31" name="Shape 29"/>
          <p:cNvSpPr/>
          <p:nvPr/>
        </p:nvSpPr>
        <p:spPr>
          <a:xfrm>
            <a:off x="3749040" y="4197096"/>
            <a:ext cx="3291840" cy="1115568"/>
          </a:xfrm>
          <a:prstGeom prst="rect">
            <a:avLst/>
          </a:prstGeom>
          <a:solidFill>
            <a:srgbClr val="FFFFFF"/>
          </a:solidFill>
          <a:ln/>
        </p:spPr>
      </p:sp>
      <p:sp>
        <p:nvSpPr>
          <p:cNvPr id="32" name="Text 30"/>
          <p:cNvSpPr/>
          <p:nvPr/>
        </p:nvSpPr>
        <p:spPr>
          <a:xfrm>
            <a:off x="3913632" y="4197096"/>
            <a:ext cx="2962656" cy="1115568"/>
          </a:xfrm>
          <a:prstGeom prst="rect">
            <a:avLst/>
          </a:prstGeom>
          <a:noFill/>
          <a:ln/>
        </p:spPr>
        <p:txBody>
          <a:bodyPr wrap="square" lIns="0" tIns="0" rIns="0" bIns="0" rtlCol="0" anchor="ctr"/>
          <a:lstStyle/>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MongoDB Intermediate:</a:t>
            </a:r>
            <a:endParaRPr lang="en-US" sz="1100" dirty="0"/>
          </a:p>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Studying Data In Groups</a:t>
            </a:r>
            <a:endParaRPr lang="en-US" sz="1100" dirty="0"/>
          </a:p>
        </p:txBody>
      </p:sp>
      <p:sp>
        <p:nvSpPr>
          <p:cNvPr id="33" name="Shape 31"/>
          <p:cNvSpPr/>
          <p:nvPr/>
        </p:nvSpPr>
        <p:spPr>
          <a:xfrm>
            <a:off x="7040880" y="4197096"/>
            <a:ext cx="4572000" cy="1115568"/>
          </a:xfrm>
          <a:prstGeom prst="rect">
            <a:avLst/>
          </a:prstGeom>
          <a:solidFill>
            <a:srgbClr val="FFFFFF"/>
          </a:solidFill>
          <a:ln/>
        </p:spPr>
      </p:sp>
      <p:sp>
        <p:nvSpPr>
          <p:cNvPr id="34" name="Text 32"/>
          <p:cNvSpPr/>
          <p:nvPr/>
        </p:nvSpPr>
        <p:spPr>
          <a:xfrm>
            <a:off x="7205472" y="4197096"/>
            <a:ext cx="4242816" cy="1115568"/>
          </a:xfrm>
          <a:prstGeom prst="rect">
            <a:avLst/>
          </a:prstGeom>
          <a:noFill/>
          <a:ln/>
        </p:spPr>
        <p:txBody>
          <a:bodyPr wrap="square" lIns="0" tIns="0" rIns="0" bIns="0" rtlCol="0" anchor="ctr"/>
          <a:lstStyle/>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Aggregation pipelines, indexes, and checking if a search is fast using .explain().</a:t>
            </a:r>
            <a:endParaRPr lang="en-US" sz="1100" dirty="0"/>
          </a:p>
        </p:txBody>
      </p:sp>
      <p:sp>
        <p:nvSpPr>
          <p:cNvPr id="35" name="Shape 33"/>
          <p:cNvSpPr/>
          <p:nvPr/>
        </p:nvSpPr>
        <p:spPr>
          <a:xfrm>
            <a:off x="548640" y="5312664"/>
            <a:ext cx="548640" cy="1115568"/>
          </a:xfrm>
          <a:prstGeom prst="rect">
            <a:avLst/>
          </a:prstGeom>
          <a:solidFill>
            <a:srgbClr val="EAF3EE"/>
          </a:solidFill>
          <a:ln/>
        </p:spPr>
      </p:sp>
      <p:sp>
        <p:nvSpPr>
          <p:cNvPr id="36" name="Text 34"/>
          <p:cNvSpPr/>
          <p:nvPr/>
        </p:nvSpPr>
        <p:spPr>
          <a:xfrm>
            <a:off x="713232" y="5312664"/>
            <a:ext cx="219456" cy="1115568"/>
          </a:xfrm>
          <a:prstGeom prst="rect">
            <a:avLst/>
          </a:prstGeom>
          <a:noFill/>
          <a:ln/>
        </p:spPr>
        <p:txBody>
          <a:bodyPr wrap="square" lIns="0" tIns="0" rIns="0" bIns="0" rtlCol="0" anchor="ctr"/>
          <a:lstStyle/>
          <a:p>
            <a:pPr marL="0" indent="0">
              <a:lnSpc>
                <a:spcPct val="115000"/>
              </a:lnSpc>
              <a:buNone/>
            </a:pPr>
            <a:r>
              <a:rPr lang="en-US" sz="1100" b="1" dirty="0">
                <a:solidFill>
                  <a:srgbClr val="023430"/>
                </a:solidFill>
                <a:latin typeface="Calibri" pitchFamily="34" charset="0"/>
                <a:ea typeface="Calibri" pitchFamily="34" charset="-122"/>
                <a:cs typeface="Calibri" pitchFamily="34" charset="-120"/>
              </a:rPr>
              <a:t>4</a:t>
            </a:r>
            <a:endParaRPr lang="en-US" sz="1100" dirty="0"/>
          </a:p>
        </p:txBody>
      </p:sp>
      <p:sp>
        <p:nvSpPr>
          <p:cNvPr id="37" name="Shape 35"/>
          <p:cNvSpPr/>
          <p:nvPr/>
        </p:nvSpPr>
        <p:spPr>
          <a:xfrm>
            <a:off x="1097280" y="5312664"/>
            <a:ext cx="2651760" cy="1115568"/>
          </a:xfrm>
          <a:prstGeom prst="rect">
            <a:avLst/>
          </a:prstGeom>
          <a:solidFill>
            <a:srgbClr val="EAF3EE"/>
          </a:solidFill>
          <a:ln/>
        </p:spPr>
      </p:sp>
      <p:sp>
        <p:nvSpPr>
          <p:cNvPr id="38" name="Text 36"/>
          <p:cNvSpPr/>
          <p:nvPr/>
        </p:nvSpPr>
        <p:spPr>
          <a:xfrm>
            <a:off x="1261872" y="5312664"/>
            <a:ext cx="2322576" cy="1115568"/>
          </a:xfrm>
          <a:prstGeom prst="rect">
            <a:avLst/>
          </a:prstGeom>
          <a:noFill/>
          <a:ln/>
        </p:spPr>
        <p:txBody>
          <a:bodyPr wrap="square" lIns="0" tIns="0" rIns="0" bIns="0" rtlCol="0" anchor="ctr"/>
          <a:lstStyle/>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Courses &amp; Instructors</a:t>
            </a:r>
            <a:endParaRPr lang="en-US" sz="1100" dirty="0"/>
          </a:p>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(Intermediate)</a:t>
            </a:r>
            <a:endParaRPr lang="en-US" sz="1100" dirty="0"/>
          </a:p>
        </p:txBody>
      </p:sp>
      <p:sp>
        <p:nvSpPr>
          <p:cNvPr id="39" name="Shape 37"/>
          <p:cNvSpPr/>
          <p:nvPr/>
        </p:nvSpPr>
        <p:spPr>
          <a:xfrm>
            <a:off x="3749040" y="5312664"/>
            <a:ext cx="3291840" cy="1115568"/>
          </a:xfrm>
          <a:prstGeom prst="rect">
            <a:avLst/>
          </a:prstGeom>
          <a:solidFill>
            <a:srgbClr val="EAF3EE"/>
          </a:solidFill>
          <a:ln/>
        </p:spPr>
      </p:sp>
      <p:sp>
        <p:nvSpPr>
          <p:cNvPr id="40" name="Text 38"/>
          <p:cNvSpPr/>
          <p:nvPr/>
        </p:nvSpPr>
        <p:spPr>
          <a:xfrm>
            <a:off x="3913632" y="5312664"/>
            <a:ext cx="2962656" cy="1115568"/>
          </a:xfrm>
          <a:prstGeom prst="rect">
            <a:avLst/>
          </a:prstGeom>
          <a:noFill/>
          <a:ln/>
        </p:spPr>
        <p:txBody>
          <a:bodyPr wrap="square" lIns="0" tIns="0" rIns="0" bIns="0" rtlCol="0" anchor="ctr"/>
          <a:lstStyle/>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MongoDB Intermediate:</a:t>
            </a:r>
            <a:endParaRPr lang="en-US" sz="1100" dirty="0"/>
          </a:p>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Design Data &amp; Search Text</a:t>
            </a:r>
            <a:endParaRPr lang="en-US" sz="1100" dirty="0"/>
          </a:p>
        </p:txBody>
      </p:sp>
      <p:sp>
        <p:nvSpPr>
          <p:cNvPr id="41" name="Shape 39"/>
          <p:cNvSpPr/>
          <p:nvPr/>
        </p:nvSpPr>
        <p:spPr>
          <a:xfrm>
            <a:off x="7040880" y="5312664"/>
            <a:ext cx="4572000" cy="1115568"/>
          </a:xfrm>
          <a:prstGeom prst="rect">
            <a:avLst/>
          </a:prstGeom>
          <a:solidFill>
            <a:srgbClr val="EAF3EE"/>
          </a:solidFill>
          <a:ln/>
        </p:spPr>
      </p:sp>
      <p:sp>
        <p:nvSpPr>
          <p:cNvPr id="42" name="Text 40"/>
          <p:cNvSpPr/>
          <p:nvPr/>
        </p:nvSpPr>
        <p:spPr>
          <a:xfrm>
            <a:off x="7205472" y="5312664"/>
            <a:ext cx="4242816" cy="1115568"/>
          </a:xfrm>
          <a:prstGeom prst="rect">
            <a:avLst/>
          </a:prstGeom>
          <a:noFill/>
          <a:ln/>
        </p:spPr>
        <p:txBody>
          <a:bodyPr wrap="square" lIns="0" tIns="0" rIns="0" bIns="0" rtlCol="0" anchor="ctr"/>
          <a:lstStyle/>
          <a:p>
            <a:pPr marL="0" indent="0">
              <a:lnSpc>
                <a:spcPct val="115000"/>
              </a:lnSpc>
              <a:buNone/>
            </a:pPr>
            <a:r>
              <a:rPr lang="en-US" sz="1100" dirty="0">
                <a:solidFill>
                  <a:srgbClr val="0B2B22"/>
                </a:solidFill>
                <a:latin typeface="Calibri" pitchFamily="34" charset="0"/>
                <a:ea typeface="Calibri" pitchFamily="34" charset="-122"/>
                <a:cs typeface="Calibri" pitchFamily="34" charset="-120"/>
              </a:rPr>
              <a:t>Designing data (embedding vs. referencing), linking collections ($lookup), searching text.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Lab-by-Lab — Labs 5 to 7</a:t>
            </a:r>
            <a:endParaRPr lang="en-US" sz="2800" dirty="0"/>
          </a:p>
        </p:txBody>
      </p:sp>
      <p:sp>
        <p:nvSpPr>
          <p:cNvPr id="3" name="Shape 1"/>
          <p:cNvSpPr/>
          <p:nvPr/>
        </p:nvSpPr>
        <p:spPr>
          <a:xfrm>
            <a:off x="548640" y="1417320"/>
            <a:ext cx="548640" cy="502920"/>
          </a:xfrm>
          <a:prstGeom prst="roundRect">
            <a:avLst>
              <a:gd name="adj" fmla="val 14545"/>
            </a:avLst>
          </a:prstGeom>
          <a:solidFill>
            <a:srgbClr val="023430"/>
          </a:solidFill>
          <a:ln/>
        </p:spPr>
      </p:sp>
      <p:sp>
        <p:nvSpPr>
          <p:cNvPr id="4" name="Text 2"/>
          <p:cNvSpPr/>
          <p:nvPr/>
        </p:nvSpPr>
        <p:spPr>
          <a:xfrm>
            <a:off x="548640" y="1417320"/>
            <a:ext cx="5486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5" name="Shape 3"/>
          <p:cNvSpPr/>
          <p:nvPr/>
        </p:nvSpPr>
        <p:spPr>
          <a:xfrm>
            <a:off x="1097280" y="1417320"/>
            <a:ext cx="2651760" cy="502920"/>
          </a:xfrm>
          <a:prstGeom prst="roundRect">
            <a:avLst>
              <a:gd name="adj" fmla="val 14545"/>
            </a:avLst>
          </a:prstGeom>
          <a:solidFill>
            <a:srgbClr val="023430"/>
          </a:solidFill>
          <a:ln/>
        </p:spPr>
      </p:sp>
      <p:sp>
        <p:nvSpPr>
          <p:cNvPr id="6" name="Text 4"/>
          <p:cNvSpPr/>
          <p:nvPr/>
        </p:nvSpPr>
        <p:spPr>
          <a:xfrm>
            <a:off x="1097280" y="1417320"/>
            <a:ext cx="26517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Lab</a:t>
            </a:r>
            <a:endParaRPr lang="en-US" sz="1400" dirty="0"/>
          </a:p>
        </p:txBody>
      </p:sp>
      <p:sp>
        <p:nvSpPr>
          <p:cNvPr id="7" name="Shape 5"/>
          <p:cNvSpPr/>
          <p:nvPr/>
        </p:nvSpPr>
        <p:spPr>
          <a:xfrm>
            <a:off x="3749040" y="1417320"/>
            <a:ext cx="3291840" cy="502920"/>
          </a:xfrm>
          <a:prstGeom prst="roundRect">
            <a:avLst>
              <a:gd name="adj" fmla="val 14545"/>
            </a:avLst>
          </a:prstGeom>
          <a:solidFill>
            <a:srgbClr val="0A4A3B"/>
          </a:solidFill>
          <a:ln/>
        </p:spPr>
      </p:sp>
      <p:sp>
        <p:nvSpPr>
          <p:cNvPr id="8" name="Text 6"/>
          <p:cNvSpPr/>
          <p:nvPr/>
        </p:nvSpPr>
        <p:spPr>
          <a:xfrm>
            <a:off x="3749040" y="1417320"/>
            <a:ext cx="32918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Concept Title</a:t>
            </a:r>
            <a:endParaRPr lang="en-US" sz="1400" dirty="0"/>
          </a:p>
        </p:txBody>
      </p:sp>
      <p:sp>
        <p:nvSpPr>
          <p:cNvPr id="9" name="Shape 7"/>
          <p:cNvSpPr/>
          <p:nvPr/>
        </p:nvSpPr>
        <p:spPr>
          <a:xfrm>
            <a:off x="7040880" y="1417320"/>
            <a:ext cx="4572000" cy="502920"/>
          </a:xfrm>
          <a:prstGeom prst="roundRect">
            <a:avLst>
              <a:gd name="adj" fmla="val 14545"/>
            </a:avLst>
          </a:prstGeom>
          <a:solidFill>
            <a:srgbClr val="00ED64"/>
          </a:solidFill>
          <a:ln/>
        </p:spPr>
      </p:sp>
      <p:sp>
        <p:nvSpPr>
          <p:cNvPr id="10" name="Text 8"/>
          <p:cNvSpPr/>
          <p:nvPr/>
        </p:nvSpPr>
        <p:spPr>
          <a:xfrm>
            <a:off x="7040880" y="1417320"/>
            <a:ext cx="4572000" cy="502920"/>
          </a:xfrm>
          <a:prstGeom prst="rect">
            <a:avLst/>
          </a:prstGeom>
          <a:noFill/>
          <a:ln/>
        </p:spPr>
        <p:txBody>
          <a:bodyPr wrap="square" lIns="0" tIns="0" rIns="0" bIns="0" rtlCol="0" anchor="ctr"/>
          <a:lstStyle/>
          <a:p>
            <a:pPr marL="0" indent="0" algn="ctr">
              <a:buNone/>
            </a:pPr>
            <a:r>
              <a:rPr lang="en-US" sz="1400" b="1" dirty="0">
                <a:solidFill>
                  <a:srgbClr val="023430"/>
                </a:solidFill>
                <a:latin typeface="Calibri" pitchFamily="34" charset="0"/>
                <a:ea typeface="Calibri" pitchFamily="34" charset="-122"/>
                <a:cs typeface="Calibri" pitchFamily="34" charset="-120"/>
              </a:rPr>
              <a:t>What You Learn</a:t>
            </a:r>
            <a:endParaRPr lang="en-US" sz="1400" dirty="0"/>
          </a:p>
        </p:txBody>
      </p:sp>
      <p:sp>
        <p:nvSpPr>
          <p:cNvPr id="11" name="Shape 9"/>
          <p:cNvSpPr/>
          <p:nvPr/>
        </p:nvSpPr>
        <p:spPr>
          <a:xfrm>
            <a:off x="548640" y="1965960"/>
            <a:ext cx="548640" cy="1417320"/>
          </a:xfrm>
          <a:prstGeom prst="rect">
            <a:avLst/>
          </a:prstGeom>
          <a:solidFill>
            <a:srgbClr val="FFFFFF"/>
          </a:solidFill>
          <a:ln/>
        </p:spPr>
      </p:sp>
      <p:sp>
        <p:nvSpPr>
          <p:cNvPr id="12" name="Text 10"/>
          <p:cNvSpPr/>
          <p:nvPr/>
        </p:nvSpPr>
        <p:spPr>
          <a:xfrm>
            <a:off x="713232" y="1965960"/>
            <a:ext cx="219456" cy="1417320"/>
          </a:xfrm>
          <a:prstGeom prst="rect">
            <a:avLst/>
          </a:prstGeom>
          <a:noFill/>
          <a:ln/>
        </p:spPr>
        <p:txBody>
          <a:bodyPr wrap="square" lIns="0" tIns="0" rIns="0" bIns="0" rtlCol="0" anchor="ctr"/>
          <a:lstStyle/>
          <a:p>
            <a:pPr marL="0" indent="0">
              <a:lnSpc>
                <a:spcPct val="115000"/>
              </a:lnSpc>
              <a:buNone/>
            </a:pPr>
            <a:r>
              <a:rPr lang="en-US" sz="1150" b="1" dirty="0">
                <a:solidFill>
                  <a:srgbClr val="023430"/>
                </a:solidFill>
                <a:latin typeface="Calibri" pitchFamily="34" charset="0"/>
                <a:ea typeface="Calibri" pitchFamily="34" charset="-122"/>
                <a:cs typeface="Calibri" pitchFamily="34" charset="-120"/>
              </a:rPr>
              <a:t>5</a:t>
            </a:r>
            <a:endParaRPr lang="en-US" sz="1150" dirty="0"/>
          </a:p>
        </p:txBody>
      </p:sp>
      <p:sp>
        <p:nvSpPr>
          <p:cNvPr id="13" name="Shape 11"/>
          <p:cNvSpPr/>
          <p:nvPr/>
        </p:nvSpPr>
        <p:spPr>
          <a:xfrm>
            <a:off x="1097280" y="1965960"/>
            <a:ext cx="2651760" cy="1417320"/>
          </a:xfrm>
          <a:prstGeom prst="rect">
            <a:avLst/>
          </a:prstGeom>
          <a:solidFill>
            <a:srgbClr val="FFFFFF"/>
          </a:solidFill>
          <a:ln/>
        </p:spPr>
      </p:sp>
      <p:sp>
        <p:nvSpPr>
          <p:cNvPr id="14" name="Text 12"/>
          <p:cNvSpPr/>
          <p:nvPr/>
        </p:nvSpPr>
        <p:spPr>
          <a:xfrm>
            <a:off x="1261872" y="1965960"/>
            <a:ext cx="2322576" cy="1417320"/>
          </a:xfrm>
          <a:prstGeom prst="rect">
            <a:avLst/>
          </a:prstGeom>
          <a:noFill/>
          <a:ln/>
        </p:spPr>
        <p:txBody>
          <a:bodyPr wrap="square" lIns="0" tIns="0" rIns="0" bIns="0" rtlCol="0" anchor="ctr"/>
          <a:lstStyle/>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Enrollment Transactions</a:t>
            </a:r>
            <a:endParaRPr lang="en-US" sz="1150" dirty="0"/>
          </a:p>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(Advanced)</a:t>
            </a:r>
            <a:endParaRPr lang="en-US" sz="1150" dirty="0"/>
          </a:p>
        </p:txBody>
      </p:sp>
      <p:sp>
        <p:nvSpPr>
          <p:cNvPr id="15" name="Shape 13"/>
          <p:cNvSpPr/>
          <p:nvPr/>
        </p:nvSpPr>
        <p:spPr>
          <a:xfrm>
            <a:off x="3749040" y="1965960"/>
            <a:ext cx="3291840" cy="1417320"/>
          </a:xfrm>
          <a:prstGeom prst="rect">
            <a:avLst/>
          </a:prstGeom>
          <a:solidFill>
            <a:srgbClr val="FFFFFF"/>
          </a:solidFill>
          <a:ln/>
        </p:spPr>
      </p:sp>
      <p:sp>
        <p:nvSpPr>
          <p:cNvPr id="16" name="Text 14"/>
          <p:cNvSpPr/>
          <p:nvPr/>
        </p:nvSpPr>
        <p:spPr>
          <a:xfrm>
            <a:off x="3913632" y="1965960"/>
            <a:ext cx="2962656" cy="1417320"/>
          </a:xfrm>
          <a:prstGeom prst="rect">
            <a:avLst/>
          </a:prstGeom>
          <a:noFill/>
          <a:ln/>
        </p:spPr>
        <p:txBody>
          <a:bodyPr wrap="square" lIns="0" tIns="0" rIns="0" bIns="0" rtlCol="0" anchor="ctr"/>
          <a:lstStyle/>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MongoDB Advanced: Keep</a:t>
            </a:r>
            <a:endParaRPr lang="en-US" sz="1150" dirty="0"/>
          </a:p>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Data Safe and Correct</a:t>
            </a:r>
            <a:endParaRPr lang="en-US" sz="1150" dirty="0"/>
          </a:p>
        </p:txBody>
      </p:sp>
      <p:sp>
        <p:nvSpPr>
          <p:cNvPr id="17" name="Shape 15"/>
          <p:cNvSpPr/>
          <p:nvPr/>
        </p:nvSpPr>
        <p:spPr>
          <a:xfrm>
            <a:off x="7040880" y="1965960"/>
            <a:ext cx="4572000" cy="1417320"/>
          </a:xfrm>
          <a:prstGeom prst="rect">
            <a:avLst/>
          </a:prstGeom>
          <a:solidFill>
            <a:srgbClr val="FFFFFF"/>
          </a:solidFill>
          <a:ln/>
        </p:spPr>
      </p:sp>
      <p:sp>
        <p:nvSpPr>
          <p:cNvPr id="18" name="Text 16"/>
          <p:cNvSpPr/>
          <p:nvPr/>
        </p:nvSpPr>
        <p:spPr>
          <a:xfrm>
            <a:off x="7205472" y="1965960"/>
            <a:ext cx="4242816" cy="1417320"/>
          </a:xfrm>
          <a:prstGeom prst="rect">
            <a:avLst/>
          </a:prstGeom>
          <a:noFill/>
          <a:ln/>
        </p:spPr>
        <p:txBody>
          <a:bodyPr wrap="square" lIns="0" tIns="0" rIns="0" bIns="0" rtlCol="0" anchor="ctr"/>
          <a:lstStyle/>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Transactions (all-or-nothing saves), change streams (watching data change live), backup and restore.</a:t>
            </a:r>
            <a:endParaRPr lang="en-US" sz="1150" dirty="0"/>
          </a:p>
        </p:txBody>
      </p:sp>
      <p:sp>
        <p:nvSpPr>
          <p:cNvPr id="19" name="Shape 17"/>
          <p:cNvSpPr/>
          <p:nvPr/>
        </p:nvSpPr>
        <p:spPr>
          <a:xfrm>
            <a:off x="548640" y="3383280"/>
            <a:ext cx="548640" cy="1417320"/>
          </a:xfrm>
          <a:prstGeom prst="rect">
            <a:avLst/>
          </a:prstGeom>
          <a:solidFill>
            <a:srgbClr val="EAF3EE"/>
          </a:solidFill>
          <a:ln/>
        </p:spPr>
      </p:sp>
      <p:sp>
        <p:nvSpPr>
          <p:cNvPr id="20" name="Text 18"/>
          <p:cNvSpPr/>
          <p:nvPr/>
        </p:nvSpPr>
        <p:spPr>
          <a:xfrm>
            <a:off x="713232" y="3383280"/>
            <a:ext cx="219456" cy="1417320"/>
          </a:xfrm>
          <a:prstGeom prst="rect">
            <a:avLst/>
          </a:prstGeom>
          <a:noFill/>
          <a:ln/>
        </p:spPr>
        <p:txBody>
          <a:bodyPr wrap="square" lIns="0" tIns="0" rIns="0" bIns="0" rtlCol="0" anchor="ctr"/>
          <a:lstStyle/>
          <a:p>
            <a:pPr marL="0" indent="0">
              <a:lnSpc>
                <a:spcPct val="115000"/>
              </a:lnSpc>
              <a:buNone/>
            </a:pPr>
            <a:r>
              <a:rPr lang="en-US" sz="1150" b="1" dirty="0">
                <a:solidFill>
                  <a:srgbClr val="023430"/>
                </a:solidFill>
                <a:latin typeface="Calibri" pitchFamily="34" charset="0"/>
                <a:ea typeface="Calibri" pitchFamily="34" charset="-122"/>
                <a:cs typeface="Calibri" pitchFamily="34" charset="-120"/>
              </a:rPr>
              <a:t>6</a:t>
            </a:r>
            <a:endParaRPr lang="en-US" sz="1150" dirty="0"/>
          </a:p>
        </p:txBody>
      </p:sp>
      <p:sp>
        <p:nvSpPr>
          <p:cNvPr id="21" name="Shape 19"/>
          <p:cNvSpPr/>
          <p:nvPr/>
        </p:nvSpPr>
        <p:spPr>
          <a:xfrm>
            <a:off x="1097280" y="3383280"/>
            <a:ext cx="2651760" cy="1417320"/>
          </a:xfrm>
          <a:prstGeom prst="rect">
            <a:avLst/>
          </a:prstGeom>
          <a:solidFill>
            <a:srgbClr val="EAF3EE"/>
          </a:solidFill>
          <a:ln/>
        </p:spPr>
      </p:sp>
      <p:sp>
        <p:nvSpPr>
          <p:cNvPr id="22" name="Text 20"/>
          <p:cNvSpPr/>
          <p:nvPr/>
        </p:nvSpPr>
        <p:spPr>
          <a:xfrm>
            <a:off x="1261872" y="3383280"/>
            <a:ext cx="2322576" cy="1417320"/>
          </a:xfrm>
          <a:prstGeom prst="rect">
            <a:avLst/>
          </a:prstGeom>
          <a:noFill/>
          <a:ln/>
        </p:spPr>
        <p:txBody>
          <a:bodyPr wrap="square" lIns="0" tIns="0" rIns="0" bIns="0" rtlCol="0" anchor="ctr"/>
          <a:lstStyle/>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Scaling the University</a:t>
            </a:r>
            <a:endParaRPr lang="en-US" sz="1150" dirty="0"/>
          </a:p>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Database (Advanced)</a:t>
            </a:r>
            <a:endParaRPr lang="en-US" sz="1150" dirty="0"/>
          </a:p>
        </p:txBody>
      </p:sp>
      <p:sp>
        <p:nvSpPr>
          <p:cNvPr id="23" name="Shape 21"/>
          <p:cNvSpPr/>
          <p:nvPr/>
        </p:nvSpPr>
        <p:spPr>
          <a:xfrm>
            <a:off x="3749040" y="3383280"/>
            <a:ext cx="3291840" cy="1417320"/>
          </a:xfrm>
          <a:prstGeom prst="rect">
            <a:avLst/>
          </a:prstGeom>
          <a:solidFill>
            <a:srgbClr val="EAF3EE"/>
          </a:solidFill>
          <a:ln/>
        </p:spPr>
      </p:sp>
      <p:sp>
        <p:nvSpPr>
          <p:cNvPr id="24" name="Text 22"/>
          <p:cNvSpPr/>
          <p:nvPr/>
        </p:nvSpPr>
        <p:spPr>
          <a:xfrm>
            <a:off x="3913632" y="3383280"/>
            <a:ext cx="2962656" cy="1417320"/>
          </a:xfrm>
          <a:prstGeom prst="rect">
            <a:avLst/>
          </a:prstGeom>
          <a:noFill/>
          <a:ln/>
        </p:spPr>
        <p:txBody>
          <a:bodyPr wrap="square" lIns="0" tIns="0" rIns="0" bIns="0" rtlCol="0" anchor="ctr"/>
          <a:lstStyle/>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MongoDB Advanced: Grow</a:t>
            </a:r>
            <a:endParaRPr lang="en-US" sz="1150" dirty="0"/>
          </a:p>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and Secure a Database</a:t>
            </a:r>
            <a:endParaRPr lang="en-US" sz="1150" dirty="0"/>
          </a:p>
        </p:txBody>
      </p:sp>
      <p:sp>
        <p:nvSpPr>
          <p:cNvPr id="25" name="Shape 23"/>
          <p:cNvSpPr/>
          <p:nvPr/>
        </p:nvSpPr>
        <p:spPr>
          <a:xfrm>
            <a:off x="7040880" y="3383280"/>
            <a:ext cx="4572000" cy="1417320"/>
          </a:xfrm>
          <a:prstGeom prst="rect">
            <a:avLst/>
          </a:prstGeom>
          <a:solidFill>
            <a:srgbClr val="EAF3EE"/>
          </a:solidFill>
          <a:ln/>
        </p:spPr>
      </p:sp>
      <p:sp>
        <p:nvSpPr>
          <p:cNvPr id="26" name="Text 24"/>
          <p:cNvSpPr/>
          <p:nvPr/>
        </p:nvSpPr>
        <p:spPr>
          <a:xfrm>
            <a:off x="7205472" y="3383280"/>
            <a:ext cx="4242816" cy="1417320"/>
          </a:xfrm>
          <a:prstGeom prst="rect">
            <a:avLst/>
          </a:prstGeom>
          <a:noFill/>
          <a:ln/>
        </p:spPr>
        <p:txBody>
          <a:bodyPr wrap="square" lIns="0" tIns="0" rIns="0" bIns="0" rtlCol="0" anchor="ctr"/>
          <a:lstStyle/>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Replica sets, user roles (RBAC), secure connections (TLS). Sharding is explained in words only — Atlas's free tier cannot do it for real.</a:t>
            </a:r>
            <a:endParaRPr lang="en-US" sz="1150" dirty="0"/>
          </a:p>
        </p:txBody>
      </p:sp>
      <p:sp>
        <p:nvSpPr>
          <p:cNvPr id="27" name="Shape 25"/>
          <p:cNvSpPr/>
          <p:nvPr/>
        </p:nvSpPr>
        <p:spPr>
          <a:xfrm>
            <a:off x="548640" y="4800600"/>
            <a:ext cx="548640" cy="1417320"/>
          </a:xfrm>
          <a:prstGeom prst="rect">
            <a:avLst/>
          </a:prstGeom>
          <a:solidFill>
            <a:srgbClr val="FFFFFF"/>
          </a:solidFill>
          <a:ln/>
        </p:spPr>
      </p:sp>
      <p:sp>
        <p:nvSpPr>
          <p:cNvPr id="28" name="Text 26"/>
          <p:cNvSpPr/>
          <p:nvPr/>
        </p:nvSpPr>
        <p:spPr>
          <a:xfrm>
            <a:off x="713232" y="4800600"/>
            <a:ext cx="219456" cy="1417320"/>
          </a:xfrm>
          <a:prstGeom prst="rect">
            <a:avLst/>
          </a:prstGeom>
          <a:noFill/>
          <a:ln/>
        </p:spPr>
        <p:txBody>
          <a:bodyPr wrap="square" lIns="0" tIns="0" rIns="0" bIns="0" rtlCol="0" anchor="ctr"/>
          <a:lstStyle/>
          <a:p>
            <a:pPr marL="0" indent="0">
              <a:lnSpc>
                <a:spcPct val="115000"/>
              </a:lnSpc>
              <a:buNone/>
            </a:pPr>
            <a:r>
              <a:rPr lang="en-US" sz="1150" b="1" dirty="0">
                <a:solidFill>
                  <a:srgbClr val="023430"/>
                </a:solidFill>
                <a:latin typeface="Calibri" pitchFamily="34" charset="0"/>
                <a:ea typeface="Calibri" pitchFamily="34" charset="-122"/>
                <a:cs typeface="Calibri" pitchFamily="34" charset="-120"/>
              </a:rPr>
              <a:t>7</a:t>
            </a:r>
            <a:endParaRPr lang="en-US" sz="1150" dirty="0"/>
          </a:p>
        </p:txBody>
      </p:sp>
      <p:sp>
        <p:nvSpPr>
          <p:cNvPr id="29" name="Shape 27"/>
          <p:cNvSpPr/>
          <p:nvPr/>
        </p:nvSpPr>
        <p:spPr>
          <a:xfrm>
            <a:off x="1097280" y="4800600"/>
            <a:ext cx="2651760" cy="1417320"/>
          </a:xfrm>
          <a:prstGeom prst="rect">
            <a:avLst/>
          </a:prstGeom>
          <a:solidFill>
            <a:srgbClr val="FFFFFF"/>
          </a:solidFill>
          <a:ln/>
        </p:spPr>
      </p:sp>
      <p:sp>
        <p:nvSpPr>
          <p:cNvPr id="30" name="Text 28"/>
          <p:cNvSpPr/>
          <p:nvPr/>
        </p:nvSpPr>
        <p:spPr>
          <a:xfrm>
            <a:off x="1261872" y="4800600"/>
            <a:ext cx="2322576" cy="1417320"/>
          </a:xfrm>
          <a:prstGeom prst="rect">
            <a:avLst/>
          </a:prstGeom>
          <a:noFill/>
          <a:ln/>
        </p:spPr>
        <p:txBody>
          <a:bodyPr wrap="square" lIns="0" tIns="0" rIns="0" bIns="0" rtlCol="0" anchor="ctr"/>
          <a:lstStyle/>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AI Agent Memory Service</a:t>
            </a:r>
            <a:endParaRPr lang="en-US" sz="1150" dirty="0"/>
          </a:p>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(Capstone — planned only)</a:t>
            </a:r>
            <a:endParaRPr lang="en-US" sz="1150" dirty="0"/>
          </a:p>
        </p:txBody>
      </p:sp>
      <p:sp>
        <p:nvSpPr>
          <p:cNvPr id="31" name="Shape 29"/>
          <p:cNvSpPr/>
          <p:nvPr/>
        </p:nvSpPr>
        <p:spPr>
          <a:xfrm>
            <a:off x="3749040" y="4800600"/>
            <a:ext cx="3291840" cy="1417320"/>
          </a:xfrm>
          <a:prstGeom prst="rect">
            <a:avLst/>
          </a:prstGeom>
          <a:solidFill>
            <a:srgbClr val="FFFFFF"/>
          </a:solidFill>
          <a:ln/>
        </p:spPr>
      </p:sp>
      <p:sp>
        <p:nvSpPr>
          <p:cNvPr id="32" name="Text 30"/>
          <p:cNvSpPr/>
          <p:nvPr/>
        </p:nvSpPr>
        <p:spPr>
          <a:xfrm>
            <a:off x="3913632" y="4800600"/>
            <a:ext cx="2962656" cy="1417320"/>
          </a:xfrm>
          <a:prstGeom prst="rect">
            <a:avLst/>
          </a:prstGeom>
          <a:noFill/>
          <a:ln/>
        </p:spPr>
        <p:txBody>
          <a:bodyPr wrap="square" lIns="0" tIns="0" rIns="0" bIns="0" rtlCol="0" anchor="ctr"/>
          <a:lstStyle/>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MongoDB Capstone:</a:t>
            </a:r>
            <a:endParaRPr lang="en-US" sz="1150" dirty="0"/>
          </a:p>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Real Memory for an AI Helper</a:t>
            </a:r>
            <a:endParaRPr lang="en-US" sz="1150" dirty="0"/>
          </a:p>
        </p:txBody>
      </p:sp>
      <p:sp>
        <p:nvSpPr>
          <p:cNvPr id="33" name="Shape 31"/>
          <p:cNvSpPr/>
          <p:nvPr/>
        </p:nvSpPr>
        <p:spPr>
          <a:xfrm>
            <a:off x="7040880" y="4800600"/>
            <a:ext cx="4572000" cy="1417320"/>
          </a:xfrm>
          <a:prstGeom prst="rect">
            <a:avLst/>
          </a:prstGeom>
          <a:solidFill>
            <a:srgbClr val="FFFFFF"/>
          </a:solidFill>
          <a:ln/>
        </p:spPr>
      </p:sp>
      <p:sp>
        <p:nvSpPr>
          <p:cNvPr id="34" name="Text 32"/>
          <p:cNvSpPr/>
          <p:nvPr/>
        </p:nvSpPr>
        <p:spPr>
          <a:xfrm>
            <a:off x="7205472" y="4800600"/>
            <a:ext cx="4242816" cy="1417320"/>
          </a:xfrm>
          <a:prstGeom prst="rect">
            <a:avLst/>
          </a:prstGeom>
          <a:noFill/>
          <a:ln/>
        </p:spPr>
        <p:txBody>
          <a:bodyPr wrap="square" lIns="0" tIns="0" rIns="0" bIns="0" rtlCol="0" anchor="ctr"/>
          <a:lstStyle/>
          <a:p>
            <a:pPr marL="0" indent="0">
              <a:lnSpc>
                <a:spcPct val="115000"/>
              </a:lnSpc>
              <a:buNone/>
            </a:pPr>
            <a:r>
              <a:rPr lang="en-US" sz="1150" dirty="0">
                <a:solidFill>
                  <a:srgbClr val="0B2B22"/>
                </a:solidFill>
                <a:latin typeface="Calibri" pitchFamily="34" charset="0"/>
                <a:ea typeface="Calibri" pitchFamily="34" charset="-122"/>
                <a:cs typeface="Calibri" pitchFamily="34" charset="-120"/>
              </a:rPr>
              <a:t>Everything from every lab above, brought together for a real AI helper's memory: conversation logs, memory notes, tool-call history.</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How The Files Are Organized</a:t>
            </a:r>
            <a:endParaRPr lang="en-US" sz="2800" dirty="0"/>
          </a:p>
        </p:txBody>
      </p:sp>
      <p:sp>
        <p:nvSpPr>
          <p:cNvPr id="3" name="Shape 1"/>
          <p:cNvSpPr/>
          <p:nvPr/>
        </p:nvSpPr>
        <p:spPr>
          <a:xfrm>
            <a:off x="548640" y="1417319"/>
            <a:ext cx="6035040" cy="5266509"/>
          </a:xfrm>
          <a:prstGeom prst="roundRect">
            <a:avLst>
              <a:gd name="adj" fmla="val 2449"/>
            </a:avLst>
          </a:prstGeom>
          <a:solidFill>
            <a:srgbClr val="023430"/>
          </a:solidFill>
          <a:ln/>
        </p:spPr>
      </p:sp>
      <p:sp>
        <p:nvSpPr>
          <p:cNvPr id="4" name="Text 2"/>
          <p:cNvSpPr/>
          <p:nvPr/>
        </p:nvSpPr>
        <p:spPr>
          <a:xfrm>
            <a:off x="822960" y="1691640"/>
            <a:ext cx="5486400" cy="3977640"/>
          </a:xfrm>
          <a:prstGeom prst="rect">
            <a:avLst/>
          </a:prstGeom>
          <a:noFill/>
          <a:ln/>
        </p:spPr>
        <p:txBody>
          <a:bodyPr wrap="square" lIns="0" tIns="0" rIns="0" bIns="0" rtlCol="0" anchor="t"/>
          <a:lstStyle/>
          <a:p>
            <a:pPr marL="0" indent="0">
              <a:lnSpc>
                <a:spcPct val="130000"/>
              </a:lnSpc>
              <a:buNone/>
            </a:pPr>
            <a:r>
              <a:rPr lang="en-US" sz="1400" dirty="0">
                <a:solidFill>
                  <a:srgbClr val="00ED64"/>
                </a:solidFill>
                <a:latin typeface="Courier New" pitchFamily="34" charset="0"/>
                <a:ea typeface="Courier New" pitchFamily="34" charset="-122"/>
                <a:cs typeface="Courier New" pitchFamily="34" charset="-120"/>
              </a:rPr>
              <a:t>MongoDB-Labs/
</a:t>
            </a:r>
            <a:endParaRPr lang="en-US" sz="1400" dirty="0"/>
          </a:p>
          <a:p>
            <a:pPr marL="0" indent="0">
              <a:lnSpc>
                <a:spcPct val="130000"/>
              </a:lnSpc>
              <a:buNone/>
            </a:pPr>
            <a:r>
              <a:rPr lang="en-US" sz="1400" dirty="0">
                <a:solidFill>
                  <a:srgbClr val="00ED64"/>
                </a:solidFill>
                <a:latin typeface="Courier New" pitchFamily="34" charset="0"/>
                <a:ea typeface="Courier New" pitchFamily="34" charset="-122"/>
                <a:cs typeface="Courier New" pitchFamily="34" charset="-120"/>
              </a:rPr>
              <a:t>├── Lab 1 - &lt;Title&gt;/
</a:t>
            </a:r>
            <a:endParaRPr lang="en-US" sz="1400" dirty="0"/>
          </a:p>
          <a:p>
            <a:pPr marL="0" indent="0">
              <a:lnSpc>
                <a:spcPct val="130000"/>
              </a:lnSpc>
              <a:buNone/>
            </a:pPr>
            <a:r>
              <a:rPr lang="en-US" sz="1400" dirty="0">
                <a:solidFill>
                  <a:srgbClr val="00ED64"/>
                </a:solidFill>
                <a:latin typeface="Courier New" pitchFamily="34" charset="0"/>
                <a:ea typeface="Courier New" pitchFamily="34" charset="-122"/>
                <a:cs typeface="Courier New" pitchFamily="34" charset="-120"/>
              </a:rPr>
              <a:t>│   ├── &lt;notebook&gt;.ipynb
</a:t>
            </a:r>
            <a:endParaRPr lang="en-US" sz="1400" dirty="0"/>
          </a:p>
          <a:p>
            <a:pPr marL="0" indent="0">
              <a:lnSpc>
                <a:spcPct val="130000"/>
              </a:lnSpc>
              <a:buNone/>
            </a:pPr>
            <a:r>
              <a:rPr lang="en-US" sz="1400" dirty="0">
                <a:solidFill>
                  <a:srgbClr val="00ED64"/>
                </a:solidFill>
                <a:latin typeface="Courier New" pitchFamily="34" charset="0"/>
                <a:ea typeface="Courier New" pitchFamily="34" charset="-122"/>
                <a:cs typeface="Courier New" pitchFamily="34" charset="-120"/>
              </a:rPr>
              <a:t>│   ├── &lt;notes&gt;.md
</a:t>
            </a:r>
            <a:endParaRPr lang="en-US" sz="1400" dirty="0"/>
          </a:p>
          <a:p>
            <a:pPr marL="0" indent="0">
              <a:lnSpc>
                <a:spcPct val="130000"/>
              </a:lnSpc>
              <a:buNone/>
            </a:pPr>
            <a:r>
              <a:rPr lang="en-US" sz="1400" dirty="0">
                <a:solidFill>
                  <a:srgbClr val="00ED64"/>
                </a:solidFill>
                <a:latin typeface="Courier New" pitchFamily="34" charset="0"/>
                <a:ea typeface="Courier New" pitchFamily="34" charset="-122"/>
                <a:cs typeface="Courier New" pitchFamily="34" charset="-120"/>
              </a:rPr>
              <a:t>│   └── &lt;assignment&gt;.md
</a:t>
            </a:r>
            <a:endParaRPr lang="en-US" sz="1400" dirty="0"/>
          </a:p>
          <a:p>
            <a:pPr marL="0" indent="0">
              <a:lnSpc>
                <a:spcPct val="130000"/>
              </a:lnSpc>
              <a:buNone/>
            </a:pPr>
            <a:r>
              <a:rPr lang="en-US" sz="1400" dirty="0">
                <a:solidFill>
                  <a:srgbClr val="00ED64"/>
                </a:solidFill>
                <a:latin typeface="Courier New" pitchFamily="34" charset="0"/>
                <a:ea typeface="Courier New" pitchFamily="34" charset="-122"/>
                <a:cs typeface="Courier New" pitchFamily="34" charset="-120"/>
              </a:rPr>
              <a:t>├── Lab 2 - &lt;Title&gt;/
</a:t>
            </a:r>
            <a:endParaRPr lang="en-US" sz="1400" dirty="0"/>
          </a:p>
          <a:p>
            <a:pPr marL="0" indent="0">
              <a:lnSpc>
                <a:spcPct val="130000"/>
              </a:lnSpc>
              <a:buNone/>
            </a:pPr>
            <a:r>
              <a:rPr lang="en-US" sz="1400" dirty="0">
                <a:solidFill>
                  <a:srgbClr val="00ED64"/>
                </a:solidFill>
                <a:latin typeface="Courier New" pitchFamily="34" charset="0"/>
                <a:ea typeface="Courier New" pitchFamily="34" charset="-122"/>
                <a:cs typeface="Courier New" pitchFamily="34" charset="-120"/>
              </a:rPr>
              <a:t>│   └── ...
</a:t>
            </a:r>
            <a:endParaRPr lang="en-US" sz="1400" dirty="0"/>
          </a:p>
          <a:p>
            <a:pPr marL="0" indent="0">
              <a:lnSpc>
                <a:spcPct val="130000"/>
              </a:lnSpc>
              <a:buNone/>
            </a:pPr>
            <a:r>
              <a:rPr lang="en-US" sz="1400" dirty="0">
                <a:solidFill>
                  <a:srgbClr val="00ED64"/>
                </a:solidFill>
                <a:latin typeface="Courier New" pitchFamily="34" charset="0"/>
                <a:ea typeface="Courier New" pitchFamily="34" charset="-122"/>
                <a:cs typeface="Courier New" pitchFamily="34" charset="-120"/>
              </a:rPr>
              <a:t>├── .env
</a:t>
            </a:r>
            <a:endParaRPr lang="en-US" sz="1400" dirty="0"/>
          </a:p>
          <a:p>
            <a:pPr marL="0" indent="0">
              <a:lnSpc>
                <a:spcPct val="130000"/>
              </a:lnSpc>
              <a:buNone/>
            </a:pPr>
            <a:r>
              <a:rPr lang="en-US" sz="1400" dirty="0">
                <a:solidFill>
                  <a:srgbClr val="00ED64"/>
                </a:solidFill>
                <a:latin typeface="Courier New" pitchFamily="34" charset="0"/>
                <a:ea typeface="Courier New" pitchFamily="34" charset="-122"/>
                <a:cs typeface="Courier New" pitchFamily="34" charset="-120"/>
              </a:rPr>
              <a:t>└── README.md</a:t>
            </a:r>
            <a:endParaRPr lang="en-US" sz="1400" dirty="0"/>
          </a:p>
        </p:txBody>
      </p:sp>
      <p:sp>
        <p:nvSpPr>
          <p:cNvPr id="5" name="Shape 3"/>
          <p:cNvSpPr/>
          <p:nvPr/>
        </p:nvSpPr>
        <p:spPr>
          <a:xfrm>
            <a:off x="6949440" y="1463040"/>
            <a:ext cx="640080" cy="640080"/>
          </a:xfrm>
          <a:prstGeom prst="ellipse">
            <a:avLst/>
          </a:prstGeom>
          <a:solidFill>
            <a:srgbClr val="023430"/>
          </a:solidFill>
          <a:ln/>
        </p:spPr>
      </p:sp>
      <p:pic>
        <p:nvPicPr>
          <p:cNvPr id="6" name="Image 0" descr="/home/claude/mongo_ppt/icon_folder_w.png"/>
          <p:cNvPicPr>
            <a:picLocks noChangeAspect="1"/>
          </p:cNvPicPr>
          <p:nvPr/>
        </p:nvPicPr>
        <p:blipFill>
          <a:blip r:embed="rId3"/>
          <a:stretch>
            <a:fillRect/>
          </a:stretch>
        </p:blipFill>
        <p:spPr>
          <a:xfrm>
            <a:off x="7109460" y="1623060"/>
            <a:ext cx="320040" cy="320040"/>
          </a:xfrm>
          <a:prstGeom prst="rect">
            <a:avLst/>
          </a:prstGeom>
        </p:spPr>
      </p:pic>
      <p:sp>
        <p:nvSpPr>
          <p:cNvPr id="7" name="Text 4"/>
          <p:cNvSpPr/>
          <p:nvPr/>
        </p:nvSpPr>
        <p:spPr>
          <a:xfrm>
            <a:off x="7772400" y="1417320"/>
            <a:ext cx="3840480" cy="4480560"/>
          </a:xfrm>
          <a:prstGeom prst="rect">
            <a:avLst/>
          </a:prstGeom>
          <a:noFill/>
          <a:ln/>
        </p:spPr>
        <p:txBody>
          <a:bodyPr wrap="square" lIns="0" tIns="0" rIns="0" bIns="0" rtlCol="0" anchor="t"/>
          <a:lstStyle/>
          <a:p>
            <a:pPr marL="0" indent="0">
              <a:lnSpc>
                <a:spcPct val="132000"/>
              </a:lnSpc>
              <a:buNone/>
            </a:pPr>
            <a:r>
              <a:rPr lang="en-US" sz="1280" dirty="0">
                <a:solidFill>
                  <a:srgbClr val="0B2B22"/>
                </a:solidFill>
                <a:latin typeface="Calibri" pitchFamily="34" charset="0"/>
                <a:ea typeface="Calibri" pitchFamily="34" charset="-122"/>
                <a:cs typeface="Calibri" pitchFamily="34" charset="-120"/>
              </a:rPr>
              <a:t>Each lab has its own folder with exactly 3 files: a notebook you run, a notes file you read if a step needs more explaining, and an assignment file to check what you learned.
</a:t>
            </a:r>
            <a:endParaRPr lang="en-US" sz="1280" dirty="0"/>
          </a:p>
          <a:p>
            <a:pPr marL="0" indent="0">
              <a:lnSpc>
                <a:spcPct val="132000"/>
              </a:lnSpc>
              <a:buNone/>
            </a:pPr>
            <a:r>
              <a:rPr lang="en-US" sz="1280" dirty="0">
                <a:solidFill>
                  <a:srgbClr val="0B2B22"/>
                </a:solidFill>
                <a:latin typeface="Calibri" pitchFamily="34" charset="0"/>
                <a:ea typeface="Calibri" pitchFamily="34" charset="-122"/>
                <a:cs typeface="Calibri" pitchFamily="34" charset="-120"/>
              </a:rPr>
              <a:t>The .env file lives once, at the very top of the whole project — not inside each lab folder.
</a:t>
            </a:r>
            <a:endParaRPr lang="en-US" sz="1280" dirty="0"/>
          </a:p>
          <a:p>
            <a:pPr marL="0" indent="0">
              <a:lnSpc>
                <a:spcPct val="132000"/>
              </a:lnSpc>
              <a:buNone/>
            </a:pPr>
            <a:r>
              <a:rPr lang="en-US" sz="1280" dirty="0">
                <a:solidFill>
                  <a:srgbClr val="0B2B22"/>
                </a:solidFill>
                <a:latin typeface="Calibri" pitchFamily="34" charset="0"/>
                <a:ea typeface="Calibri" pitchFamily="34" charset="-122"/>
                <a:cs typeface="Calibri" pitchFamily="34" charset="-120"/>
              </a:rPr>
              <a:t>Every lab folder shares that one same .env file, so you only ever set up your Atlas connection once.</a:t>
            </a:r>
            <a:endParaRPr lang="en-US" sz="12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881360" cy="640080"/>
          </a:xfrm>
          <a:prstGeom prst="rect">
            <a:avLst/>
          </a:prstGeom>
          <a:noFill/>
          <a:ln/>
        </p:spPr>
        <p:txBody>
          <a:bodyPr wrap="square" lIns="0" tIns="0" rIns="0" bIns="0" rtlCol="0" anchor="ctr"/>
          <a:lstStyle/>
          <a:p>
            <a:pPr marL="0" indent="0">
              <a:buNone/>
            </a:pPr>
            <a:r>
              <a:rPr lang="en-US" sz="2800" b="1" dirty="0">
                <a:solidFill>
                  <a:srgbClr val="023430"/>
                </a:solidFill>
                <a:latin typeface="Cambria" pitchFamily="34" charset="0"/>
                <a:ea typeface="Cambria" pitchFamily="34" charset="-122"/>
                <a:cs typeface="Cambria" pitchFamily="34" charset="-120"/>
              </a:rPr>
              <a:t>What You Should Already Know</a:t>
            </a:r>
            <a:endParaRPr lang="en-US" sz="2800" dirty="0"/>
          </a:p>
        </p:txBody>
      </p:sp>
      <p:sp>
        <p:nvSpPr>
          <p:cNvPr id="3" name="Text 1"/>
          <p:cNvSpPr/>
          <p:nvPr/>
        </p:nvSpPr>
        <p:spPr>
          <a:xfrm>
            <a:off x="548640" y="1069848"/>
            <a:ext cx="10881360" cy="411480"/>
          </a:xfrm>
          <a:prstGeom prst="rect">
            <a:avLst/>
          </a:prstGeom>
          <a:noFill/>
          <a:ln/>
        </p:spPr>
        <p:txBody>
          <a:bodyPr wrap="square" lIns="0" tIns="0" rIns="0" bIns="0" rtlCol="0" anchor="ctr"/>
          <a:lstStyle/>
          <a:p>
            <a:pPr marL="0" indent="0">
              <a:buNone/>
            </a:pPr>
            <a:r>
              <a:rPr lang="en-US" sz="1350" dirty="0">
                <a:solidFill>
                  <a:srgbClr val="4C6D62"/>
                </a:solidFill>
                <a:latin typeface="Calibri" pitchFamily="34" charset="0"/>
                <a:ea typeface="Calibri" pitchFamily="34" charset="-122"/>
                <a:cs typeface="Calibri" pitchFamily="34" charset="-120"/>
              </a:rPr>
              <a:t>Good news: the list is short.</a:t>
            </a:r>
            <a:endParaRPr lang="en-US" sz="1350" dirty="0"/>
          </a:p>
        </p:txBody>
      </p:sp>
      <p:sp>
        <p:nvSpPr>
          <p:cNvPr id="4" name="Shape 2"/>
          <p:cNvSpPr/>
          <p:nvPr/>
        </p:nvSpPr>
        <p:spPr>
          <a:xfrm>
            <a:off x="548640" y="1463040"/>
            <a:ext cx="822960" cy="822960"/>
          </a:xfrm>
          <a:prstGeom prst="ellipse">
            <a:avLst/>
          </a:prstGeom>
          <a:solidFill>
            <a:srgbClr val="023430"/>
          </a:solidFill>
          <a:ln/>
        </p:spPr>
      </p:sp>
      <p:pic>
        <p:nvPicPr>
          <p:cNvPr id="5" name="Image 0" descr="/home/claude/mongo_ppt/icon_code_w.png"/>
          <p:cNvPicPr>
            <a:picLocks noChangeAspect="1"/>
          </p:cNvPicPr>
          <p:nvPr/>
        </p:nvPicPr>
        <p:blipFill>
          <a:blip r:embed="rId3"/>
          <a:stretch>
            <a:fillRect/>
          </a:stretch>
        </p:blipFill>
        <p:spPr>
          <a:xfrm>
            <a:off x="774954" y="1689354"/>
            <a:ext cx="370332" cy="370332"/>
          </a:xfrm>
          <a:prstGeom prst="rect">
            <a:avLst/>
          </a:prstGeom>
        </p:spPr>
      </p:pic>
      <p:sp>
        <p:nvSpPr>
          <p:cNvPr id="6" name="Text 3"/>
          <p:cNvSpPr/>
          <p:nvPr/>
        </p:nvSpPr>
        <p:spPr>
          <a:xfrm>
            <a:off x="1600200" y="1463040"/>
            <a:ext cx="9875520" cy="1188720"/>
          </a:xfrm>
          <a:prstGeom prst="rect">
            <a:avLst/>
          </a:prstGeom>
          <a:noFill/>
          <a:ln/>
        </p:spPr>
        <p:txBody>
          <a:bodyPr wrap="square" lIns="0" tIns="0" rIns="0" bIns="0" rtlCol="0" anchor="t"/>
          <a:lstStyle/>
          <a:p>
            <a:pPr marL="0" indent="0">
              <a:lnSpc>
                <a:spcPct val="132000"/>
              </a:lnSpc>
              <a:buNone/>
            </a:pPr>
            <a:r>
              <a:rPr lang="en-US" sz="1450" dirty="0">
                <a:solidFill>
                  <a:srgbClr val="0B2B22"/>
                </a:solidFill>
                <a:latin typeface="Calibri" pitchFamily="34" charset="0"/>
                <a:ea typeface="Calibri" pitchFamily="34" charset="-122"/>
                <a:cs typeface="Calibri" pitchFamily="34" charset="-120"/>
              </a:rPr>
              <a:t>Basic Python is the only real requirement. You do not need to know anything about MongoDB itself before starting — that is exactly what these labs are for.</a:t>
            </a:r>
            <a:endParaRPr lang="en-US" sz="1450" dirty="0"/>
          </a:p>
        </p:txBody>
      </p:sp>
      <p:sp>
        <p:nvSpPr>
          <p:cNvPr id="7" name="Shape 4"/>
          <p:cNvSpPr/>
          <p:nvPr/>
        </p:nvSpPr>
        <p:spPr>
          <a:xfrm>
            <a:off x="548640" y="2926080"/>
            <a:ext cx="11064240" cy="3108960"/>
          </a:xfrm>
          <a:prstGeom prst="roundRect">
            <a:avLst>
              <a:gd name="adj" fmla="val 3529"/>
            </a:avLst>
          </a:prstGeom>
          <a:solidFill>
            <a:srgbClr val="FFFFFF"/>
          </a:solidFill>
          <a:ln/>
          <a:effectLst>
            <a:outerShdw blurRad="101600" dist="38100" dir="5400000" algn="bl" rotWithShape="0">
              <a:srgbClr val="0B2B22">
                <a:alpha val="18000"/>
              </a:srgbClr>
            </a:outerShdw>
          </a:effectLst>
        </p:spPr>
      </p:sp>
      <p:sp>
        <p:nvSpPr>
          <p:cNvPr id="8" name="Text 5"/>
          <p:cNvSpPr/>
          <p:nvPr/>
        </p:nvSpPr>
        <p:spPr>
          <a:xfrm>
            <a:off x="914400" y="3154680"/>
            <a:ext cx="10424160" cy="265176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0B2B22"/>
                </a:solidFill>
                <a:latin typeface="Calibri" pitchFamily="34" charset="0"/>
                <a:ea typeface="Calibri" pitchFamily="34" charset="-122"/>
                <a:cs typeface="Calibri" pitchFamily="34" charset="-120"/>
              </a:rPr>
              <a:t>Variables — storing a value under a name, e.g. grade = 95</a:t>
            </a:r>
            <a:endParaRPr lang="en-US" sz="1350" dirty="0"/>
          </a:p>
          <a:p>
            <a:pPr marL="342900" indent="-342900">
              <a:spcAft>
                <a:spcPts val="1200"/>
              </a:spcAft>
              <a:buSzPct val="100000"/>
              <a:buChar char="▪"/>
            </a:pPr>
            <a:r>
              <a:rPr lang="en-US" sz="1350" dirty="0">
                <a:solidFill>
                  <a:srgbClr val="0B2B22"/>
                </a:solidFill>
                <a:latin typeface="Calibri" pitchFamily="34" charset="0"/>
                <a:ea typeface="Calibri" pitchFamily="34" charset="-122"/>
                <a:cs typeface="Calibri" pitchFamily="34" charset="-120"/>
              </a:rPr>
              <a:t>Dictionaries {} — key-value pairs. This is good news: a Python dictionary looks almost exactly like a MongoDB document!</a:t>
            </a:r>
            <a:endParaRPr lang="en-US" sz="1350" dirty="0"/>
          </a:p>
          <a:p>
            <a:pPr marL="342900" indent="-342900">
              <a:spcAft>
                <a:spcPts val="1200"/>
              </a:spcAft>
              <a:buSzPct val="100000"/>
              <a:buChar char="▪"/>
            </a:pPr>
            <a:r>
              <a:rPr lang="en-US" sz="1350" dirty="0">
                <a:solidFill>
                  <a:srgbClr val="0B2B22"/>
                </a:solidFill>
                <a:latin typeface="Calibri" pitchFamily="34" charset="0"/>
                <a:ea typeface="Calibri" pitchFamily="34" charset="-122"/>
                <a:cs typeface="Calibri" pitchFamily="34" charset="-120"/>
              </a:rPr>
              <a:t>Lists [] — an ordered group of values</a:t>
            </a:r>
            <a:endParaRPr lang="en-US" sz="1350" dirty="0"/>
          </a:p>
          <a:p>
            <a:pPr marL="342900" indent="-342900">
              <a:spcAft>
                <a:spcPts val="1200"/>
              </a:spcAft>
              <a:buSzPct val="100000"/>
              <a:buChar char="▪"/>
            </a:pPr>
            <a:r>
              <a:rPr lang="en-US" sz="1350" dirty="0">
                <a:solidFill>
                  <a:srgbClr val="0B2B22"/>
                </a:solidFill>
                <a:latin typeface="Calibri" pitchFamily="34" charset="0"/>
                <a:ea typeface="Calibri" pitchFamily="34" charset="-122"/>
                <a:cs typeface="Calibri" pitchFamily="34" charset="-120"/>
              </a:rPr>
              <a:t>Loops — repeating an action for every item in a group</a:t>
            </a:r>
            <a:endParaRPr lang="en-US" sz="1350" dirty="0"/>
          </a:p>
          <a:p>
            <a:pPr marL="342900" indent="-342900">
              <a:spcAft>
                <a:spcPts val="1200"/>
              </a:spcAft>
              <a:buSzPct val="100000"/>
              <a:buChar char="▪"/>
            </a:pPr>
            <a:r>
              <a:rPr lang="en-US" sz="1350" dirty="0">
                <a:solidFill>
                  <a:srgbClr val="0B2B22"/>
                </a:solidFill>
                <a:latin typeface="Calibri" pitchFamily="34" charset="0"/>
                <a:ea typeface="Calibri" pitchFamily="34" charset="-122"/>
                <a:cs typeface="Calibri" pitchFamily="34" charset="-120"/>
              </a:rPr>
              <a:t>import statements — bringing in outside code to use, e.g. import pymongo</a:t>
            </a:r>
            <a:endParaRPr lang="en-US" sz="1350" dirty="0"/>
          </a:p>
        </p:txBody>
      </p:sp>
      <p:sp>
        <p:nvSpPr>
          <p:cNvPr id="9" name="Text 6"/>
          <p:cNvSpPr/>
          <p:nvPr/>
        </p:nvSpPr>
        <p:spPr>
          <a:xfrm>
            <a:off x="548640" y="6217920"/>
            <a:ext cx="11064240" cy="365760"/>
          </a:xfrm>
          <a:prstGeom prst="rect">
            <a:avLst/>
          </a:prstGeom>
          <a:noFill/>
          <a:ln/>
        </p:spPr>
        <p:txBody>
          <a:bodyPr wrap="square" lIns="0" tIns="0" rIns="0" bIns="0" rtlCol="0" anchor="ctr"/>
          <a:lstStyle/>
          <a:p>
            <a:pPr marL="0" indent="0">
              <a:buNone/>
            </a:pPr>
            <a:r>
              <a:rPr lang="en-US" sz="1200" i="1" dirty="0">
                <a:solidFill>
                  <a:srgbClr val="4C6D62"/>
                </a:solidFill>
                <a:latin typeface="Calibri" pitchFamily="34" charset="0"/>
                <a:ea typeface="Calibri" pitchFamily="34" charset="-122"/>
                <a:cs typeface="Calibri" pitchFamily="34" charset="-120"/>
              </a:rPr>
              <a:t>Beyond this, the only other requirement is the one-time Atlas + .env setup covered earlier in this guide.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23430"/>
        </a:solidFill>
        <a:effectLst/>
      </p:bgPr>
    </p:bg>
    <p:spTree>
      <p:nvGrpSpPr>
        <p:cNvPr id="1" name=""/>
        <p:cNvGrpSpPr/>
        <p:nvPr/>
      </p:nvGrpSpPr>
      <p:grpSpPr>
        <a:xfrm>
          <a:off x="0" y="0"/>
          <a:ext cx="0" cy="0"/>
          <a:chOff x="0" y="0"/>
          <a:chExt cx="0" cy="0"/>
        </a:xfrm>
      </p:grpSpPr>
      <p:sp>
        <p:nvSpPr>
          <p:cNvPr id="2" name="Text 0"/>
          <p:cNvSpPr/>
          <p:nvPr/>
        </p:nvSpPr>
        <p:spPr>
          <a:xfrm>
            <a:off x="640080" y="5943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How To Start</a:t>
            </a:r>
            <a:endParaRPr lang="en-US" sz="3200" dirty="0"/>
          </a:p>
        </p:txBody>
      </p:sp>
      <p:sp>
        <p:nvSpPr>
          <p:cNvPr id="3" name="Shape 1"/>
          <p:cNvSpPr/>
          <p:nvPr/>
        </p:nvSpPr>
        <p:spPr>
          <a:xfrm>
            <a:off x="640080" y="1463040"/>
            <a:ext cx="5120640" cy="1280160"/>
          </a:xfrm>
          <a:prstGeom prst="roundRect">
            <a:avLst>
              <a:gd name="adj" fmla="val 8571"/>
            </a:avLst>
          </a:prstGeom>
          <a:solidFill>
            <a:srgbClr val="0A4A3B"/>
          </a:solidFill>
          <a:ln/>
        </p:spPr>
      </p:sp>
      <p:pic>
        <p:nvPicPr>
          <p:cNvPr id="4" name="Image 0" descr="/home/claude/mongo_ppt/icon_check_w.png"/>
          <p:cNvPicPr>
            <a:picLocks noChangeAspect="1"/>
          </p:cNvPicPr>
          <p:nvPr/>
        </p:nvPicPr>
        <p:blipFill>
          <a:blip r:embed="rId3"/>
          <a:stretch>
            <a:fillRect/>
          </a:stretch>
        </p:blipFill>
        <p:spPr>
          <a:xfrm>
            <a:off x="914400" y="1719072"/>
            <a:ext cx="457200" cy="457200"/>
          </a:xfrm>
          <a:prstGeom prst="rect">
            <a:avLst/>
          </a:prstGeom>
        </p:spPr>
      </p:pic>
      <p:sp>
        <p:nvSpPr>
          <p:cNvPr id="5" name="Text 2"/>
          <p:cNvSpPr/>
          <p:nvPr/>
        </p:nvSpPr>
        <p:spPr>
          <a:xfrm>
            <a:off x="1600200" y="1627632"/>
            <a:ext cx="3931920" cy="960120"/>
          </a:xfrm>
          <a:prstGeom prst="rect">
            <a:avLst/>
          </a:prstGeom>
          <a:noFill/>
          <a:ln/>
        </p:spPr>
        <p:txBody>
          <a:bodyPr wrap="square" lIns="0" tIns="0" rIns="0" bIns="0" rtlCol="0" anchor="t"/>
          <a:lstStyle/>
          <a:p>
            <a:pPr marL="0" indent="0">
              <a:lnSpc>
                <a:spcPct val="120000"/>
              </a:lnSpc>
              <a:buNone/>
            </a:pPr>
            <a:r>
              <a:rPr lang="en-US" sz="1300" dirty="0">
                <a:solidFill>
                  <a:srgbClr val="CADCC4"/>
                </a:solidFill>
                <a:latin typeface="Calibri" pitchFamily="34" charset="0"/>
                <a:ea typeface="Calibri" pitchFamily="34" charset="-122"/>
                <a:cs typeface="Calibri" pitchFamily="34" charset="-120"/>
              </a:rPr>
              <a:t>All you need to know
</a:t>
            </a:r>
            <a:endParaRPr lang="en-US" sz="1300" dirty="0"/>
          </a:p>
          <a:p>
            <a:pPr marL="0" indent="0">
              <a:lnSpc>
                <a:spcPct val="120000"/>
              </a:lnSpc>
              <a:buNone/>
            </a:pPr>
            <a:r>
              <a:rPr lang="en-US" sz="1800" b="1" dirty="0">
                <a:solidFill>
                  <a:srgbClr val="FFFFFF"/>
                </a:solidFill>
                <a:latin typeface="Calibri" pitchFamily="34" charset="0"/>
                <a:ea typeface="Calibri" pitchFamily="34" charset="-122"/>
                <a:cs typeface="Calibri" pitchFamily="34" charset="-120"/>
              </a:rPr>
              <a:t>A little bit of Python</a:t>
            </a:r>
            <a:endParaRPr lang="en-US" sz="1300" dirty="0"/>
          </a:p>
        </p:txBody>
      </p:sp>
      <p:sp>
        <p:nvSpPr>
          <p:cNvPr id="6" name="Shape 3"/>
          <p:cNvSpPr/>
          <p:nvPr/>
        </p:nvSpPr>
        <p:spPr>
          <a:xfrm>
            <a:off x="5989320" y="1463040"/>
            <a:ext cx="5532120" cy="1280160"/>
          </a:xfrm>
          <a:prstGeom prst="roundRect">
            <a:avLst>
              <a:gd name="adj" fmla="val 8571"/>
            </a:avLst>
          </a:prstGeom>
          <a:solidFill>
            <a:srgbClr val="0A4A3B"/>
          </a:solidFill>
          <a:ln/>
        </p:spPr>
      </p:sp>
      <p:pic>
        <p:nvPicPr>
          <p:cNvPr id="7" name="Image 1" descr="/home/claude/mongo_ppt/icon_rocket_w.png"/>
          <p:cNvPicPr>
            <a:picLocks noChangeAspect="1"/>
          </p:cNvPicPr>
          <p:nvPr/>
        </p:nvPicPr>
        <p:blipFill>
          <a:blip r:embed="rId4"/>
          <a:stretch>
            <a:fillRect/>
          </a:stretch>
        </p:blipFill>
        <p:spPr>
          <a:xfrm>
            <a:off x="6263640" y="1719072"/>
            <a:ext cx="457200" cy="457200"/>
          </a:xfrm>
          <a:prstGeom prst="rect">
            <a:avLst/>
          </a:prstGeom>
        </p:spPr>
      </p:pic>
      <p:sp>
        <p:nvSpPr>
          <p:cNvPr id="8" name="Text 4"/>
          <p:cNvSpPr/>
          <p:nvPr/>
        </p:nvSpPr>
        <p:spPr>
          <a:xfrm>
            <a:off x="6949440" y="1627632"/>
            <a:ext cx="4389120" cy="960120"/>
          </a:xfrm>
          <a:prstGeom prst="rect">
            <a:avLst/>
          </a:prstGeom>
          <a:noFill/>
          <a:ln/>
        </p:spPr>
        <p:txBody>
          <a:bodyPr wrap="square" lIns="0" tIns="0" rIns="0" bIns="0" rtlCol="0" anchor="t"/>
          <a:lstStyle/>
          <a:p>
            <a:pPr marL="0" indent="0">
              <a:lnSpc>
                <a:spcPct val="120000"/>
              </a:lnSpc>
              <a:buNone/>
            </a:pPr>
            <a:r>
              <a:rPr lang="en-US" sz="1300" dirty="0">
                <a:solidFill>
                  <a:srgbClr val="CADCC4"/>
                </a:solidFill>
                <a:latin typeface="Calibri" pitchFamily="34" charset="0"/>
                <a:ea typeface="Calibri" pitchFamily="34" charset="-122"/>
                <a:cs typeface="Calibri" pitchFamily="34" charset="-120"/>
              </a:rPr>
              <a:t>Plus the one-time setup
</a:t>
            </a:r>
            <a:endParaRPr lang="en-US" sz="1300" dirty="0"/>
          </a:p>
          <a:p>
            <a:pPr marL="0" indent="0">
              <a:lnSpc>
                <a:spcPct val="120000"/>
              </a:lnSpc>
              <a:buNone/>
            </a:pPr>
            <a:r>
              <a:rPr lang="en-US" sz="1300" b="1" dirty="0">
                <a:solidFill>
                  <a:srgbClr val="FFFFFF"/>
                </a:solidFill>
                <a:latin typeface="Calibri" pitchFamily="34" charset="0"/>
                <a:ea typeface="Calibri" pitchFamily="34" charset="-122"/>
                <a:cs typeface="Calibri" pitchFamily="34" charset="-120"/>
              </a:rPr>
              <a:t>covered earlier in this guide</a:t>
            </a:r>
            <a:endParaRPr lang="en-US" sz="1300" dirty="0"/>
          </a:p>
        </p:txBody>
      </p:sp>
      <p:sp>
        <p:nvSpPr>
          <p:cNvPr id="9" name="Shape 5"/>
          <p:cNvSpPr/>
          <p:nvPr/>
        </p:nvSpPr>
        <p:spPr>
          <a:xfrm>
            <a:off x="640080" y="3154680"/>
            <a:ext cx="384048" cy="384048"/>
          </a:xfrm>
          <a:prstGeom prst="ellipse">
            <a:avLst/>
          </a:prstGeom>
          <a:solidFill>
            <a:srgbClr val="00ED64"/>
          </a:solidFill>
          <a:ln/>
        </p:spPr>
      </p:sp>
      <p:sp>
        <p:nvSpPr>
          <p:cNvPr id="10" name="Text 6"/>
          <p:cNvSpPr/>
          <p:nvPr/>
        </p:nvSpPr>
        <p:spPr>
          <a:xfrm>
            <a:off x="640080" y="3154680"/>
            <a:ext cx="384048" cy="384048"/>
          </a:xfrm>
          <a:prstGeom prst="rect">
            <a:avLst/>
          </a:prstGeom>
          <a:noFill/>
          <a:ln/>
        </p:spPr>
        <p:txBody>
          <a:bodyPr wrap="square" lIns="0" tIns="0" rIns="0" bIns="0" rtlCol="0" anchor="ctr"/>
          <a:lstStyle/>
          <a:p>
            <a:pPr marL="0" indent="0" algn="ctr">
              <a:buNone/>
            </a:pPr>
            <a:r>
              <a:rPr lang="en-US" sz="1400" b="1" dirty="0">
                <a:solidFill>
                  <a:srgbClr val="023430"/>
                </a:solidFill>
                <a:latin typeface="Calibri" pitchFamily="34" charset="0"/>
                <a:ea typeface="Calibri" pitchFamily="34" charset="-122"/>
                <a:cs typeface="Calibri" pitchFamily="34" charset="-120"/>
              </a:rPr>
              <a:t>1</a:t>
            </a:r>
            <a:endParaRPr lang="en-US" sz="1400" dirty="0"/>
          </a:p>
        </p:txBody>
      </p:sp>
      <p:sp>
        <p:nvSpPr>
          <p:cNvPr id="11" name="Text 7"/>
          <p:cNvSpPr/>
          <p:nvPr/>
        </p:nvSpPr>
        <p:spPr>
          <a:xfrm>
            <a:off x="1188720" y="3127248"/>
            <a:ext cx="1033272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Finish the setup steps first (Part 4 of this guide)</a:t>
            </a:r>
            <a:endParaRPr lang="en-US" sz="1350" dirty="0"/>
          </a:p>
        </p:txBody>
      </p:sp>
      <p:sp>
        <p:nvSpPr>
          <p:cNvPr id="12" name="Shape 8"/>
          <p:cNvSpPr/>
          <p:nvPr/>
        </p:nvSpPr>
        <p:spPr>
          <a:xfrm>
            <a:off x="640080" y="3776472"/>
            <a:ext cx="384048" cy="384048"/>
          </a:xfrm>
          <a:prstGeom prst="ellipse">
            <a:avLst/>
          </a:prstGeom>
          <a:solidFill>
            <a:srgbClr val="00ED64"/>
          </a:solidFill>
          <a:ln/>
        </p:spPr>
      </p:sp>
      <p:sp>
        <p:nvSpPr>
          <p:cNvPr id="13" name="Text 9"/>
          <p:cNvSpPr/>
          <p:nvPr/>
        </p:nvSpPr>
        <p:spPr>
          <a:xfrm>
            <a:off x="640080" y="3776472"/>
            <a:ext cx="384048" cy="384048"/>
          </a:xfrm>
          <a:prstGeom prst="rect">
            <a:avLst/>
          </a:prstGeom>
          <a:noFill/>
          <a:ln/>
        </p:spPr>
        <p:txBody>
          <a:bodyPr wrap="square" lIns="0" tIns="0" rIns="0" bIns="0" rtlCol="0" anchor="ctr"/>
          <a:lstStyle/>
          <a:p>
            <a:pPr marL="0" indent="0" algn="ctr">
              <a:buNone/>
            </a:pPr>
            <a:r>
              <a:rPr lang="en-US" sz="1400" b="1" dirty="0">
                <a:solidFill>
                  <a:srgbClr val="023430"/>
                </a:solidFill>
                <a:latin typeface="Calibri" pitchFamily="34" charset="0"/>
                <a:ea typeface="Calibri" pitchFamily="34" charset="-122"/>
                <a:cs typeface="Calibri" pitchFamily="34" charset="-120"/>
              </a:rPr>
              <a:t>2</a:t>
            </a:r>
            <a:endParaRPr lang="en-US" sz="1400" dirty="0"/>
          </a:p>
        </p:txBody>
      </p:sp>
      <p:sp>
        <p:nvSpPr>
          <p:cNvPr id="14" name="Text 10"/>
          <p:cNvSpPr/>
          <p:nvPr/>
        </p:nvSpPr>
        <p:spPr>
          <a:xfrm>
            <a:off x="1188720" y="3749040"/>
            <a:ext cx="1033272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Start with Lab 1, and go in order — later labs build on earlier ones</a:t>
            </a:r>
            <a:endParaRPr lang="en-US" sz="1350" dirty="0"/>
          </a:p>
        </p:txBody>
      </p:sp>
      <p:sp>
        <p:nvSpPr>
          <p:cNvPr id="15" name="Shape 11"/>
          <p:cNvSpPr/>
          <p:nvPr/>
        </p:nvSpPr>
        <p:spPr>
          <a:xfrm>
            <a:off x="640080" y="4398264"/>
            <a:ext cx="384048" cy="384048"/>
          </a:xfrm>
          <a:prstGeom prst="ellipse">
            <a:avLst/>
          </a:prstGeom>
          <a:solidFill>
            <a:srgbClr val="00ED64"/>
          </a:solidFill>
          <a:ln/>
        </p:spPr>
      </p:sp>
      <p:sp>
        <p:nvSpPr>
          <p:cNvPr id="16" name="Text 12"/>
          <p:cNvSpPr/>
          <p:nvPr/>
        </p:nvSpPr>
        <p:spPr>
          <a:xfrm>
            <a:off x="640080" y="4398264"/>
            <a:ext cx="384048" cy="384048"/>
          </a:xfrm>
          <a:prstGeom prst="rect">
            <a:avLst/>
          </a:prstGeom>
          <a:noFill/>
          <a:ln/>
        </p:spPr>
        <p:txBody>
          <a:bodyPr wrap="square" lIns="0" tIns="0" rIns="0" bIns="0" rtlCol="0" anchor="ctr"/>
          <a:lstStyle/>
          <a:p>
            <a:pPr marL="0" indent="0" algn="ctr">
              <a:buNone/>
            </a:pPr>
            <a:r>
              <a:rPr lang="en-US" sz="1400" b="1" dirty="0">
                <a:solidFill>
                  <a:srgbClr val="023430"/>
                </a:solidFill>
                <a:latin typeface="Calibri" pitchFamily="34" charset="0"/>
                <a:ea typeface="Calibri" pitchFamily="34" charset="-122"/>
                <a:cs typeface="Calibri" pitchFamily="34" charset="-120"/>
              </a:rPr>
              <a:t>3</a:t>
            </a:r>
            <a:endParaRPr lang="en-US" sz="1400" dirty="0"/>
          </a:p>
        </p:txBody>
      </p:sp>
      <p:sp>
        <p:nvSpPr>
          <p:cNvPr id="17" name="Text 13"/>
          <p:cNvSpPr/>
          <p:nvPr/>
        </p:nvSpPr>
        <p:spPr>
          <a:xfrm>
            <a:off x="1188720" y="4370832"/>
            <a:ext cx="1033272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Run the install cell at the top of each notebook, then go step by step</a:t>
            </a:r>
            <a:endParaRPr lang="en-US" sz="1350" dirty="0"/>
          </a:p>
        </p:txBody>
      </p:sp>
      <p:sp>
        <p:nvSpPr>
          <p:cNvPr id="18" name="Shape 14"/>
          <p:cNvSpPr/>
          <p:nvPr/>
        </p:nvSpPr>
        <p:spPr>
          <a:xfrm>
            <a:off x="640080" y="5020056"/>
            <a:ext cx="384048" cy="384048"/>
          </a:xfrm>
          <a:prstGeom prst="ellipse">
            <a:avLst/>
          </a:prstGeom>
          <a:solidFill>
            <a:srgbClr val="00ED64"/>
          </a:solidFill>
          <a:ln/>
        </p:spPr>
      </p:sp>
      <p:sp>
        <p:nvSpPr>
          <p:cNvPr id="19" name="Text 15"/>
          <p:cNvSpPr/>
          <p:nvPr/>
        </p:nvSpPr>
        <p:spPr>
          <a:xfrm>
            <a:off x="640080" y="5020056"/>
            <a:ext cx="384048" cy="384048"/>
          </a:xfrm>
          <a:prstGeom prst="rect">
            <a:avLst/>
          </a:prstGeom>
          <a:noFill/>
          <a:ln/>
        </p:spPr>
        <p:txBody>
          <a:bodyPr wrap="square" lIns="0" tIns="0" rIns="0" bIns="0" rtlCol="0" anchor="ctr"/>
          <a:lstStyle/>
          <a:p>
            <a:pPr marL="0" indent="0" algn="ctr">
              <a:buNone/>
            </a:pPr>
            <a:r>
              <a:rPr lang="en-US" sz="1400" b="1" dirty="0">
                <a:solidFill>
                  <a:srgbClr val="023430"/>
                </a:solidFill>
                <a:latin typeface="Calibri" pitchFamily="34" charset="0"/>
                <a:ea typeface="Calibri" pitchFamily="34" charset="-122"/>
                <a:cs typeface="Calibri" pitchFamily="34" charset="-120"/>
              </a:rPr>
              <a:t>4</a:t>
            </a:r>
            <a:endParaRPr lang="en-US" sz="1400" dirty="0"/>
          </a:p>
        </p:txBody>
      </p:sp>
      <p:sp>
        <p:nvSpPr>
          <p:cNvPr id="20" name="Text 16"/>
          <p:cNvSpPr/>
          <p:nvPr/>
        </p:nvSpPr>
        <p:spPr>
          <a:xfrm>
            <a:off x="1188720" y="4992624"/>
            <a:ext cx="1033272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Check the notes (.md) file if any step needs more explaining</a:t>
            </a:r>
            <a:endParaRPr lang="en-US" sz="1350" dirty="0"/>
          </a:p>
        </p:txBody>
      </p:sp>
      <p:sp>
        <p:nvSpPr>
          <p:cNvPr id="21" name="Shape 17"/>
          <p:cNvSpPr/>
          <p:nvPr/>
        </p:nvSpPr>
        <p:spPr>
          <a:xfrm>
            <a:off x="640080" y="5641848"/>
            <a:ext cx="384048" cy="384048"/>
          </a:xfrm>
          <a:prstGeom prst="ellipse">
            <a:avLst/>
          </a:prstGeom>
          <a:solidFill>
            <a:srgbClr val="00ED64"/>
          </a:solidFill>
          <a:ln/>
        </p:spPr>
      </p:sp>
      <p:sp>
        <p:nvSpPr>
          <p:cNvPr id="22" name="Text 18"/>
          <p:cNvSpPr/>
          <p:nvPr/>
        </p:nvSpPr>
        <p:spPr>
          <a:xfrm>
            <a:off x="640080" y="5641848"/>
            <a:ext cx="384048" cy="384048"/>
          </a:xfrm>
          <a:prstGeom prst="rect">
            <a:avLst/>
          </a:prstGeom>
          <a:noFill/>
          <a:ln/>
        </p:spPr>
        <p:txBody>
          <a:bodyPr wrap="square" lIns="0" tIns="0" rIns="0" bIns="0" rtlCol="0" anchor="ctr"/>
          <a:lstStyle/>
          <a:p>
            <a:pPr marL="0" indent="0" algn="ctr">
              <a:buNone/>
            </a:pPr>
            <a:r>
              <a:rPr lang="en-US" sz="1400" b="1" dirty="0">
                <a:solidFill>
                  <a:srgbClr val="023430"/>
                </a:solidFill>
                <a:latin typeface="Calibri" pitchFamily="34" charset="0"/>
                <a:ea typeface="Calibri" pitchFamily="34" charset="-122"/>
                <a:cs typeface="Calibri" pitchFamily="34" charset="-120"/>
              </a:rPr>
              <a:t>5</a:t>
            </a:r>
            <a:endParaRPr lang="en-US" sz="1400" dirty="0"/>
          </a:p>
        </p:txBody>
      </p:sp>
      <p:sp>
        <p:nvSpPr>
          <p:cNvPr id="23" name="Text 19"/>
          <p:cNvSpPr/>
          <p:nvPr/>
        </p:nvSpPr>
        <p:spPr>
          <a:xfrm>
            <a:off x="1188720" y="5614416"/>
            <a:ext cx="10332720" cy="5029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Try the practice questions after each lab, then check the answer key</a:t>
            </a:r>
            <a:endParaRPr lang="en-US" sz="1350" dirty="0"/>
          </a:p>
        </p:txBody>
      </p:sp>
      <p:sp>
        <p:nvSpPr>
          <p:cNvPr id="24" name="Text 20"/>
          <p:cNvSpPr/>
          <p:nvPr/>
        </p:nvSpPr>
        <p:spPr>
          <a:xfrm>
            <a:off x="640080" y="6309360"/>
            <a:ext cx="10515600" cy="365760"/>
          </a:xfrm>
          <a:prstGeom prst="rect">
            <a:avLst/>
          </a:prstGeom>
          <a:noFill/>
          <a:ln/>
        </p:spPr>
        <p:txBody>
          <a:bodyPr wrap="square" lIns="0" tIns="0" rIns="0" bIns="0" rtlCol="0" anchor="ctr"/>
          <a:lstStyle/>
          <a:p>
            <a:pPr marL="0" indent="0">
              <a:buNone/>
            </a:pPr>
            <a:r>
              <a:rPr lang="en-US" sz="1200" i="1" dirty="0">
                <a:solidFill>
                  <a:srgbClr val="8FB3A5"/>
                </a:solidFill>
                <a:latin typeface="Calibri" pitchFamily="34" charset="0"/>
                <a:ea typeface="Calibri" pitchFamily="34" charset="-122"/>
                <a:cs typeface="Calibri" pitchFamily="34" charset="-120"/>
              </a:rPr>
              <a:t>This same student-and-course example runs through every lab, so nothing ever feels unfamiliar.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3753</Words>
  <Application>Microsoft Office PowerPoint</Application>
  <PresentationFormat>Widescreen</PresentationFormat>
  <Paragraphs>374</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Rishabh Patidar</cp:lastModifiedBy>
  <cp:revision>2</cp:revision>
  <dcterms:created xsi:type="dcterms:W3CDTF">2026-08-20T17:46:51Z</dcterms:created>
  <dcterms:modified xsi:type="dcterms:W3CDTF">2026-08-21T04:37:32Z</dcterms:modified>
</cp:coreProperties>
</file>